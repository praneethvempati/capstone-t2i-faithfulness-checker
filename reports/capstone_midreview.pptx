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2CDC8D-EE52-DA6C-5778-A4EEA2B2E64B}" v="21" dt="2026-03-11T02:28:21.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706F63-4029-4D66-8DA8-194F39D0DBB0}" type="datetimeFigureOut">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2F8F92-0C8F-4F94-9D32-629DDCD2A555}" type="slidenum">
              <a:t>‹#›</a:t>
            </a:fld>
            <a:endParaRPr lang="en-US"/>
          </a:p>
        </p:txBody>
      </p:sp>
    </p:spTree>
    <p:extLst>
      <p:ext uri="{BB962C8B-B14F-4D97-AF65-F5344CB8AC3E}">
        <p14:creationId xmlns:p14="http://schemas.microsoft.com/office/powerpoint/2010/main" val="130563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Hi, I'm Praneeth Vempati, and this is my mid-project review presentation.</a:t>
            </a:r>
          </a:p>
          <a:p>
            <a:endParaRPr/>
          </a:p>
          <a:p>
            <a:r>
              <a:rPr dirty="0"/>
              <a:t>My project sits at the intersection of generative AI and evaluation methodology. The core question I'm trying to answer is: when a text-to-image model generates an image, how do we know if it actually captured what the prompt asked for? That failure — where the image looks realistic but misrepresents the prompt — is what I'm calling a visual hallucination, and my work is about building an automated system to detect it.</a:t>
            </a:r>
            <a:endParaRPr dirty="0">
              <a:ea typeface="Calibri"/>
              <a:cs typeface="Calibri"/>
            </a:endParaRPr>
          </a:p>
          <a:p>
            <a:endParaRPr/>
          </a:p>
          <a:p>
            <a:r>
              <a:rPr lang="en-US" dirty="0"/>
              <a:t>In this presentation I'll</a:t>
            </a:r>
            <a:r>
              <a:rPr dirty="0"/>
              <a:t> walk you through the problem, what I originally planned to build, how and why that evolved, what I've built so far, preliminary results, and where I'm heading next.</a:t>
            </a:r>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start with the problem.</a:t>
            </a:r>
          </a:p>
          <a:p>
            <a:endParaRPr/>
          </a:p>
          <a:p>
            <a:r>
              <a:rPr dirty="0"/>
              <a:t>Text-to-image diffusion models — like Stable Diffusion — are remarkable. They can generate images that are visually indistinguishable from photographs. But there's a catch: they regularly get the semantics wrong. You ask for a red cat on a blue chair and you might get a brown cat on a green sofa. The image looks perfectly fine, but it doesn't match the prompt.</a:t>
            </a:r>
            <a:endParaRPr dirty="0">
              <a:ea typeface="Calibri"/>
              <a:cs typeface="Calibri"/>
            </a:endParaRPr>
          </a:p>
          <a:p>
            <a:endParaRPr/>
          </a:p>
          <a:p>
            <a:r>
              <a:rPr dirty="0"/>
              <a:t>These are visual hallucinations — and the reason they're hard to catch automatically is that we usually don't have a ground-truth image to compare against. Human evaluation is accurate but doesn't scale. And almost all existing automatic metrics only look at one generated image, ignoring the fact that these models are stochastic — they'll give you a different output every single time you run them. That stochasticity is actually a signal we can exploit, and that's the key insight driving this project.</a:t>
            </a:r>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original proposal centered on self-consistency as an uncertainty signal.</a:t>
            </a:r>
          </a:p>
          <a:p>
            <a:endParaRPr/>
          </a:p>
          <a:p>
            <a:r>
              <a:t>The intuition is elegant: if a diffusion model truly understands a prompt, it should generate consistent images across multiple runs — same objects, same colors, same composition. But if it's uncertain or confused by a prompt, its outputs will vary wildly. So if I generate, say, five images from the same prompt and measure how much they disagree with each other using CLIP embeddings, that disagreement score becomes a proxy for hallucination likelihood.</a:t>
            </a:r>
          </a:p>
          <a:p>
            <a:endParaRPr/>
          </a:p>
          <a:p>
            <a:r>
              <a:t>The key advantages of this approach are that it requires no training, no labeled data, no ground-truth images. It's purely observational. I was also planning to combine this with structured faithfulness checks inspired by TIFA and GenEval to get a richer evaluation signal.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did the scope change?</a:t>
            </a:r>
          </a:p>
          <a:p>
            <a:endParaRPr/>
          </a:p>
          <a:p>
            <a:r>
              <a:t>After early implementation work and a conversation with my advisor, it became clear that jumping straight to multi-image self-consistency without a validated per-image evaluator was risky. If my faithfulness metric is noisy, then the variance across images is also noisy — and I'd have no way to distinguish real uncertainty from measurement error.</a:t>
            </a:r>
          </a:p>
          <a:p>
            <a:endParaRPr/>
          </a:p>
          <a:p>
            <a:r>
              <a:t>The recommendation was to first build and validate a robust single-image faithfulness evaluator, and then layer the self-consistency experiments on top of it. That's exactly what I've done. The self-consistency approach is absolutely still coming — it's the planned next phase — but this intermediate step makes the whole system more rigorous.</a:t>
            </a:r>
          </a:p>
          <a:p>
            <a:endParaRPr/>
          </a:p>
          <a:p>
            <a:r>
              <a:t>I also switched from a small custom prompt set to Flickr30k, which gives me real caption-image pairs to benchmark against. And I built a Gradio interface to make the system interactive and demonstrable.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through the technical architecture.</a:t>
            </a:r>
          </a:p>
          <a:p>
            <a:endParaRPr/>
          </a:p>
          <a:p>
            <a:r>
              <a:t>The pipeline starts with a text prompt. Stable Diffusion generates a 512×512 image using 20 to 30 diffusion steps and a guidance scale of 7.5. That image then goes through prompt parsing, where I extract structured claims — things like 'is there a man in the image' or 'what color is the shirt.' Those claims are passed to BLIP-VQA, which answers each yes/no or attribute question by looking at the image. The fraction of checks that pass becomes the faithfulness score.</a:t>
            </a:r>
          </a:p>
          <a:p>
            <a:endParaRPr/>
          </a:p>
          <a:p>
            <a:r>
              <a:t>Running in parallel, CLIP gives a coarser but complementary score by measuring the cosine similarity between the prompt embedding and the image embedding. And optionally, BLIP can generate a caption for the image, which I then compare back to the original prompt as a third signal.</a:t>
            </a:r>
          </a:p>
          <a:p>
            <a:endParaRPr/>
          </a:p>
          <a:p>
            <a:r>
              <a:t>The whole system runs on PyTorch with Hugging Face's Diffusers and Transformers libraries, inside a GPU-enabled notebook.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everything that's been implemented and working.</a:t>
            </a:r>
          </a:p>
          <a:p>
            <a:endParaRPr/>
          </a:p>
          <a:p>
            <a:r>
              <a:t>The screenshot on the right is the live Gradio interface for single-prompt evaluation. In this example, I typed 'a man with a black shirt riding a white horse.' The system generated the image you see, then automatically ran six VQA checks — existence checks for man, shirt, horse, and so on, plus color checks for the shirt being black and the horse being white. Every single check passed, giving a faithfulness score of 1.0. The CLIP prompt-image similarity came in at 0.353, and BLIP captioned the image as 'a man riding a white horse,' which matched the prompt well.</a:t>
            </a:r>
          </a:p>
          <a:p>
            <a:endParaRPr/>
          </a:p>
          <a:p>
            <a:r>
              <a:t>This interface is really useful for building intuition about when the evaluator works and when it doesn't — and I've used it extensively for debugging.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major component is the benchmark validation pipeline.</a:t>
            </a:r>
          </a:p>
          <a:p>
            <a:endParaRPr/>
          </a:p>
          <a:p>
            <a:r>
              <a:t>The idea here is straightforward: if my faithfulness metric is measuring something real, it should score real photographs higher than AI-generated images for the same caption. So I take Flickr30k caption-image pairs, run my evaluator on the real image, then generate a new image from that same caption using Stable Diffusion and run the evaluator again.</a:t>
            </a:r>
          </a:p>
          <a:p>
            <a:endParaRPr/>
          </a:p>
          <a:p>
            <a:r>
              <a:t>This screenshot shows the full benchmark interface. On the left are the controls — you can set which dataset to use, how many examples to evaluate, and which generation model to use. On the right you get an aggregate statistics table showing mean and standard deviation for ground-truth images versus generated images, a validation check showing how often each condition won, and the scatter and bar plots I'll show on the next slides. Below that is a per-example results table with every caption, its faithfulness scores, and CLIP scores.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look at the results.</a:t>
            </a:r>
          </a:p>
          <a:p>
            <a:endParaRPr/>
          </a:p>
          <a:p>
            <a:r>
              <a:t>Running the benchmark on 30 Flickr30k examples, ground-truth images scored a mean faithfulness of 0.929, while generated images scored 0.866 — a delta of about 0.063. The bar chart on the left shows this gap clearly with standard deviation error bars.</a:t>
            </a:r>
          </a:p>
          <a:p>
            <a:endParaRPr/>
          </a:p>
          <a:p>
            <a:r>
              <a:t>The scatter plot on the right is where things get interesting. If the evaluator were perfect, every single point would fall below the red diagonal line — meaning the real image always outscores the generated one. What we actually see is mixed behavior. Many points are below the line, which is good. But some generated images score at parity with, or even above, their real counterparts. There's also a cluster of points at the top-right corner where both images scored 1.0 — a ceiling effect caused by very simple captions where VQA checks are easy to pass for any reasonable image.</a:t>
            </a:r>
          </a:p>
          <a:p>
            <a:endParaRPr/>
          </a:p>
          <a:p>
            <a:r>
              <a:t>So the honest interpretation is: the metric captures a real signal, but it's not yet strong enough to be a reliable hallucination detector on its own.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be honest about what these results mean and where the system falls short.</a:t>
            </a:r>
          </a:p>
          <a:p>
            <a:endParaRPr/>
          </a:p>
          <a:p>
            <a:r>
              <a:t>On the positive side, the metric is demonstrably non-random. Ground-truth images score higher on average, which validates the basic approach. But three concrete limitations are holding back stronger performance.</a:t>
            </a:r>
          </a:p>
          <a:p>
            <a:endParaRPr/>
          </a:p>
          <a:p>
            <a:r>
              <a:t>First, the prompt parser is too simple. It only extracts existence and color checks. It completely misses spatial relationships — like 'the dog is to the left of the cat' — counting constraints, and more abstract descriptors. These are precisely the kinds of claims most likely to hallucinate.</a:t>
            </a:r>
          </a:p>
          <a:p>
            <a:endParaRPr/>
          </a:p>
          <a:p>
            <a:r>
              <a:t>Second, BLIP-VQA is not a perfect oracle. When it makes an error, that error propagates directly into the faithfulness score. So some of the noise in my results comes from the evaluator itself, not the generated image.</a:t>
            </a:r>
          </a:p>
          <a:p>
            <a:endParaRPr/>
          </a:p>
          <a:p>
            <a:r>
              <a:t>Third, scale is a constraint. Generating images and running VQA over hundreds of examples is slow, which limits how quickly I can experiment and iterate.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brings me back to the original vision — and the most exciting part of what's coming next.</a:t>
            </a:r>
          </a:p>
          <a:p>
            <a:endParaRPr/>
          </a:p>
          <a:p>
            <a:r>
              <a:t>Now that I have a working per-image faithfulness evaluator, I can implement the self-consistency experiments I originally proposed. The idea is: generate N images — I'm planning 3 to 5 — from the same prompt, compute a faithfulness score for each one, and then look at the variance of those scores.</a:t>
            </a:r>
          </a:p>
          <a:p>
            <a:endParaRPr/>
          </a:p>
          <a:p>
            <a:r>
              <a:t>Three outcomes are possible. If variance is low and the mean score is high, the model is confident and consistently faithful — low hallucination risk. If variance is high, the model is uncertain — it sometimes gets the prompt right and sometimes doesn't — which is a red flag. And if variance is low but the mean is also low, the model is systematically failing the checks, which points to a definitive hallucination rather than random noise.</a:t>
            </a:r>
          </a:p>
          <a:p>
            <a:endParaRPr/>
          </a:p>
          <a:p>
            <a:r>
              <a:t>This framing turns self-consistency from a qualitative intuition into a quantitative, measurable signal — which is exactly what I set out to 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the plan for the remaining six weeks.</a:t>
            </a:r>
          </a:p>
          <a:p>
            <a:endParaRPr/>
          </a:p>
          <a:p>
            <a:r>
              <a:rPr dirty="0"/>
              <a:t>Week one is about scale — running the benchmark on over a </a:t>
            </a:r>
            <a:r>
              <a:rPr lang="en-US" dirty="0"/>
              <a:t>thousand </a:t>
            </a:r>
            <a:r>
              <a:rPr dirty="0"/>
              <a:t>Flickr30k examples to get statistically meaningful results. Week two is analysis — proper score distributions, confidence intervals, and failure </a:t>
            </a:r>
            <a:r>
              <a:rPr dirty="0" err="1"/>
              <a:t>categorisation</a:t>
            </a:r>
            <a:r>
              <a:rPr dirty="0"/>
              <a:t>. Week three is the parser upgrade — adding spatial relation checks, counting, and richer attribute extraction to make the VQA checks harder to trivially pass. Week four is failure case analysis — carefully looking at the examples where my metric disagrees with what a human would say, to understand where and why it breaks. Week five is the big one — implementing the self-consistency multi-image experiments. And week six is final report and presentation preparation.</a:t>
            </a:r>
            <a:endParaRPr dirty="0">
              <a:ea typeface="Calibri"/>
              <a:cs typeface="Calibri"/>
            </a:endParaRPr>
          </a:p>
          <a:p>
            <a:endParaRPr/>
          </a:p>
          <a:p>
            <a:r>
              <a:t>The project is on track, the foundation is solid, and the most interesting experiments are ahead.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 let me give you a clear picture of where things stand.</a:t>
            </a:r>
          </a:p>
          <a:p>
            <a:endParaRPr/>
          </a:p>
          <a:p>
            <a:r>
              <a:t>On the done side: I have a fully working end-to-end faithfulness evaluation system, validated on Flickr30k, with an interactive interface and preliminary results showing the metric captures a real signal.</a:t>
            </a:r>
          </a:p>
          <a:p>
            <a:endParaRPr/>
          </a:p>
          <a:p>
            <a:r>
              <a:t>In progress: scaling up the experiments, improving the parser, and documenting failure cases.</a:t>
            </a:r>
          </a:p>
          <a:p>
            <a:endParaRPr/>
          </a:p>
          <a:p>
            <a:r>
              <a:t>Planned: the self-consistency multi-image experiments that were always the long-term goal of this project, followed by combining both signals into a unified hallucination evaluation framework.</a:t>
            </a:r>
          </a:p>
          <a:p>
            <a:endParaRPr/>
          </a:p>
          <a:p>
            <a:r>
              <a:t>The foundation is solid. The most interesting experiments are ahead. Thank you —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8686800" y="0"/>
            <a:ext cx="3502152" cy="27432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704320" y="0"/>
            <a:ext cx="48463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47472"/>
            <a:ext cx="8229600" cy="365760"/>
          </a:xfrm>
          <a:prstGeom prst="rect">
            <a:avLst/>
          </a:prstGeom>
          <a:noFill/>
        </p:spPr>
        <p:txBody>
          <a:bodyPr wrap="square">
            <a:spAutoFit/>
          </a:bodyPr>
          <a:lstStyle/>
          <a:p>
            <a:pPr algn="l"/>
            <a:r>
              <a:rPr sz="1000" b="1" i="1">
                <a:solidFill>
                  <a:srgbClr val="00C2D1"/>
                </a:solidFill>
              </a:rPr>
              <a:t>UNIVERSITY OF FLORIDA  ·  MID-PROJECT REVIEW</a:t>
            </a:r>
          </a:p>
        </p:txBody>
      </p:sp>
      <p:sp>
        <p:nvSpPr>
          <p:cNvPr id="5" name="TextBox 4"/>
          <p:cNvSpPr txBox="1"/>
          <p:nvPr/>
        </p:nvSpPr>
        <p:spPr>
          <a:xfrm>
            <a:off x="457200" y="1280160"/>
            <a:ext cx="10972800" cy="2011680"/>
          </a:xfrm>
          <a:prstGeom prst="rect">
            <a:avLst/>
          </a:prstGeom>
          <a:noFill/>
        </p:spPr>
        <p:txBody>
          <a:bodyPr wrap="square">
            <a:spAutoFit/>
          </a:bodyPr>
          <a:lstStyle/>
          <a:p>
            <a:pPr algn="l"/>
            <a:r>
              <a:rPr sz="3800" b="1">
                <a:solidFill>
                  <a:srgbClr val="FFFFFF"/>
                </a:solidFill>
              </a:rPr>
              <a:t>Faithfulness-Based Evaluation
for Detecting Hallucinations
in Text-to-Image Generation</a:t>
            </a:r>
          </a:p>
        </p:txBody>
      </p:sp>
      <p:sp>
        <p:nvSpPr>
          <p:cNvPr id="6" name="Rectangle 5"/>
          <p:cNvSpPr/>
          <p:nvPr/>
        </p:nvSpPr>
        <p:spPr>
          <a:xfrm>
            <a:off x="0" y="3429000"/>
            <a:ext cx="5029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3611880"/>
            <a:ext cx="6400800" cy="365760"/>
          </a:xfrm>
          <a:prstGeom prst="rect">
            <a:avLst/>
          </a:prstGeom>
          <a:noFill/>
        </p:spPr>
        <p:txBody>
          <a:bodyPr wrap="square">
            <a:spAutoFit/>
          </a:bodyPr>
          <a:lstStyle/>
          <a:p>
            <a:pPr algn="l"/>
            <a:r>
              <a:rPr sz="1500" b="0" i="0">
                <a:solidFill>
                  <a:srgbClr val="CCD6E0"/>
                </a:solidFill>
              </a:rPr>
              <a:t>Praneeth Vempati  |  pvempati@ufl.edu</a:t>
            </a:r>
          </a:p>
        </p:txBody>
      </p:sp>
      <p:sp>
        <p:nvSpPr>
          <p:cNvPr id="9" name="Rectangle 8"/>
          <p:cNvSpPr/>
          <p:nvPr/>
        </p:nvSpPr>
        <p:spPr>
          <a:xfrm>
            <a:off x="0" y="6355080"/>
            <a:ext cx="12188952" cy="50292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6382512"/>
            <a:ext cx="10972800" cy="365760"/>
          </a:xfrm>
          <a:prstGeom prst="rect">
            <a:avLst/>
          </a:prstGeom>
          <a:noFill/>
        </p:spPr>
        <p:txBody>
          <a:bodyPr wrap="square">
            <a:spAutoFit/>
          </a:bodyPr>
          <a:lstStyle/>
          <a:p>
            <a:pPr algn="ctr"/>
            <a:r>
              <a:rPr sz="1100" b="0" i="0">
                <a:solidFill>
                  <a:srgbClr val="FFFFFF"/>
                </a:solidFill>
              </a:rPr>
              <a:t>Mid-Project Review  ·  Hallucination Evaluation in Generative Vision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MOTIVATION</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The Problem</a:t>
            </a:r>
          </a:p>
        </p:txBody>
      </p:sp>
      <p:sp>
        <p:nvSpPr>
          <p:cNvPr id="5" name="Rectangle 4"/>
          <p:cNvSpPr/>
          <p:nvPr/>
        </p:nvSpPr>
        <p:spPr>
          <a:xfrm>
            <a:off x="0" y="1143000"/>
            <a:ext cx="54864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71600"/>
            <a:ext cx="6217920" cy="393192"/>
          </a:xfrm>
          <a:prstGeom prst="rect">
            <a:avLst/>
          </a:prstGeom>
          <a:noFill/>
        </p:spPr>
        <p:txBody>
          <a:bodyPr wrap="square">
            <a:spAutoFit/>
          </a:bodyPr>
          <a:lstStyle/>
          <a:p>
            <a:pPr algn="l"/>
            <a:r>
              <a:rPr sz="1600" b="0" i="0">
                <a:solidFill>
                  <a:srgbClr val="CCD6E0"/>
                </a:solidFill>
              </a:rPr>
              <a:t>▸  Text-to-image models generate photo-realistic images</a:t>
            </a:r>
          </a:p>
        </p:txBody>
      </p:sp>
      <p:sp>
        <p:nvSpPr>
          <p:cNvPr id="7" name="TextBox 6"/>
          <p:cNvSpPr txBox="1"/>
          <p:nvPr/>
        </p:nvSpPr>
        <p:spPr>
          <a:xfrm>
            <a:off x="320040" y="1719072"/>
            <a:ext cx="6217920" cy="393192"/>
          </a:xfrm>
          <a:prstGeom prst="rect">
            <a:avLst/>
          </a:prstGeom>
          <a:noFill/>
        </p:spPr>
        <p:txBody>
          <a:bodyPr wrap="square">
            <a:spAutoFit/>
          </a:bodyPr>
          <a:lstStyle/>
          <a:p>
            <a:pPr algn="l"/>
            <a:r>
              <a:rPr sz="1600" b="0" i="0">
                <a:solidFill>
                  <a:srgbClr val="CCD6E0"/>
                </a:solidFill>
              </a:rPr>
              <a:t>▸  But they frequently violate prompt semantics</a:t>
            </a:r>
          </a:p>
        </p:txBody>
      </p:sp>
      <p:sp>
        <p:nvSpPr>
          <p:cNvPr id="8" name="TextBox 7"/>
          <p:cNvSpPr txBox="1"/>
          <p:nvPr/>
        </p:nvSpPr>
        <p:spPr>
          <a:xfrm>
            <a:off x="320040" y="2066543"/>
            <a:ext cx="6217920" cy="393192"/>
          </a:xfrm>
          <a:prstGeom prst="rect">
            <a:avLst/>
          </a:prstGeom>
          <a:noFill/>
        </p:spPr>
        <p:txBody>
          <a:bodyPr wrap="square">
            <a:spAutoFit/>
          </a:bodyPr>
          <a:lstStyle/>
          <a:p>
            <a:pPr algn="l"/>
            <a:r>
              <a:rPr sz="1600" b="0" i="0">
                <a:solidFill>
                  <a:srgbClr val="CCD6E0"/>
                </a:solidFill>
              </a:rPr>
              <a:t>▸  Wrong colors, missing objects, broken spatial relations</a:t>
            </a:r>
          </a:p>
        </p:txBody>
      </p:sp>
      <p:sp>
        <p:nvSpPr>
          <p:cNvPr id="9" name="TextBox 8"/>
          <p:cNvSpPr txBox="1"/>
          <p:nvPr/>
        </p:nvSpPr>
        <p:spPr>
          <a:xfrm>
            <a:off x="320040" y="2414016"/>
            <a:ext cx="6217920" cy="393192"/>
          </a:xfrm>
          <a:prstGeom prst="rect">
            <a:avLst/>
          </a:prstGeom>
          <a:noFill/>
        </p:spPr>
        <p:txBody>
          <a:bodyPr wrap="square">
            <a:spAutoFit/>
          </a:bodyPr>
          <a:lstStyle/>
          <a:p>
            <a:pPr algn="l"/>
            <a:r>
              <a:rPr sz="1600" b="0" i="0">
                <a:solidFill>
                  <a:srgbClr val="CCD6E0"/>
                </a:solidFill>
              </a:rPr>
              <a:t>▸  These semantic failures are called visual hallucinations</a:t>
            </a:r>
          </a:p>
        </p:txBody>
      </p:sp>
      <p:sp>
        <p:nvSpPr>
          <p:cNvPr id="10" name="TextBox 9"/>
          <p:cNvSpPr txBox="1"/>
          <p:nvPr/>
        </p:nvSpPr>
        <p:spPr>
          <a:xfrm>
            <a:off x="320040" y="2761488"/>
            <a:ext cx="6217920" cy="393192"/>
          </a:xfrm>
          <a:prstGeom prst="rect">
            <a:avLst/>
          </a:prstGeom>
          <a:noFill/>
        </p:spPr>
        <p:txBody>
          <a:bodyPr wrap="square">
            <a:spAutoFit/>
          </a:bodyPr>
          <a:lstStyle/>
          <a:p>
            <a:pPr algn="l"/>
            <a:r>
              <a:rPr sz="1600" b="0" i="0">
                <a:solidFill>
                  <a:srgbClr val="CCD6E0"/>
                </a:solidFill>
              </a:rPr>
              <a:t>▸  Human evaluation doesn't scale  —  automation is needed</a:t>
            </a:r>
          </a:p>
        </p:txBody>
      </p:sp>
      <p:sp>
        <p:nvSpPr>
          <p:cNvPr id="11" name="Rectangle 10"/>
          <p:cNvSpPr/>
          <p:nvPr/>
        </p:nvSpPr>
        <p:spPr>
          <a:xfrm>
            <a:off x="6858000" y="1371600"/>
            <a:ext cx="4937760" cy="20116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1371600"/>
            <a:ext cx="54864" cy="20116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95160" y="1463040"/>
            <a:ext cx="4709160" cy="320040"/>
          </a:xfrm>
          <a:prstGeom prst="rect">
            <a:avLst/>
          </a:prstGeom>
          <a:noFill/>
        </p:spPr>
        <p:txBody>
          <a:bodyPr wrap="square" lIns="91440" tIns="45720" rIns="91440" bIns="45720" anchor="t">
            <a:spAutoFit/>
          </a:bodyPr>
          <a:lstStyle/>
          <a:p>
            <a:pPr algn="l"/>
            <a:r>
              <a:rPr sz="1500" b="1" i="0">
                <a:solidFill>
                  <a:srgbClr val="00C2D1"/>
                </a:solidFill>
              </a:rPr>
              <a:t>KEY GAP </a:t>
            </a:r>
          </a:p>
        </p:txBody>
      </p:sp>
      <p:sp>
        <p:nvSpPr>
          <p:cNvPr id="14" name="TextBox 13"/>
          <p:cNvSpPr txBox="1"/>
          <p:nvPr/>
        </p:nvSpPr>
        <p:spPr>
          <a:xfrm>
            <a:off x="7040880" y="1755648"/>
            <a:ext cx="4617720" cy="320040"/>
          </a:xfrm>
          <a:prstGeom prst="rect">
            <a:avLst/>
          </a:prstGeom>
          <a:noFill/>
        </p:spPr>
        <p:txBody>
          <a:bodyPr wrap="square">
            <a:spAutoFit/>
          </a:bodyPr>
          <a:lstStyle/>
          <a:p>
            <a:pPr algn="l"/>
            <a:r>
              <a:rPr sz="1300" b="0" i="0">
                <a:solidFill>
                  <a:srgbClr val="CCD6E0"/>
                </a:solidFill>
              </a:rPr>
              <a:t>Models are stochastic — they produce</a:t>
            </a:r>
          </a:p>
        </p:txBody>
      </p:sp>
      <p:sp>
        <p:nvSpPr>
          <p:cNvPr id="15" name="TextBox 14"/>
          <p:cNvSpPr txBox="1"/>
          <p:nvPr/>
        </p:nvSpPr>
        <p:spPr>
          <a:xfrm>
            <a:off x="7040880" y="2048255"/>
            <a:ext cx="4617720" cy="320040"/>
          </a:xfrm>
          <a:prstGeom prst="rect">
            <a:avLst/>
          </a:prstGeom>
          <a:noFill/>
        </p:spPr>
        <p:txBody>
          <a:bodyPr wrap="square">
            <a:spAutoFit/>
          </a:bodyPr>
          <a:lstStyle/>
          <a:p>
            <a:pPr algn="l"/>
            <a:r>
              <a:rPr sz="1300" b="0" i="0">
                <a:solidFill>
                  <a:srgbClr val="CCD6E0"/>
                </a:solidFill>
              </a:rPr>
              <a:t>different outputs every run.</a:t>
            </a:r>
          </a:p>
        </p:txBody>
      </p:sp>
      <p:sp>
        <p:nvSpPr>
          <p:cNvPr id="16" name="TextBox 15"/>
          <p:cNvSpPr txBox="1"/>
          <p:nvPr/>
        </p:nvSpPr>
        <p:spPr>
          <a:xfrm>
            <a:off x="7040880" y="2340864"/>
            <a:ext cx="4617720" cy="320040"/>
          </a:xfrm>
          <a:prstGeom prst="rect">
            <a:avLst/>
          </a:prstGeom>
          <a:noFill/>
        </p:spPr>
        <p:txBody>
          <a:bodyPr wrap="square">
            <a:spAutoFit/>
          </a:bodyPr>
          <a:lstStyle/>
          <a:p>
            <a:pPr algn="l"/>
            <a:r>
              <a:rPr sz="1300" b="0" i="0">
                <a:solidFill>
                  <a:srgbClr val="CCD6E0"/>
                </a:solidFill>
              </a:rPr>
              <a:t>Yet most evaluations inspect only ONE</a:t>
            </a:r>
          </a:p>
        </p:txBody>
      </p:sp>
      <p:sp>
        <p:nvSpPr>
          <p:cNvPr id="17" name="TextBox 16"/>
          <p:cNvSpPr txBox="1"/>
          <p:nvPr/>
        </p:nvSpPr>
        <p:spPr>
          <a:xfrm>
            <a:off x="7040880" y="2633472"/>
            <a:ext cx="4617720" cy="320040"/>
          </a:xfrm>
          <a:prstGeom prst="rect">
            <a:avLst/>
          </a:prstGeom>
          <a:noFill/>
        </p:spPr>
        <p:txBody>
          <a:bodyPr wrap="square">
            <a:spAutoFit/>
          </a:bodyPr>
          <a:lstStyle/>
          <a:p>
            <a:pPr algn="l"/>
            <a:r>
              <a:rPr sz="1300" b="0" i="0">
                <a:solidFill>
                  <a:srgbClr val="CCD6E0"/>
                </a:solidFill>
              </a:rPr>
              <a:t>image and ignore consistency entirely.</a:t>
            </a:r>
          </a:p>
        </p:txBody>
      </p:sp>
      <p:sp>
        <p:nvSpPr>
          <p:cNvPr id="18" name="Rectangle 17"/>
          <p:cNvSpPr/>
          <p:nvPr/>
        </p:nvSpPr>
        <p:spPr>
          <a:xfrm>
            <a:off x="6858000" y="3566160"/>
            <a:ext cx="4937760" cy="13716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95160" y="3639312"/>
            <a:ext cx="1828800" cy="274320"/>
          </a:xfrm>
          <a:prstGeom prst="rect">
            <a:avLst/>
          </a:prstGeom>
          <a:noFill/>
        </p:spPr>
        <p:txBody>
          <a:bodyPr wrap="square">
            <a:spAutoFit/>
          </a:bodyPr>
          <a:lstStyle/>
          <a:p>
            <a:pPr algn="l"/>
            <a:r>
              <a:rPr sz="1100" b="1" i="0">
                <a:solidFill>
                  <a:srgbClr val="FA4D00"/>
                </a:solidFill>
              </a:rPr>
              <a:t>Example</a:t>
            </a:r>
          </a:p>
        </p:txBody>
      </p:sp>
      <p:sp>
        <p:nvSpPr>
          <p:cNvPr id="20" name="TextBox 19"/>
          <p:cNvSpPr txBox="1"/>
          <p:nvPr/>
        </p:nvSpPr>
        <p:spPr>
          <a:xfrm>
            <a:off x="6995160" y="3931920"/>
            <a:ext cx="4663440" cy="822960"/>
          </a:xfrm>
          <a:prstGeom prst="rect">
            <a:avLst/>
          </a:prstGeom>
          <a:noFill/>
        </p:spPr>
        <p:txBody>
          <a:bodyPr wrap="square">
            <a:spAutoFit/>
          </a:bodyPr>
          <a:lstStyle/>
          <a:p>
            <a:pPr algn="l"/>
            <a:r>
              <a:rPr sz="1300" b="0" i="0">
                <a:solidFill>
                  <a:srgbClr val="CCD6E0"/>
                </a:solidFill>
              </a:rPr>
              <a:t>Prompt:  "a red cat on a blue chair"
Model output:  brown cat · green sofa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ORIGINAL PROPOSAL</a:t>
            </a:r>
          </a:p>
        </p:txBody>
      </p:sp>
      <p:sp>
        <p:nvSpPr>
          <p:cNvPr id="4" name="TextBox 3"/>
          <p:cNvSpPr txBox="1"/>
          <p:nvPr/>
        </p:nvSpPr>
        <p:spPr>
          <a:xfrm>
            <a:off x="320040" y="502920"/>
            <a:ext cx="9144000" cy="640080"/>
          </a:xfrm>
          <a:prstGeom prst="rect">
            <a:avLst/>
          </a:prstGeom>
          <a:noFill/>
        </p:spPr>
        <p:txBody>
          <a:bodyPr wrap="square">
            <a:spAutoFit/>
          </a:bodyPr>
          <a:lstStyle/>
          <a:p>
            <a:pPr algn="l"/>
            <a:r>
              <a:rPr sz="3200" b="1" i="0">
                <a:solidFill>
                  <a:srgbClr val="FFFFFF"/>
                </a:solidFill>
              </a:rPr>
              <a:t>What I Originally Planned</a:t>
            </a:r>
          </a:p>
        </p:txBody>
      </p:sp>
      <p:sp>
        <p:nvSpPr>
          <p:cNvPr id="5" name="Rectangle 4"/>
          <p:cNvSpPr/>
          <p:nvPr/>
        </p:nvSpPr>
        <p:spPr>
          <a:xfrm>
            <a:off x="0" y="1143000"/>
            <a:ext cx="64008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530352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54864" cy="15544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5074920" cy="320040"/>
          </a:xfrm>
          <a:prstGeom prst="rect">
            <a:avLst/>
          </a:prstGeom>
          <a:noFill/>
        </p:spPr>
        <p:txBody>
          <a:bodyPr wrap="square" lIns="91440" tIns="45720" rIns="91440" bIns="45720" anchor="t">
            <a:spAutoFit/>
          </a:bodyPr>
          <a:lstStyle/>
          <a:p>
            <a:pPr algn="l"/>
            <a:r>
              <a:rPr sz="1500" b="1" i="0">
                <a:solidFill>
                  <a:srgbClr val="00C2D1"/>
                </a:solidFill>
              </a:rPr>
              <a:t>CORE IDEA </a:t>
            </a:r>
          </a:p>
        </p:txBody>
      </p:sp>
      <p:sp>
        <p:nvSpPr>
          <p:cNvPr id="9" name="TextBox 8"/>
          <p:cNvSpPr txBox="1"/>
          <p:nvPr/>
        </p:nvSpPr>
        <p:spPr>
          <a:xfrm>
            <a:off x="502920" y="1755648"/>
            <a:ext cx="4983480" cy="320040"/>
          </a:xfrm>
          <a:prstGeom prst="rect">
            <a:avLst/>
          </a:prstGeom>
          <a:noFill/>
        </p:spPr>
        <p:txBody>
          <a:bodyPr wrap="square">
            <a:spAutoFit/>
          </a:bodyPr>
          <a:lstStyle/>
          <a:p>
            <a:pPr algn="l"/>
            <a:r>
              <a:rPr sz="1300" b="0" i="0">
                <a:solidFill>
                  <a:srgbClr val="CCD6E0"/>
                </a:solidFill>
              </a:rPr>
              <a:t>If a model is uncertain about a prompt,</a:t>
            </a:r>
          </a:p>
        </p:txBody>
      </p:sp>
      <p:sp>
        <p:nvSpPr>
          <p:cNvPr id="10" name="TextBox 9"/>
          <p:cNvSpPr txBox="1"/>
          <p:nvPr/>
        </p:nvSpPr>
        <p:spPr>
          <a:xfrm>
            <a:off x="502920" y="2048255"/>
            <a:ext cx="4983480" cy="320040"/>
          </a:xfrm>
          <a:prstGeom prst="rect">
            <a:avLst/>
          </a:prstGeom>
          <a:noFill/>
        </p:spPr>
        <p:txBody>
          <a:bodyPr wrap="square">
            <a:spAutoFit/>
          </a:bodyPr>
          <a:lstStyle/>
          <a:p>
            <a:pPr algn="l"/>
            <a:r>
              <a:rPr sz="1300" b="0" i="0">
                <a:solidFill>
                  <a:srgbClr val="CCD6E0"/>
                </a:solidFill>
              </a:rPr>
              <a:t>its multiple generations will disagree.</a:t>
            </a:r>
          </a:p>
        </p:txBody>
      </p:sp>
      <p:sp>
        <p:nvSpPr>
          <p:cNvPr id="11" name="TextBox 10"/>
          <p:cNvSpPr txBox="1"/>
          <p:nvPr/>
        </p:nvSpPr>
        <p:spPr>
          <a:xfrm>
            <a:off x="502920" y="2340864"/>
            <a:ext cx="4983480" cy="320040"/>
          </a:xfrm>
          <a:prstGeom prst="rect">
            <a:avLst/>
          </a:prstGeom>
          <a:noFill/>
        </p:spPr>
        <p:txBody>
          <a:bodyPr wrap="square">
            <a:spAutoFit/>
          </a:bodyPr>
          <a:lstStyle/>
          <a:p>
            <a:pPr algn="l"/>
            <a:r>
              <a:rPr sz="1300" b="0" i="0">
                <a:solidFill>
                  <a:srgbClr val="CCD6E0"/>
                </a:solidFill>
              </a:rPr>
              <a:t>Disagreement  =  uncertainty  =  hallucination signal.</a:t>
            </a:r>
          </a:p>
        </p:txBody>
      </p:sp>
      <p:sp>
        <p:nvSpPr>
          <p:cNvPr id="12" name="TextBox 11"/>
          <p:cNvSpPr txBox="1"/>
          <p:nvPr/>
        </p:nvSpPr>
        <p:spPr>
          <a:xfrm>
            <a:off x="320040" y="3063240"/>
            <a:ext cx="4572000" cy="365760"/>
          </a:xfrm>
          <a:prstGeom prst="rect">
            <a:avLst/>
          </a:prstGeom>
          <a:noFill/>
        </p:spPr>
        <p:txBody>
          <a:bodyPr wrap="square">
            <a:spAutoFit/>
          </a:bodyPr>
          <a:lstStyle/>
          <a:p>
            <a:pPr algn="l"/>
            <a:r>
              <a:rPr sz="1400" b="1" i="0">
                <a:solidFill>
                  <a:srgbClr val="00C2D1"/>
                </a:solidFill>
              </a:rPr>
              <a:t>Approach</a:t>
            </a:r>
          </a:p>
        </p:txBody>
      </p:sp>
      <p:sp>
        <p:nvSpPr>
          <p:cNvPr id="13" name="TextBox 12"/>
          <p:cNvSpPr txBox="1"/>
          <p:nvPr/>
        </p:nvSpPr>
        <p:spPr>
          <a:xfrm>
            <a:off x="320040" y="3429000"/>
            <a:ext cx="5394960" cy="393192"/>
          </a:xfrm>
          <a:prstGeom prst="rect">
            <a:avLst/>
          </a:prstGeom>
          <a:noFill/>
        </p:spPr>
        <p:txBody>
          <a:bodyPr wrap="square">
            <a:spAutoFit/>
          </a:bodyPr>
          <a:lstStyle/>
          <a:p>
            <a:pPr algn="l"/>
            <a:r>
              <a:rPr sz="1500" b="0" i="0">
                <a:solidFill>
                  <a:srgbClr val="CCD6E0"/>
                </a:solidFill>
              </a:rPr>
              <a:t>▸  Generate N images per prompt</a:t>
            </a:r>
          </a:p>
        </p:txBody>
      </p:sp>
      <p:sp>
        <p:nvSpPr>
          <p:cNvPr id="14" name="TextBox 13"/>
          <p:cNvSpPr txBox="1"/>
          <p:nvPr/>
        </p:nvSpPr>
        <p:spPr>
          <a:xfrm>
            <a:off x="320040" y="3776472"/>
            <a:ext cx="5394960" cy="393192"/>
          </a:xfrm>
          <a:prstGeom prst="rect">
            <a:avLst/>
          </a:prstGeom>
          <a:noFill/>
        </p:spPr>
        <p:txBody>
          <a:bodyPr wrap="square">
            <a:spAutoFit/>
          </a:bodyPr>
          <a:lstStyle/>
          <a:p>
            <a:pPr algn="l"/>
            <a:r>
              <a:rPr sz="1500" b="0" i="0">
                <a:solidFill>
                  <a:srgbClr val="CCD6E0"/>
                </a:solidFill>
              </a:rPr>
              <a:t>▸  Measure semantic agreement via CLIP embeddings</a:t>
            </a:r>
          </a:p>
        </p:txBody>
      </p:sp>
      <p:sp>
        <p:nvSpPr>
          <p:cNvPr id="15" name="TextBox 14"/>
          <p:cNvSpPr txBox="1"/>
          <p:nvPr/>
        </p:nvSpPr>
        <p:spPr>
          <a:xfrm>
            <a:off x="320040" y="4123944"/>
            <a:ext cx="5394960" cy="393192"/>
          </a:xfrm>
          <a:prstGeom prst="rect">
            <a:avLst/>
          </a:prstGeom>
          <a:noFill/>
        </p:spPr>
        <p:txBody>
          <a:bodyPr wrap="square">
            <a:spAutoFit/>
          </a:bodyPr>
          <a:lstStyle/>
          <a:p>
            <a:pPr algn="l"/>
            <a:r>
              <a:rPr sz="1500" b="0" i="0">
                <a:solidFill>
                  <a:srgbClr val="CCD6E0"/>
                </a:solidFill>
              </a:rPr>
              <a:t>▸  Treat inter-sample disagreement as uncertainty</a:t>
            </a:r>
          </a:p>
        </p:txBody>
      </p:sp>
      <p:sp>
        <p:nvSpPr>
          <p:cNvPr id="16" name="TextBox 15"/>
          <p:cNvSpPr txBox="1"/>
          <p:nvPr/>
        </p:nvSpPr>
        <p:spPr>
          <a:xfrm>
            <a:off x="320040" y="4471416"/>
            <a:ext cx="5394960" cy="393192"/>
          </a:xfrm>
          <a:prstGeom prst="rect">
            <a:avLst/>
          </a:prstGeom>
          <a:noFill/>
        </p:spPr>
        <p:txBody>
          <a:bodyPr wrap="square">
            <a:spAutoFit/>
          </a:bodyPr>
          <a:lstStyle/>
          <a:p>
            <a:pPr algn="l"/>
            <a:r>
              <a:rPr sz="1500" b="0" i="0">
                <a:solidFill>
                  <a:srgbClr val="CCD6E0"/>
                </a:solidFill>
              </a:rPr>
              <a:t>▸  Cross-reference with TIFA / GenEval faithfulness checks</a:t>
            </a:r>
          </a:p>
        </p:txBody>
      </p:sp>
      <p:sp>
        <p:nvSpPr>
          <p:cNvPr id="17" name="Rectangle 16"/>
          <p:cNvSpPr/>
          <p:nvPr/>
        </p:nvSpPr>
        <p:spPr>
          <a:xfrm>
            <a:off x="6400800" y="1371600"/>
            <a:ext cx="5394960" cy="3200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1371600"/>
            <a:ext cx="54864" cy="32004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60" y="1463040"/>
            <a:ext cx="5166360" cy="320040"/>
          </a:xfrm>
          <a:prstGeom prst="rect">
            <a:avLst/>
          </a:prstGeom>
          <a:noFill/>
        </p:spPr>
        <p:txBody>
          <a:bodyPr wrap="square" lIns="91440" tIns="45720" rIns="91440" bIns="45720" anchor="t">
            <a:spAutoFit/>
          </a:bodyPr>
          <a:lstStyle/>
          <a:p>
            <a:pPr algn="l"/>
            <a:r>
              <a:rPr sz="1500" b="1" i="0">
                <a:solidFill>
                  <a:srgbClr val="00C2D1"/>
                </a:solidFill>
              </a:rPr>
              <a:t>ADVANTAGES </a:t>
            </a:r>
          </a:p>
        </p:txBody>
      </p:sp>
      <p:sp>
        <p:nvSpPr>
          <p:cNvPr id="20" name="TextBox 19"/>
          <p:cNvSpPr txBox="1"/>
          <p:nvPr/>
        </p:nvSpPr>
        <p:spPr>
          <a:xfrm>
            <a:off x="6583680" y="1755648"/>
            <a:ext cx="5074920" cy="320040"/>
          </a:xfrm>
          <a:prstGeom prst="rect">
            <a:avLst/>
          </a:prstGeom>
          <a:noFill/>
        </p:spPr>
        <p:txBody>
          <a:bodyPr wrap="square">
            <a:spAutoFit/>
          </a:bodyPr>
          <a:lstStyle/>
          <a:p>
            <a:pPr algn="l"/>
            <a:r>
              <a:rPr sz="1300" b="0" i="0">
                <a:solidFill>
                  <a:srgbClr val="CCD6E0"/>
                </a:solidFill>
              </a:rPr>
              <a:t>✦  Training-free</a:t>
            </a:r>
          </a:p>
        </p:txBody>
      </p:sp>
      <p:sp>
        <p:nvSpPr>
          <p:cNvPr id="21" name="TextBox 20"/>
          <p:cNvSpPr txBox="1"/>
          <p:nvPr/>
        </p:nvSpPr>
        <p:spPr>
          <a:xfrm>
            <a:off x="6583680" y="2048255"/>
            <a:ext cx="5074920" cy="320040"/>
          </a:xfrm>
          <a:prstGeom prst="rect">
            <a:avLst/>
          </a:prstGeom>
          <a:noFill/>
        </p:spPr>
        <p:txBody>
          <a:bodyPr wrap="square">
            <a:spAutoFit/>
          </a:bodyPr>
          <a:lstStyle/>
          <a:p>
            <a:pPr algn="l"/>
            <a:r>
              <a:rPr sz="1300" b="0" i="0">
                <a:solidFill>
                  <a:srgbClr val="CCD6E0"/>
                </a:solidFill>
              </a:rPr>
              <a:t>✦  Model-agnostic</a:t>
            </a:r>
          </a:p>
        </p:txBody>
      </p:sp>
      <p:sp>
        <p:nvSpPr>
          <p:cNvPr id="22" name="TextBox 21"/>
          <p:cNvSpPr txBox="1"/>
          <p:nvPr/>
        </p:nvSpPr>
        <p:spPr>
          <a:xfrm>
            <a:off x="6583680" y="2340864"/>
            <a:ext cx="5074920" cy="320040"/>
          </a:xfrm>
          <a:prstGeom prst="rect">
            <a:avLst/>
          </a:prstGeom>
          <a:noFill/>
        </p:spPr>
        <p:txBody>
          <a:bodyPr wrap="square">
            <a:spAutoFit/>
          </a:bodyPr>
          <a:lstStyle/>
          <a:p>
            <a:pPr algn="l"/>
            <a:r>
              <a:rPr sz="1300" b="0" i="0">
                <a:solidFill>
                  <a:srgbClr val="CCD6E0"/>
                </a:solidFill>
              </a:rPr>
              <a:t>✦  No ground-truth images required</a:t>
            </a:r>
          </a:p>
        </p:txBody>
      </p:sp>
      <p:sp>
        <p:nvSpPr>
          <p:cNvPr id="23" name="TextBox 22"/>
          <p:cNvSpPr txBox="1"/>
          <p:nvPr/>
        </p:nvSpPr>
        <p:spPr>
          <a:xfrm>
            <a:off x="6583680" y="2633472"/>
            <a:ext cx="5074920" cy="320040"/>
          </a:xfrm>
          <a:prstGeom prst="rect">
            <a:avLst/>
          </a:prstGeom>
          <a:noFill/>
        </p:spPr>
        <p:txBody>
          <a:bodyPr wrap="square">
            <a:spAutoFit/>
          </a:bodyPr>
          <a:lstStyle/>
          <a:p>
            <a:pPr algn="l"/>
            <a:r>
              <a:rPr sz="1300" b="0" i="0">
                <a:solidFill>
                  <a:srgbClr val="CCD6E0"/>
                </a:solidFill>
              </a:rPr>
              <a:t>✦  Scales to any diffusion model</a:t>
            </a:r>
          </a:p>
        </p:txBody>
      </p:sp>
      <p:sp>
        <p:nvSpPr>
          <p:cNvPr id="24" name="TextBox 23"/>
          <p:cNvSpPr txBox="1"/>
          <p:nvPr/>
        </p:nvSpPr>
        <p:spPr>
          <a:xfrm>
            <a:off x="6583680" y="2926080"/>
            <a:ext cx="5074920" cy="320040"/>
          </a:xfrm>
          <a:prstGeom prst="rect">
            <a:avLst/>
          </a:prstGeom>
          <a:noFill/>
        </p:spPr>
        <p:txBody>
          <a:bodyPr wrap="square">
            <a:spAutoFit/>
          </a:bodyPr>
          <a:lstStyle/>
          <a:p>
            <a:pPr algn="l"/>
            <a:r>
              <a:rPr sz="1300" b="0" i="0">
                <a:solidFill>
                  <a:srgbClr val="CCD6E0"/>
                </a:solidFill>
              </a:rPr>
              <a:t>✦  Interpretable uncertainty scores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SCOPE REFINEMENT</a:t>
            </a:r>
          </a:p>
        </p:txBody>
      </p:sp>
      <p:sp>
        <p:nvSpPr>
          <p:cNvPr id="4" name="TextBox 3"/>
          <p:cNvSpPr txBox="1"/>
          <p:nvPr/>
        </p:nvSpPr>
        <p:spPr>
          <a:xfrm>
            <a:off x="320040" y="502920"/>
            <a:ext cx="9144000" cy="640080"/>
          </a:xfrm>
          <a:prstGeom prst="rect">
            <a:avLst/>
          </a:prstGeom>
          <a:noFill/>
        </p:spPr>
        <p:txBody>
          <a:bodyPr wrap="square">
            <a:spAutoFit/>
          </a:bodyPr>
          <a:lstStyle/>
          <a:p>
            <a:pPr algn="l"/>
            <a:r>
              <a:rPr sz="3200" b="1" i="0">
                <a:solidFill>
                  <a:srgbClr val="FFFFFF"/>
                </a:solidFill>
              </a:rPr>
              <a:t>What Changed — and Why</a:t>
            </a:r>
          </a:p>
        </p:txBody>
      </p:sp>
      <p:sp>
        <p:nvSpPr>
          <p:cNvPr id="5" name="Rectangle 4"/>
          <p:cNvSpPr/>
          <p:nvPr/>
        </p:nvSpPr>
        <p:spPr>
          <a:xfrm>
            <a:off x="0" y="1143000"/>
            <a:ext cx="59436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25880"/>
            <a:ext cx="11521440" cy="4114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371600"/>
            <a:ext cx="2560320" cy="320040"/>
          </a:xfrm>
          <a:prstGeom prst="rect">
            <a:avLst/>
          </a:prstGeom>
          <a:noFill/>
        </p:spPr>
        <p:txBody>
          <a:bodyPr wrap="square">
            <a:spAutoFit/>
          </a:bodyPr>
          <a:lstStyle/>
          <a:p>
            <a:pPr algn="l"/>
            <a:r>
              <a:rPr sz="1300" b="1" i="0">
                <a:solidFill>
                  <a:srgbClr val="FFFFFF"/>
                </a:solidFill>
              </a:rPr>
              <a:t>Component</a:t>
            </a:r>
          </a:p>
        </p:txBody>
      </p:sp>
      <p:sp>
        <p:nvSpPr>
          <p:cNvPr id="8" name="TextBox 7"/>
          <p:cNvSpPr txBox="1"/>
          <p:nvPr/>
        </p:nvSpPr>
        <p:spPr>
          <a:xfrm>
            <a:off x="2926080" y="1371600"/>
            <a:ext cx="2560320" cy="320040"/>
          </a:xfrm>
          <a:prstGeom prst="rect">
            <a:avLst/>
          </a:prstGeom>
          <a:noFill/>
        </p:spPr>
        <p:txBody>
          <a:bodyPr wrap="square">
            <a:spAutoFit/>
          </a:bodyPr>
          <a:lstStyle/>
          <a:p>
            <a:pPr algn="l"/>
            <a:r>
              <a:rPr sz="1300" b="1" i="0">
                <a:solidFill>
                  <a:srgbClr val="FFFFFF"/>
                </a:solidFill>
              </a:rPr>
              <a:t>Original Plan</a:t>
            </a:r>
          </a:p>
        </p:txBody>
      </p:sp>
      <p:sp>
        <p:nvSpPr>
          <p:cNvPr id="9" name="TextBox 8"/>
          <p:cNvSpPr txBox="1"/>
          <p:nvPr/>
        </p:nvSpPr>
        <p:spPr>
          <a:xfrm>
            <a:off x="5577840" y="1371600"/>
            <a:ext cx="2560320" cy="320040"/>
          </a:xfrm>
          <a:prstGeom prst="rect">
            <a:avLst/>
          </a:prstGeom>
          <a:noFill/>
        </p:spPr>
        <p:txBody>
          <a:bodyPr wrap="square">
            <a:spAutoFit/>
          </a:bodyPr>
          <a:lstStyle/>
          <a:p>
            <a:pPr algn="l"/>
            <a:r>
              <a:rPr sz="1300" b="1" i="0">
                <a:solidFill>
                  <a:srgbClr val="FFFFFF"/>
                </a:solidFill>
              </a:rPr>
              <a:t>Updated Plan</a:t>
            </a:r>
          </a:p>
        </p:txBody>
      </p:sp>
      <p:sp>
        <p:nvSpPr>
          <p:cNvPr id="10" name="TextBox 9"/>
          <p:cNvSpPr txBox="1"/>
          <p:nvPr/>
        </p:nvSpPr>
        <p:spPr>
          <a:xfrm>
            <a:off x="8412480" y="1371600"/>
            <a:ext cx="2560320" cy="320040"/>
          </a:xfrm>
          <a:prstGeom prst="rect">
            <a:avLst/>
          </a:prstGeom>
          <a:noFill/>
        </p:spPr>
        <p:txBody>
          <a:bodyPr wrap="square">
            <a:spAutoFit/>
          </a:bodyPr>
          <a:lstStyle/>
          <a:p>
            <a:pPr algn="l"/>
            <a:r>
              <a:rPr sz="1300" b="1" i="0">
                <a:solidFill>
                  <a:srgbClr val="FFFFFF"/>
                </a:solidFill>
              </a:rPr>
              <a:t>Rationale</a:t>
            </a:r>
          </a:p>
        </p:txBody>
      </p:sp>
      <p:sp>
        <p:nvSpPr>
          <p:cNvPr id="11" name="Rectangle 10"/>
          <p:cNvSpPr/>
          <p:nvPr/>
        </p:nvSpPr>
        <p:spPr>
          <a:xfrm>
            <a:off x="320040" y="1755648"/>
            <a:ext cx="11521440" cy="84124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1801368"/>
            <a:ext cx="2560320" cy="749808"/>
          </a:xfrm>
          <a:prstGeom prst="rect">
            <a:avLst/>
          </a:prstGeom>
          <a:noFill/>
        </p:spPr>
        <p:txBody>
          <a:bodyPr wrap="square">
            <a:spAutoFit/>
          </a:bodyPr>
          <a:lstStyle/>
          <a:p>
            <a:pPr algn="l"/>
            <a:r>
              <a:rPr sz="1200" b="0" i="0">
                <a:solidFill>
                  <a:srgbClr val="CCD6E0"/>
                </a:solidFill>
              </a:rPr>
              <a:t>Core Idea</a:t>
            </a:r>
          </a:p>
        </p:txBody>
      </p:sp>
      <p:sp>
        <p:nvSpPr>
          <p:cNvPr id="13" name="TextBox 12"/>
          <p:cNvSpPr txBox="1"/>
          <p:nvPr/>
        </p:nvSpPr>
        <p:spPr>
          <a:xfrm>
            <a:off x="2926080" y="1801368"/>
            <a:ext cx="2560320" cy="749808"/>
          </a:xfrm>
          <a:prstGeom prst="rect">
            <a:avLst/>
          </a:prstGeom>
          <a:noFill/>
        </p:spPr>
        <p:txBody>
          <a:bodyPr wrap="square">
            <a:spAutoFit/>
          </a:bodyPr>
          <a:lstStyle/>
          <a:p>
            <a:pPr algn="l"/>
            <a:r>
              <a:rPr sz="1200" b="0" i="0">
                <a:solidFill>
                  <a:srgbClr val="CCD6E0"/>
                </a:solidFill>
              </a:rPr>
              <a:t>Self-consistency
across N images</a:t>
            </a:r>
          </a:p>
        </p:txBody>
      </p:sp>
      <p:sp>
        <p:nvSpPr>
          <p:cNvPr id="14" name="TextBox 13"/>
          <p:cNvSpPr txBox="1"/>
          <p:nvPr/>
        </p:nvSpPr>
        <p:spPr>
          <a:xfrm>
            <a:off x="5577840" y="1801368"/>
            <a:ext cx="2560320" cy="749808"/>
          </a:xfrm>
          <a:prstGeom prst="rect">
            <a:avLst/>
          </a:prstGeom>
          <a:noFill/>
        </p:spPr>
        <p:txBody>
          <a:bodyPr wrap="square">
            <a:spAutoFit/>
          </a:bodyPr>
          <a:lstStyle/>
          <a:p>
            <a:pPr algn="l"/>
            <a:r>
              <a:rPr sz="1200" b="0" i="0">
                <a:solidFill>
                  <a:srgbClr val="CCD6E0"/>
                </a:solidFill>
              </a:rPr>
              <a:t>Single-image
faithfulness eval</a:t>
            </a:r>
          </a:p>
        </p:txBody>
      </p:sp>
      <p:sp>
        <p:nvSpPr>
          <p:cNvPr id="15" name="TextBox 14"/>
          <p:cNvSpPr txBox="1"/>
          <p:nvPr/>
        </p:nvSpPr>
        <p:spPr>
          <a:xfrm>
            <a:off x="8412480" y="1801368"/>
            <a:ext cx="2560320" cy="749808"/>
          </a:xfrm>
          <a:prstGeom prst="rect">
            <a:avLst/>
          </a:prstGeom>
          <a:noFill/>
        </p:spPr>
        <p:txBody>
          <a:bodyPr wrap="square">
            <a:spAutoFit/>
          </a:bodyPr>
          <a:lstStyle/>
          <a:p>
            <a:pPr algn="l"/>
            <a:r>
              <a:rPr sz="1200" b="0" i="0">
                <a:solidFill>
                  <a:srgbClr val="CCD6E0"/>
                </a:solidFill>
              </a:rPr>
              <a:t>Advisor: establish
clear baseline first</a:t>
            </a:r>
          </a:p>
        </p:txBody>
      </p:sp>
      <p:sp>
        <p:nvSpPr>
          <p:cNvPr id="16" name="Rectangle 15"/>
          <p:cNvSpPr/>
          <p:nvPr/>
        </p:nvSpPr>
        <p:spPr>
          <a:xfrm>
            <a:off x="320040" y="2633472"/>
            <a:ext cx="11521440" cy="8412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2679191"/>
            <a:ext cx="2560320" cy="749808"/>
          </a:xfrm>
          <a:prstGeom prst="rect">
            <a:avLst/>
          </a:prstGeom>
          <a:noFill/>
        </p:spPr>
        <p:txBody>
          <a:bodyPr wrap="square">
            <a:spAutoFit/>
          </a:bodyPr>
          <a:lstStyle/>
          <a:p>
            <a:pPr algn="l"/>
            <a:r>
              <a:rPr sz="1200" b="0" i="0">
                <a:solidFill>
                  <a:srgbClr val="CCD6E0"/>
                </a:solidFill>
              </a:rPr>
              <a:t>Generation</a:t>
            </a:r>
          </a:p>
        </p:txBody>
      </p:sp>
      <p:sp>
        <p:nvSpPr>
          <p:cNvPr id="18" name="TextBox 17"/>
          <p:cNvSpPr txBox="1"/>
          <p:nvPr/>
        </p:nvSpPr>
        <p:spPr>
          <a:xfrm>
            <a:off x="2926080" y="2679191"/>
            <a:ext cx="2560320" cy="749808"/>
          </a:xfrm>
          <a:prstGeom prst="rect">
            <a:avLst/>
          </a:prstGeom>
          <a:noFill/>
        </p:spPr>
        <p:txBody>
          <a:bodyPr wrap="square">
            <a:spAutoFit/>
          </a:bodyPr>
          <a:lstStyle/>
          <a:p>
            <a:pPr algn="l"/>
            <a:r>
              <a:rPr sz="1200" b="0" i="0">
                <a:solidFill>
                  <a:srgbClr val="CCD6E0"/>
                </a:solidFill>
              </a:rPr>
              <a:t>Multiple images
per prompt</a:t>
            </a:r>
          </a:p>
        </p:txBody>
      </p:sp>
      <p:sp>
        <p:nvSpPr>
          <p:cNvPr id="19" name="TextBox 18"/>
          <p:cNvSpPr txBox="1"/>
          <p:nvPr/>
        </p:nvSpPr>
        <p:spPr>
          <a:xfrm>
            <a:off x="5577840" y="2679191"/>
            <a:ext cx="2560320" cy="749808"/>
          </a:xfrm>
          <a:prstGeom prst="rect">
            <a:avLst/>
          </a:prstGeom>
          <a:noFill/>
        </p:spPr>
        <p:txBody>
          <a:bodyPr wrap="square">
            <a:spAutoFit/>
          </a:bodyPr>
          <a:lstStyle/>
          <a:p>
            <a:pPr algn="l"/>
            <a:r>
              <a:rPr sz="1200" b="0" i="0">
                <a:solidFill>
                  <a:srgbClr val="CCD6E0"/>
                </a:solidFill>
              </a:rPr>
              <a:t>One image
per prompt</a:t>
            </a:r>
          </a:p>
        </p:txBody>
      </p:sp>
      <p:sp>
        <p:nvSpPr>
          <p:cNvPr id="20" name="TextBox 19"/>
          <p:cNvSpPr txBox="1"/>
          <p:nvPr/>
        </p:nvSpPr>
        <p:spPr>
          <a:xfrm>
            <a:off x="8412480" y="2679191"/>
            <a:ext cx="2560320" cy="749808"/>
          </a:xfrm>
          <a:prstGeom prst="rect">
            <a:avLst/>
          </a:prstGeom>
          <a:noFill/>
        </p:spPr>
        <p:txBody>
          <a:bodyPr wrap="square">
            <a:spAutoFit/>
          </a:bodyPr>
          <a:lstStyle/>
          <a:p>
            <a:pPr algn="l"/>
            <a:r>
              <a:rPr sz="1200" b="0" i="0">
                <a:solidFill>
                  <a:srgbClr val="CCD6E0"/>
                </a:solidFill>
              </a:rPr>
              <a:t>Reduces compute,
simplifies analysis</a:t>
            </a:r>
          </a:p>
        </p:txBody>
      </p:sp>
      <p:sp>
        <p:nvSpPr>
          <p:cNvPr id="21" name="Rectangle 20"/>
          <p:cNvSpPr/>
          <p:nvPr/>
        </p:nvSpPr>
        <p:spPr>
          <a:xfrm>
            <a:off x="320040" y="3511296"/>
            <a:ext cx="11521440" cy="84124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557015"/>
            <a:ext cx="2560320" cy="749808"/>
          </a:xfrm>
          <a:prstGeom prst="rect">
            <a:avLst/>
          </a:prstGeom>
          <a:noFill/>
        </p:spPr>
        <p:txBody>
          <a:bodyPr wrap="square">
            <a:spAutoFit/>
          </a:bodyPr>
          <a:lstStyle/>
          <a:p>
            <a:pPr algn="l"/>
            <a:r>
              <a:rPr sz="1200" b="0" i="0">
                <a:solidFill>
                  <a:srgbClr val="CCD6E0"/>
                </a:solidFill>
              </a:rPr>
              <a:t>Evaluation</a:t>
            </a:r>
          </a:p>
        </p:txBody>
      </p:sp>
      <p:sp>
        <p:nvSpPr>
          <p:cNvPr id="23" name="TextBox 22"/>
          <p:cNvSpPr txBox="1"/>
          <p:nvPr/>
        </p:nvSpPr>
        <p:spPr>
          <a:xfrm>
            <a:off x="2926080" y="3557015"/>
            <a:ext cx="2560320" cy="749808"/>
          </a:xfrm>
          <a:prstGeom prst="rect">
            <a:avLst/>
          </a:prstGeom>
          <a:noFill/>
        </p:spPr>
        <p:txBody>
          <a:bodyPr wrap="square">
            <a:spAutoFit/>
          </a:bodyPr>
          <a:lstStyle/>
          <a:p>
            <a:pPr algn="l"/>
            <a:r>
              <a:rPr sz="1200" b="0" i="0">
                <a:solidFill>
                  <a:srgbClr val="CCD6E0"/>
                </a:solidFill>
              </a:rPr>
              <a:t>Cross-sample
agreement</a:t>
            </a:r>
          </a:p>
        </p:txBody>
      </p:sp>
      <p:sp>
        <p:nvSpPr>
          <p:cNvPr id="24" name="TextBox 23"/>
          <p:cNvSpPr txBox="1"/>
          <p:nvPr/>
        </p:nvSpPr>
        <p:spPr>
          <a:xfrm>
            <a:off x="5577840" y="3557015"/>
            <a:ext cx="2560320" cy="749808"/>
          </a:xfrm>
          <a:prstGeom prst="rect">
            <a:avLst/>
          </a:prstGeom>
          <a:noFill/>
        </p:spPr>
        <p:txBody>
          <a:bodyPr wrap="square">
            <a:spAutoFit/>
          </a:bodyPr>
          <a:lstStyle/>
          <a:p>
            <a:pPr algn="l"/>
            <a:r>
              <a:rPr sz="1200" b="0" i="0">
                <a:solidFill>
                  <a:srgbClr val="CCD6E0"/>
                </a:solidFill>
              </a:rPr>
              <a:t>VQA checks +
CLIP similarity</a:t>
            </a:r>
          </a:p>
        </p:txBody>
      </p:sp>
      <p:sp>
        <p:nvSpPr>
          <p:cNvPr id="25" name="TextBox 24"/>
          <p:cNvSpPr txBox="1"/>
          <p:nvPr/>
        </p:nvSpPr>
        <p:spPr>
          <a:xfrm>
            <a:off x="8412480" y="3557015"/>
            <a:ext cx="2560320" cy="749808"/>
          </a:xfrm>
          <a:prstGeom prst="rect">
            <a:avLst/>
          </a:prstGeom>
          <a:noFill/>
        </p:spPr>
        <p:txBody>
          <a:bodyPr wrap="square">
            <a:spAutoFit/>
          </a:bodyPr>
          <a:lstStyle/>
          <a:p>
            <a:pPr algn="l"/>
            <a:r>
              <a:rPr sz="1200" b="0" i="0">
                <a:solidFill>
                  <a:srgbClr val="CCD6E0"/>
                </a:solidFill>
              </a:rPr>
              <a:t>More interpretable
&amp; validatable</a:t>
            </a:r>
          </a:p>
        </p:txBody>
      </p:sp>
      <p:sp>
        <p:nvSpPr>
          <p:cNvPr id="26" name="Rectangle 25"/>
          <p:cNvSpPr/>
          <p:nvPr/>
        </p:nvSpPr>
        <p:spPr>
          <a:xfrm>
            <a:off x="320040" y="4389120"/>
            <a:ext cx="11521440" cy="84124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434840"/>
            <a:ext cx="2560320" cy="749808"/>
          </a:xfrm>
          <a:prstGeom prst="rect">
            <a:avLst/>
          </a:prstGeom>
          <a:noFill/>
        </p:spPr>
        <p:txBody>
          <a:bodyPr wrap="square">
            <a:spAutoFit/>
          </a:bodyPr>
          <a:lstStyle/>
          <a:p>
            <a:pPr algn="l"/>
            <a:r>
              <a:rPr sz="1200" b="0" i="0">
                <a:solidFill>
                  <a:srgbClr val="CCD6E0"/>
                </a:solidFill>
              </a:rPr>
              <a:t>Dataset</a:t>
            </a:r>
          </a:p>
        </p:txBody>
      </p:sp>
      <p:sp>
        <p:nvSpPr>
          <p:cNvPr id="28" name="TextBox 27"/>
          <p:cNvSpPr txBox="1"/>
          <p:nvPr/>
        </p:nvSpPr>
        <p:spPr>
          <a:xfrm>
            <a:off x="2926080" y="4434840"/>
            <a:ext cx="2560320" cy="749808"/>
          </a:xfrm>
          <a:prstGeom prst="rect">
            <a:avLst/>
          </a:prstGeom>
          <a:noFill/>
        </p:spPr>
        <p:txBody>
          <a:bodyPr wrap="square">
            <a:spAutoFit/>
          </a:bodyPr>
          <a:lstStyle/>
          <a:p>
            <a:pPr algn="l"/>
            <a:r>
              <a:rPr sz="1200" b="0" i="0">
                <a:solidFill>
                  <a:srgbClr val="CCD6E0"/>
                </a:solidFill>
              </a:rPr>
              <a:t>Small custom
prompt set</a:t>
            </a:r>
          </a:p>
        </p:txBody>
      </p:sp>
      <p:sp>
        <p:nvSpPr>
          <p:cNvPr id="29" name="TextBox 28"/>
          <p:cNvSpPr txBox="1"/>
          <p:nvPr/>
        </p:nvSpPr>
        <p:spPr>
          <a:xfrm>
            <a:off x="5577840" y="4434840"/>
            <a:ext cx="2560320" cy="749808"/>
          </a:xfrm>
          <a:prstGeom prst="rect">
            <a:avLst/>
          </a:prstGeom>
          <a:noFill/>
        </p:spPr>
        <p:txBody>
          <a:bodyPr wrap="square">
            <a:spAutoFit/>
          </a:bodyPr>
          <a:lstStyle/>
          <a:p>
            <a:pPr algn="l"/>
            <a:r>
              <a:rPr sz="1200" b="0" i="0">
                <a:solidFill>
                  <a:srgbClr val="CCD6E0"/>
                </a:solidFill>
              </a:rPr>
              <a:t>Flickr30k
benchmark</a:t>
            </a:r>
          </a:p>
        </p:txBody>
      </p:sp>
      <p:sp>
        <p:nvSpPr>
          <p:cNvPr id="30" name="TextBox 29"/>
          <p:cNvSpPr txBox="1"/>
          <p:nvPr/>
        </p:nvSpPr>
        <p:spPr>
          <a:xfrm>
            <a:off x="8412480" y="4434840"/>
            <a:ext cx="2560320" cy="749808"/>
          </a:xfrm>
          <a:prstGeom prst="rect">
            <a:avLst/>
          </a:prstGeom>
          <a:noFill/>
        </p:spPr>
        <p:txBody>
          <a:bodyPr wrap="square">
            <a:spAutoFit/>
          </a:bodyPr>
          <a:lstStyle/>
          <a:p>
            <a:pPr algn="l"/>
            <a:r>
              <a:rPr sz="1200" b="0" i="0">
                <a:solidFill>
                  <a:srgbClr val="CCD6E0"/>
                </a:solidFill>
              </a:rPr>
              <a:t>Grounds scores
empirically</a:t>
            </a:r>
          </a:p>
        </p:txBody>
      </p:sp>
      <p:sp>
        <p:nvSpPr>
          <p:cNvPr id="31" name="Rectangle 30"/>
          <p:cNvSpPr/>
          <p:nvPr/>
        </p:nvSpPr>
        <p:spPr>
          <a:xfrm>
            <a:off x="320040" y="5266944"/>
            <a:ext cx="11521440" cy="841248"/>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5312664"/>
            <a:ext cx="2560320" cy="749808"/>
          </a:xfrm>
          <a:prstGeom prst="rect">
            <a:avLst/>
          </a:prstGeom>
          <a:noFill/>
        </p:spPr>
        <p:txBody>
          <a:bodyPr wrap="square">
            <a:spAutoFit/>
          </a:bodyPr>
          <a:lstStyle/>
          <a:p>
            <a:pPr algn="l"/>
            <a:r>
              <a:rPr sz="1200" b="0" i="0">
                <a:solidFill>
                  <a:srgbClr val="CCD6E0"/>
                </a:solidFill>
              </a:rPr>
              <a:t>Interface</a:t>
            </a:r>
          </a:p>
        </p:txBody>
      </p:sp>
      <p:sp>
        <p:nvSpPr>
          <p:cNvPr id="33" name="TextBox 32"/>
          <p:cNvSpPr txBox="1"/>
          <p:nvPr/>
        </p:nvSpPr>
        <p:spPr>
          <a:xfrm>
            <a:off x="2926080" y="5312664"/>
            <a:ext cx="2560320" cy="749808"/>
          </a:xfrm>
          <a:prstGeom prst="rect">
            <a:avLst/>
          </a:prstGeom>
          <a:noFill/>
        </p:spPr>
        <p:txBody>
          <a:bodyPr wrap="square">
            <a:spAutoFit/>
          </a:bodyPr>
          <a:lstStyle/>
          <a:p>
            <a:pPr algn="l"/>
            <a:r>
              <a:rPr sz="1200" b="0" i="0">
                <a:solidFill>
                  <a:srgbClr val="CCD6E0"/>
                </a:solidFill>
              </a:rPr>
              <a:t>Not defined</a:t>
            </a:r>
          </a:p>
        </p:txBody>
      </p:sp>
      <p:sp>
        <p:nvSpPr>
          <p:cNvPr id="34" name="TextBox 33"/>
          <p:cNvSpPr txBox="1"/>
          <p:nvPr/>
        </p:nvSpPr>
        <p:spPr>
          <a:xfrm>
            <a:off x="5577840" y="5312664"/>
            <a:ext cx="2560320" cy="749808"/>
          </a:xfrm>
          <a:prstGeom prst="rect">
            <a:avLst/>
          </a:prstGeom>
          <a:noFill/>
        </p:spPr>
        <p:txBody>
          <a:bodyPr wrap="square">
            <a:spAutoFit/>
          </a:bodyPr>
          <a:lstStyle/>
          <a:p>
            <a:pPr algn="l"/>
            <a:r>
              <a:rPr sz="1200" b="0" i="0">
                <a:solidFill>
                  <a:srgbClr val="CCD6E0"/>
                </a:solidFill>
              </a:rPr>
              <a:t>Gradio app</a:t>
            </a:r>
          </a:p>
        </p:txBody>
      </p:sp>
      <p:sp>
        <p:nvSpPr>
          <p:cNvPr id="35" name="TextBox 34"/>
          <p:cNvSpPr txBox="1"/>
          <p:nvPr/>
        </p:nvSpPr>
        <p:spPr>
          <a:xfrm>
            <a:off x="8412480" y="5312664"/>
            <a:ext cx="2560320" cy="749808"/>
          </a:xfrm>
          <a:prstGeom prst="rect">
            <a:avLst/>
          </a:prstGeom>
          <a:noFill/>
        </p:spPr>
        <p:txBody>
          <a:bodyPr wrap="square">
            <a:spAutoFit/>
          </a:bodyPr>
          <a:lstStyle/>
          <a:p>
            <a:pPr algn="l"/>
            <a:r>
              <a:rPr sz="1200" b="0" i="0">
                <a:solidFill>
                  <a:srgbClr val="CCD6E0"/>
                </a:solidFill>
              </a:rPr>
              <a:t>Testing, demo
&amp; visualization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TECHNICAL DESIGN</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System Pipeline</a:t>
            </a:r>
          </a:p>
        </p:txBody>
      </p:sp>
      <p:sp>
        <p:nvSpPr>
          <p:cNvPr id="5" name="Rectangle 4"/>
          <p:cNvSpPr/>
          <p:nvPr/>
        </p:nvSpPr>
        <p:spPr>
          <a:xfrm>
            <a:off x="0" y="1143000"/>
            <a:ext cx="5029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417320"/>
            <a:ext cx="1783080" cy="82296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59" y="1508760"/>
            <a:ext cx="1691639" cy="685800"/>
          </a:xfrm>
          <a:prstGeom prst="rect">
            <a:avLst/>
          </a:prstGeom>
          <a:noFill/>
        </p:spPr>
        <p:txBody>
          <a:bodyPr wrap="square">
            <a:spAutoFit/>
          </a:bodyPr>
          <a:lstStyle/>
          <a:p>
            <a:pPr algn="ctr"/>
            <a:r>
              <a:rPr sz="1200" b="1" i="0">
                <a:solidFill>
                  <a:srgbClr val="0D1B2A"/>
                </a:solidFill>
              </a:rPr>
              <a:t>Prompt</a:t>
            </a:r>
          </a:p>
        </p:txBody>
      </p:sp>
      <p:sp>
        <p:nvSpPr>
          <p:cNvPr id="8" name="TextBox 7"/>
          <p:cNvSpPr txBox="1"/>
          <p:nvPr/>
        </p:nvSpPr>
        <p:spPr>
          <a:xfrm>
            <a:off x="2103120" y="1673352"/>
            <a:ext cx="201168" cy="320040"/>
          </a:xfrm>
          <a:prstGeom prst="rect">
            <a:avLst/>
          </a:prstGeom>
          <a:noFill/>
        </p:spPr>
        <p:txBody>
          <a:bodyPr wrap="square">
            <a:spAutoFit/>
          </a:bodyPr>
          <a:lstStyle/>
          <a:p>
            <a:pPr algn="ctr"/>
            <a:r>
              <a:rPr sz="1600" b="1" i="0">
                <a:solidFill>
                  <a:srgbClr val="FA4D00"/>
                </a:solidFill>
              </a:rPr>
              <a:t>→</a:t>
            </a:r>
          </a:p>
        </p:txBody>
      </p:sp>
      <p:sp>
        <p:nvSpPr>
          <p:cNvPr id="9" name="Rectangle 8"/>
          <p:cNvSpPr/>
          <p:nvPr/>
        </p:nvSpPr>
        <p:spPr>
          <a:xfrm>
            <a:off x="2304288" y="1417320"/>
            <a:ext cx="178308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50008" y="1508760"/>
            <a:ext cx="1691639" cy="685800"/>
          </a:xfrm>
          <a:prstGeom prst="rect">
            <a:avLst/>
          </a:prstGeom>
          <a:noFill/>
        </p:spPr>
        <p:txBody>
          <a:bodyPr wrap="square">
            <a:spAutoFit/>
          </a:bodyPr>
          <a:lstStyle/>
          <a:p>
            <a:pPr algn="ctr"/>
            <a:r>
              <a:rPr sz="1200" b="1" i="0">
                <a:solidFill>
                  <a:srgbClr val="FFFFFF"/>
                </a:solidFill>
              </a:rPr>
              <a:t>Image
Generation</a:t>
            </a:r>
          </a:p>
        </p:txBody>
      </p:sp>
      <p:sp>
        <p:nvSpPr>
          <p:cNvPr id="11" name="TextBox 10"/>
          <p:cNvSpPr txBox="1"/>
          <p:nvPr/>
        </p:nvSpPr>
        <p:spPr>
          <a:xfrm>
            <a:off x="4087368" y="1673352"/>
            <a:ext cx="201168" cy="320040"/>
          </a:xfrm>
          <a:prstGeom prst="rect">
            <a:avLst/>
          </a:prstGeom>
          <a:noFill/>
        </p:spPr>
        <p:txBody>
          <a:bodyPr wrap="square">
            <a:spAutoFit/>
          </a:bodyPr>
          <a:lstStyle/>
          <a:p>
            <a:pPr algn="ctr"/>
            <a:r>
              <a:rPr sz="1600" b="1" i="0">
                <a:solidFill>
                  <a:srgbClr val="FA4D00"/>
                </a:solidFill>
              </a:rPr>
              <a:t>→</a:t>
            </a:r>
          </a:p>
        </p:txBody>
      </p:sp>
      <p:sp>
        <p:nvSpPr>
          <p:cNvPr id="12" name="Rectangle 11"/>
          <p:cNvSpPr/>
          <p:nvPr/>
        </p:nvSpPr>
        <p:spPr>
          <a:xfrm>
            <a:off x="4288536" y="1417320"/>
            <a:ext cx="178308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34255" y="1508760"/>
            <a:ext cx="1691639" cy="685800"/>
          </a:xfrm>
          <a:prstGeom prst="rect">
            <a:avLst/>
          </a:prstGeom>
          <a:noFill/>
        </p:spPr>
        <p:txBody>
          <a:bodyPr wrap="square">
            <a:spAutoFit/>
          </a:bodyPr>
          <a:lstStyle/>
          <a:p>
            <a:pPr algn="ctr"/>
            <a:r>
              <a:rPr sz="1200" b="1" i="0">
                <a:solidFill>
                  <a:srgbClr val="FFFFFF"/>
                </a:solidFill>
              </a:rPr>
              <a:t>Prompt
Parsing</a:t>
            </a:r>
          </a:p>
        </p:txBody>
      </p:sp>
      <p:sp>
        <p:nvSpPr>
          <p:cNvPr id="14" name="TextBox 13"/>
          <p:cNvSpPr txBox="1"/>
          <p:nvPr/>
        </p:nvSpPr>
        <p:spPr>
          <a:xfrm>
            <a:off x="6071616" y="1673352"/>
            <a:ext cx="201168" cy="320040"/>
          </a:xfrm>
          <a:prstGeom prst="rect">
            <a:avLst/>
          </a:prstGeom>
          <a:noFill/>
        </p:spPr>
        <p:txBody>
          <a:bodyPr wrap="square">
            <a:spAutoFit/>
          </a:bodyPr>
          <a:lstStyle/>
          <a:p>
            <a:pPr algn="ctr"/>
            <a:r>
              <a:rPr sz="1600" b="1" i="0">
                <a:solidFill>
                  <a:srgbClr val="FA4D00"/>
                </a:solidFill>
              </a:rPr>
              <a:t>→</a:t>
            </a:r>
          </a:p>
        </p:txBody>
      </p:sp>
      <p:sp>
        <p:nvSpPr>
          <p:cNvPr id="15" name="Rectangle 14"/>
          <p:cNvSpPr/>
          <p:nvPr/>
        </p:nvSpPr>
        <p:spPr>
          <a:xfrm>
            <a:off x="6272783" y="1417320"/>
            <a:ext cx="178308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3" y="1508760"/>
            <a:ext cx="1691639" cy="685800"/>
          </a:xfrm>
          <a:prstGeom prst="rect">
            <a:avLst/>
          </a:prstGeom>
          <a:noFill/>
        </p:spPr>
        <p:txBody>
          <a:bodyPr wrap="square">
            <a:spAutoFit/>
          </a:bodyPr>
          <a:lstStyle/>
          <a:p>
            <a:pPr algn="ctr"/>
            <a:r>
              <a:rPr sz="1200" b="1" i="0">
                <a:solidFill>
                  <a:srgbClr val="FFFFFF"/>
                </a:solidFill>
              </a:rPr>
              <a:t>Structured
Checks</a:t>
            </a:r>
          </a:p>
        </p:txBody>
      </p:sp>
      <p:sp>
        <p:nvSpPr>
          <p:cNvPr id="17" name="TextBox 16"/>
          <p:cNvSpPr txBox="1"/>
          <p:nvPr/>
        </p:nvSpPr>
        <p:spPr>
          <a:xfrm>
            <a:off x="8055863" y="1673352"/>
            <a:ext cx="201168" cy="320040"/>
          </a:xfrm>
          <a:prstGeom prst="rect">
            <a:avLst/>
          </a:prstGeom>
          <a:noFill/>
        </p:spPr>
        <p:txBody>
          <a:bodyPr wrap="square">
            <a:spAutoFit/>
          </a:bodyPr>
          <a:lstStyle/>
          <a:p>
            <a:pPr algn="ctr"/>
            <a:r>
              <a:rPr sz="1600" b="1" i="0">
                <a:solidFill>
                  <a:srgbClr val="FA4D00"/>
                </a:solidFill>
              </a:rPr>
              <a:t>→</a:t>
            </a:r>
          </a:p>
        </p:txBody>
      </p:sp>
      <p:sp>
        <p:nvSpPr>
          <p:cNvPr id="18" name="Rectangle 17"/>
          <p:cNvSpPr/>
          <p:nvPr/>
        </p:nvSpPr>
        <p:spPr>
          <a:xfrm>
            <a:off x="8257031" y="1417320"/>
            <a:ext cx="178308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02752" y="1508760"/>
            <a:ext cx="1691639" cy="685800"/>
          </a:xfrm>
          <a:prstGeom prst="rect">
            <a:avLst/>
          </a:prstGeom>
          <a:noFill/>
        </p:spPr>
        <p:txBody>
          <a:bodyPr wrap="square">
            <a:spAutoFit/>
          </a:bodyPr>
          <a:lstStyle/>
          <a:p>
            <a:pPr algn="ctr"/>
            <a:r>
              <a:rPr sz="1200" b="1" i="0">
                <a:solidFill>
                  <a:srgbClr val="FFFFFF"/>
                </a:solidFill>
              </a:rPr>
              <a:t>BLIP-VQA
Verification</a:t>
            </a:r>
          </a:p>
        </p:txBody>
      </p:sp>
      <p:sp>
        <p:nvSpPr>
          <p:cNvPr id="20" name="TextBox 19"/>
          <p:cNvSpPr txBox="1"/>
          <p:nvPr/>
        </p:nvSpPr>
        <p:spPr>
          <a:xfrm>
            <a:off x="10040111" y="1673352"/>
            <a:ext cx="201168" cy="320040"/>
          </a:xfrm>
          <a:prstGeom prst="rect">
            <a:avLst/>
          </a:prstGeom>
          <a:noFill/>
        </p:spPr>
        <p:txBody>
          <a:bodyPr wrap="square">
            <a:spAutoFit/>
          </a:bodyPr>
          <a:lstStyle/>
          <a:p>
            <a:pPr algn="ctr"/>
            <a:r>
              <a:rPr sz="1600" b="1" i="0">
                <a:solidFill>
                  <a:srgbClr val="FA4D00"/>
                </a:solidFill>
              </a:rPr>
              <a:t>→</a:t>
            </a:r>
          </a:p>
        </p:txBody>
      </p:sp>
      <p:sp>
        <p:nvSpPr>
          <p:cNvPr id="21" name="Rectangle 20"/>
          <p:cNvSpPr/>
          <p:nvPr/>
        </p:nvSpPr>
        <p:spPr>
          <a:xfrm>
            <a:off x="10241280" y="1417320"/>
            <a:ext cx="1783080" cy="82296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87000" y="1508760"/>
            <a:ext cx="1691639" cy="685800"/>
          </a:xfrm>
          <a:prstGeom prst="rect">
            <a:avLst/>
          </a:prstGeom>
          <a:noFill/>
        </p:spPr>
        <p:txBody>
          <a:bodyPr wrap="square">
            <a:spAutoFit/>
          </a:bodyPr>
          <a:lstStyle/>
          <a:p>
            <a:pPr algn="ctr"/>
            <a:r>
              <a:rPr sz="1200" b="1" i="0">
                <a:solidFill>
                  <a:srgbClr val="FFFFFF"/>
                </a:solidFill>
              </a:rPr>
              <a:t>Faithfulness
Score</a:t>
            </a:r>
          </a:p>
        </p:txBody>
      </p:sp>
      <p:sp>
        <p:nvSpPr>
          <p:cNvPr id="23" name="Rectangle 22"/>
          <p:cNvSpPr/>
          <p:nvPr/>
        </p:nvSpPr>
        <p:spPr>
          <a:xfrm>
            <a:off x="320040" y="2514600"/>
            <a:ext cx="2816352" cy="19202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2514600"/>
            <a:ext cx="54864" cy="19202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2606040"/>
            <a:ext cx="2587752" cy="320040"/>
          </a:xfrm>
          <a:prstGeom prst="rect">
            <a:avLst/>
          </a:prstGeom>
          <a:noFill/>
        </p:spPr>
        <p:txBody>
          <a:bodyPr wrap="square">
            <a:spAutoFit/>
          </a:bodyPr>
          <a:lstStyle/>
          <a:p>
            <a:pPr algn="l"/>
            <a:r>
              <a:rPr sz="1300" b="1" i="0">
                <a:solidFill>
                  <a:srgbClr val="00C2D1"/>
                </a:solidFill>
              </a:rPr>
              <a:t>Image Generation</a:t>
            </a:r>
          </a:p>
        </p:txBody>
      </p:sp>
      <p:sp>
        <p:nvSpPr>
          <p:cNvPr id="26" name="TextBox 25"/>
          <p:cNvSpPr txBox="1"/>
          <p:nvPr/>
        </p:nvSpPr>
        <p:spPr>
          <a:xfrm>
            <a:off x="502920" y="2898648"/>
            <a:ext cx="2496312" cy="320040"/>
          </a:xfrm>
          <a:prstGeom prst="rect">
            <a:avLst/>
          </a:prstGeom>
          <a:noFill/>
        </p:spPr>
        <p:txBody>
          <a:bodyPr wrap="square">
            <a:spAutoFit/>
          </a:bodyPr>
          <a:lstStyle/>
          <a:p>
            <a:pPr algn="l"/>
            <a:r>
              <a:rPr sz="1200" b="0" i="0">
                <a:solidFill>
                  <a:srgbClr val="CCD6E0"/>
                </a:solidFill>
              </a:rPr>
              <a:t>Stable Diffusion v1.5</a:t>
            </a:r>
          </a:p>
        </p:txBody>
      </p:sp>
      <p:sp>
        <p:nvSpPr>
          <p:cNvPr id="27" name="TextBox 26"/>
          <p:cNvSpPr txBox="1"/>
          <p:nvPr/>
        </p:nvSpPr>
        <p:spPr>
          <a:xfrm>
            <a:off x="502920" y="3191256"/>
            <a:ext cx="2496312" cy="320040"/>
          </a:xfrm>
          <a:prstGeom prst="rect">
            <a:avLst/>
          </a:prstGeom>
          <a:noFill/>
        </p:spPr>
        <p:txBody>
          <a:bodyPr wrap="square">
            <a:spAutoFit/>
          </a:bodyPr>
          <a:lstStyle/>
          <a:p>
            <a:pPr algn="l"/>
            <a:r>
              <a:rPr sz="1200" b="0" i="0">
                <a:solidFill>
                  <a:srgbClr val="CCD6E0"/>
                </a:solidFill>
              </a:rPr>
              <a:t>512×512  ·  20–30 steps
Guidance scale 7.5</a:t>
            </a:r>
          </a:p>
        </p:txBody>
      </p:sp>
      <p:sp>
        <p:nvSpPr>
          <p:cNvPr id="28" name="Rectangle 27"/>
          <p:cNvSpPr/>
          <p:nvPr/>
        </p:nvSpPr>
        <p:spPr>
          <a:xfrm>
            <a:off x="3264408" y="2514600"/>
            <a:ext cx="2816352" cy="19202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64408" y="2514600"/>
            <a:ext cx="54864" cy="19202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01568" y="2606040"/>
            <a:ext cx="2587752" cy="320040"/>
          </a:xfrm>
          <a:prstGeom prst="rect">
            <a:avLst/>
          </a:prstGeom>
          <a:noFill/>
        </p:spPr>
        <p:txBody>
          <a:bodyPr wrap="square">
            <a:spAutoFit/>
          </a:bodyPr>
          <a:lstStyle/>
          <a:p>
            <a:pPr algn="l"/>
            <a:r>
              <a:rPr sz="1300" b="1" i="0">
                <a:solidFill>
                  <a:srgbClr val="00C2D1"/>
                </a:solidFill>
              </a:rPr>
              <a:t>Semantic Similarity</a:t>
            </a:r>
          </a:p>
        </p:txBody>
      </p:sp>
      <p:sp>
        <p:nvSpPr>
          <p:cNvPr id="31" name="TextBox 30"/>
          <p:cNvSpPr txBox="1"/>
          <p:nvPr/>
        </p:nvSpPr>
        <p:spPr>
          <a:xfrm>
            <a:off x="3447288" y="2898648"/>
            <a:ext cx="2496312" cy="320040"/>
          </a:xfrm>
          <a:prstGeom prst="rect">
            <a:avLst/>
          </a:prstGeom>
          <a:noFill/>
        </p:spPr>
        <p:txBody>
          <a:bodyPr wrap="square">
            <a:spAutoFit/>
          </a:bodyPr>
          <a:lstStyle/>
          <a:p>
            <a:pPr algn="l"/>
            <a:r>
              <a:rPr sz="1200" b="0" i="0">
                <a:solidFill>
                  <a:srgbClr val="CCD6E0"/>
                </a:solidFill>
              </a:rPr>
              <a:t>CLIP</a:t>
            </a:r>
          </a:p>
        </p:txBody>
      </p:sp>
      <p:sp>
        <p:nvSpPr>
          <p:cNvPr id="32" name="TextBox 31"/>
          <p:cNvSpPr txBox="1"/>
          <p:nvPr/>
        </p:nvSpPr>
        <p:spPr>
          <a:xfrm>
            <a:off x="3447288" y="3191256"/>
            <a:ext cx="2496312" cy="320040"/>
          </a:xfrm>
          <a:prstGeom prst="rect">
            <a:avLst/>
          </a:prstGeom>
          <a:noFill/>
        </p:spPr>
        <p:txBody>
          <a:bodyPr wrap="square">
            <a:spAutoFit/>
          </a:bodyPr>
          <a:lstStyle/>
          <a:p>
            <a:pPr algn="l"/>
            <a:r>
              <a:rPr sz="1200" b="0" i="0">
                <a:solidFill>
                  <a:srgbClr val="CCD6E0"/>
                </a:solidFill>
              </a:rPr>
              <a:t>Prompt–image cosine
similarity score</a:t>
            </a:r>
          </a:p>
        </p:txBody>
      </p:sp>
      <p:sp>
        <p:nvSpPr>
          <p:cNvPr id="33" name="Rectangle 32"/>
          <p:cNvSpPr/>
          <p:nvPr/>
        </p:nvSpPr>
        <p:spPr>
          <a:xfrm>
            <a:off x="6208776" y="2514600"/>
            <a:ext cx="2816352" cy="19202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08776" y="2514600"/>
            <a:ext cx="54864" cy="19202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45936" y="2606040"/>
            <a:ext cx="2587752" cy="320040"/>
          </a:xfrm>
          <a:prstGeom prst="rect">
            <a:avLst/>
          </a:prstGeom>
          <a:noFill/>
        </p:spPr>
        <p:txBody>
          <a:bodyPr wrap="square">
            <a:spAutoFit/>
          </a:bodyPr>
          <a:lstStyle/>
          <a:p>
            <a:pPr algn="l"/>
            <a:r>
              <a:rPr sz="1300" b="1" i="0">
                <a:solidFill>
                  <a:srgbClr val="00C2D1"/>
                </a:solidFill>
              </a:rPr>
              <a:t>Captioning</a:t>
            </a:r>
          </a:p>
        </p:txBody>
      </p:sp>
      <p:sp>
        <p:nvSpPr>
          <p:cNvPr id="36" name="TextBox 35"/>
          <p:cNvSpPr txBox="1"/>
          <p:nvPr/>
        </p:nvSpPr>
        <p:spPr>
          <a:xfrm>
            <a:off x="6391656" y="2898648"/>
            <a:ext cx="2496312" cy="320040"/>
          </a:xfrm>
          <a:prstGeom prst="rect">
            <a:avLst/>
          </a:prstGeom>
          <a:noFill/>
        </p:spPr>
        <p:txBody>
          <a:bodyPr wrap="square">
            <a:spAutoFit/>
          </a:bodyPr>
          <a:lstStyle/>
          <a:p>
            <a:pPr algn="l"/>
            <a:r>
              <a:rPr sz="1200" b="0" i="0">
                <a:solidFill>
                  <a:srgbClr val="CCD6E0"/>
                </a:solidFill>
              </a:rPr>
              <a:t>BLIP</a:t>
            </a:r>
          </a:p>
        </p:txBody>
      </p:sp>
      <p:sp>
        <p:nvSpPr>
          <p:cNvPr id="37" name="TextBox 36"/>
          <p:cNvSpPr txBox="1"/>
          <p:nvPr/>
        </p:nvSpPr>
        <p:spPr>
          <a:xfrm>
            <a:off x="6391656" y="3191256"/>
            <a:ext cx="2496312" cy="320040"/>
          </a:xfrm>
          <a:prstGeom prst="rect">
            <a:avLst/>
          </a:prstGeom>
          <a:noFill/>
        </p:spPr>
        <p:txBody>
          <a:bodyPr wrap="square">
            <a:spAutoFit/>
          </a:bodyPr>
          <a:lstStyle/>
          <a:p>
            <a:pPr algn="l"/>
            <a:r>
              <a:rPr sz="1200" b="0" i="0">
                <a:solidFill>
                  <a:srgbClr val="CCD6E0"/>
                </a:solidFill>
              </a:rPr>
              <a:t>Optional secondary
semantic signal</a:t>
            </a:r>
          </a:p>
        </p:txBody>
      </p:sp>
      <p:sp>
        <p:nvSpPr>
          <p:cNvPr id="38" name="Rectangle 37"/>
          <p:cNvSpPr/>
          <p:nvPr/>
        </p:nvSpPr>
        <p:spPr>
          <a:xfrm>
            <a:off x="9153144" y="2514600"/>
            <a:ext cx="2816352" cy="19202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153144" y="2514600"/>
            <a:ext cx="54864" cy="19202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90304" y="2606040"/>
            <a:ext cx="2587752" cy="320040"/>
          </a:xfrm>
          <a:prstGeom prst="rect">
            <a:avLst/>
          </a:prstGeom>
          <a:noFill/>
        </p:spPr>
        <p:txBody>
          <a:bodyPr wrap="square">
            <a:spAutoFit/>
          </a:bodyPr>
          <a:lstStyle/>
          <a:p>
            <a:pPr algn="l"/>
            <a:r>
              <a:rPr sz="1300" b="1" i="0">
                <a:solidFill>
                  <a:srgbClr val="00C2D1"/>
                </a:solidFill>
              </a:rPr>
              <a:t>VQA Verification</a:t>
            </a:r>
          </a:p>
        </p:txBody>
      </p:sp>
      <p:sp>
        <p:nvSpPr>
          <p:cNvPr id="41" name="TextBox 40"/>
          <p:cNvSpPr txBox="1"/>
          <p:nvPr/>
        </p:nvSpPr>
        <p:spPr>
          <a:xfrm>
            <a:off x="9336024" y="2898648"/>
            <a:ext cx="2496312" cy="320040"/>
          </a:xfrm>
          <a:prstGeom prst="rect">
            <a:avLst/>
          </a:prstGeom>
          <a:noFill/>
        </p:spPr>
        <p:txBody>
          <a:bodyPr wrap="square">
            <a:spAutoFit/>
          </a:bodyPr>
          <a:lstStyle/>
          <a:p>
            <a:pPr algn="l"/>
            <a:r>
              <a:rPr sz="1200" b="0" i="0">
                <a:solidFill>
                  <a:srgbClr val="CCD6E0"/>
                </a:solidFill>
              </a:rPr>
              <a:t>BLIP-VQA</a:t>
            </a:r>
          </a:p>
        </p:txBody>
      </p:sp>
      <p:sp>
        <p:nvSpPr>
          <p:cNvPr id="42" name="TextBox 41"/>
          <p:cNvSpPr txBox="1"/>
          <p:nvPr/>
        </p:nvSpPr>
        <p:spPr>
          <a:xfrm>
            <a:off x="9336024" y="3191256"/>
            <a:ext cx="2496312" cy="320040"/>
          </a:xfrm>
          <a:prstGeom prst="rect">
            <a:avLst/>
          </a:prstGeom>
          <a:noFill/>
        </p:spPr>
        <p:txBody>
          <a:bodyPr wrap="square">
            <a:spAutoFit/>
          </a:bodyPr>
          <a:lstStyle/>
          <a:p>
            <a:pPr algn="l"/>
            <a:r>
              <a:rPr sz="1200" b="0" i="0">
                <a:solidFill>
                  <a:srgbClr val="CCD6E0"/>
                </a:solidFill>
              </a:rPr>
              <a:t>Yes/No claim checks
per object &amp; attribute</a:t>
            </a:r>
          </a:p>
        </p:txBody>
      </p:sp>
      <p:sp>
        <p:nvSpPr>
          <p:cNvPr id="43" name="TextBox 42"/>
          <p:cNvSpPr txBox="1"/>
          <p:nvPr/>
        </p:nvSpPr>
        <p:spPr>
          <a:xfrm>
            <a:off x="320040" y="4663440"/>
            <a:ext cx="3657600" cy="320040"/>
          </a:xfrm>
          <a:prstGeom prst="rect">
            <a:avLst/>
          </a:prstGeom>
          <a:noFill/>
        </p:spPr>
        <p:txBody>
          <a:bodyPr wrap="square">
            <a:spAutoFit/>
          </a:bodyPr>
          <a:lstStyle/>
          <a:p>
            <a:pPr algn="l"/>
            <a:r>
              <a:rPr sz="1300" b="1" i="0">
                <a:solidFill>
                  <a:srgbClr val="00C2D1"/>
                </a:solidFill>
              </a:rPr>
              <a:t>Implementation Stack</a:t>
            </a:r>
          </a:p>
        </p:txBody>
      </p:sp>
      <p:sp>
        <p:nvSpPr>
          <p:cNvPr id="44" name="TextBox 43"/>
          <p:cNvSpPr txBox="1"/>
          <p:nvPr/>
        </p:nvSpPr>
        <p:spPr>
          <a:xfrm>
            <a:off x="320040" y="4983480"/>
            <a:ext cx="11430000" cy="365760"/>
          </a:xfrm>
          <a:prstGeom prst="rect">
            <a:avLst/>
          </a:prstGeom>
          <a:noFill/>
        </p:spPr>
        <p:txBody>
          <a:bodyPr wrap="square">
            <a:spAutoFit/>
          </a:bodyPr>
          <a:lstStyle/>
          <a:p>
            <a:pPr algn="l"/>
            <a:r>
              <a:rPr sz="1200" b="0" i="1">
                <a:solidFill>
                  <a:srgbClr val="CCD6E0"/>
                </a:solidFill>
              </a:rPr>
              <a:t>PyTorch  ·  Diffusers  ·  Transformers  ·  Gradio  ·  HuggingFace Datasets  ·  GPU notebook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IMPLEMENTATION</a:t>
            </a:r>
          </a:p>
        </p:txBody>
      </p:sp>
      <p:sp>
        <p:nvSpPr>
          <p:cNvPr id="4" name="TextBox 3"/>
          <p:cNvSpPr txBox="1"/>
          <p:nvPr/>
        </p:nvSpPr>
        <p:spPr>
          <a:xfrm>
            <a:off x="320040" y="502920"/>
            <a:ext cx="7315200" cy="640080"/>
          </a:xfrm>
          <a:prstGeom prst="rect">
            <a:avLst/>
          </a:prstGeom>
          <a:noFill/>
        </p:spPr>
        <p:txBody>
          <a:bodyPr wrap="square">
            <a:spAutoFit/>
          </a:bodyPr>
          <a:lstStyle/>
          <a:p>
            <a:pPr algn="l"/>
            <a:r>
              <a:rPr sz="3200" b="1" i="0">
                <a:solidFill>
                  <a:srgbClr val="FFFFFF"/>
                </a:solidFill>
              </a:rPr>
              <a:t>What Has Been Built</a:t>
            </a:r>
          </a:p>
        </p:txBody>
      </p:sp>
      <p:sp>
        <p:nvSpPr>
          <p:cNvPr id="5" name="Rectangle 4"/>
          <p:cNvSpPr/>
          <p:nvPr/>
        </p:nvSpPr>
        <p:spPr>
          <a:xfrm>
            <a:off x="0" y="1143000"/>
            <a:ext cx="54864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71600"/>
            <a:ext cx="5486400" cy="640080"/>
          </a:xfrm>
          <a:prstGeom prst="rect">
            <a:avLst/>
          </a:prstGeom>
          <a:noFill/>
        </p:spPr>
        <p:txBody>
          <a:bodyPr wrap="square">
            <a:spAutoFit/>
          </a:bodyPr>
          <a:lstStyle/>
          <a:p>
            <a:pPr algn="l"/>
            <a:r>
              <a:rPr sz="1500" b="0" i="0">
                <a:solidFill>
                  <a:srgbClr val="CCD6E0"/>
                </a:solidFill>
              </a:rPr>
              <a:t>✅  Stable Diffusion text-to-image generation</a:t>
            </a:r>
          </a:p>
        </p:txBody>
      </p:sp>
      <p:sp>
        <p:nvSpPr>
          <p:cNvPr id="7" name="TextBox 6"/>
          <p:cNvSpPr txBox="1"/>
          <p:nvPr/>
        </p:nvSpPr>
        <p:spPr>
          <a:xfrm>
            <a:off x="320040" y="1965960"/>
            <a:ext cx="5486400" cy="640080"/>
          </a:xfrm>
          <a:prstGeom prst="rect">
            <a:avLst/>
          </a:prstGeom>
          <a:noFill/>
        </p:spPr>
        <p:txBody>
          <a:bodyPr wrap="square">
            <a:spAutoFit/>
          </a:bodyPr>
          <a:lstStyle/>
          <a:p>
            <a:pPr algn="l"/>
            <a:r>
              <a:rPr sz="1500" b="0" i="0">
                <a:solidFill>
                  <a:srgbClr val="CCD6E0"/>
                </a:solidFill>
              </a:rPr>
              <a:t>✅  Heuristic prompt parser (objects, colors, attributes)</a:t>
            </a:r>
          </a:p>
        </p:txBody>
      </p:sp>
      <p:sp>
        <p:nvSpPr>
          <p:cNvPr id="8" name="TextBox 7"/>
          <p:cNvSpPr txBox="1"/>
          <p:nvPr/>
        </p:nvSpPr>
        <p:spPr>
          <a:xfrm>
            <a:off x="320040" y="2560320"/>
            <a:ext cx="5486400" cy="640080"/>
          </a:xfrm>
          <a:prstGeom prst="rect">
            <a:avLst/>
          </a:prstGeom>
          <a:noFill/>
        </p:spPr>
        <p:txBody>
          <a:bodyPr wrap="square">
            <a:spAutoFit/>
          </a:bodyPr>
          <a:lstStyle/>
          <a:p>
            <a:pPr algn="l"/>
            <a:r>
              <a:rPr sz="1500" b="0" i="0">
                <a:solidFill>
                  <a:srgbClr val="CCD6E0"/>
                </a:solidFill>
              </a:rPr>
              <a:t>✅  BLIP-VQA claim verification module</a:t>
            </a:r>
          </a:p>
        </p:txBody>
      </p:sp>
      <p:sp>
        <p:nvSpPr>
          <p:cNvPr id="9" name="TextBox 8"/>
          <p:cNvSpPr txBox="1"/>
          <p:nvPr/>
        </p:nvSpPr>
        <p:spPr>
          <a:xfrm>
            <a:off x="320040" y="3154680"/>
            <a:ext cx="5486400" cy="640080"/>
          </a:xfrm>
          <a:prstGeom prst="rect">
            <a:avLst/>
          </a:prstGeom>
          <a:noFill/>
        </p:spPr>
        <p:txBody>
          <a:bodyPr wrap="square">
            <a:spAutoFit/>
          </a:bodyPr>
          <a:lstStyle/>
          <a:p>
            <a:pPr algn="l"/>
            <a:r>
              <a:rPr sz="1500" b="0" i="0">
                <a:solidFill>
                  <a:srgbClr val="CCD6E0"/>
                </a:solidFill>
              </a:rPr>
              <a:t>✅  CLIP prompt–image semantic similarity</a:t>
            </a:r>
          </a:p>
        </p:txBody>
      </p:sp>
      <p:sp>
        <p:nvSpPr>
          <p:cNvPr id="10" name="TextBox 9"/>
          <p:cNvSpPr txBox="1"/>
          <p:nvPr/>
        </p:nvSpPr>
        <p:spPr>
          <a:xfrm>
            <a:off x="320040" y="3749039"/>
            <a:ext cx="5486400" cy="640080"/>
          </a:xfrm>
          <a:prstGeom prst="rect">
            <a:avLst/>
          </a:prstGeom>
          <a:noFill/>
        </p:spPr>
        <p:txBody>
          <a:bodyPr wrap="square">
            <a:spAutoFit/>
          </a:bodyPr>
          <a:lstStyle/>
          <a:p>
            <a:pPr algn="l"/>
            <a:r>
              <a:rPr sz="1500" b="0" i="0">
                <a:solidFill>
                  <a:srgbClr val="CCD6E0"/>
                </a:solidFill>
              </a:rPr>
              <a:t>✅  BLIP captioning + prompt–caption comparison</a:t>
            </a:r>
          </a:p>
        </p:txBody>
      </p:sp>
      <p:sp>
        <p:nvSpPr>
          <p:cNvPr id="11" name="TextBox 10"/>
          <p:cNvSpPr txBox="1"/>
          <p:nvPr/>
        </p:nvSpPr>
        <p:spPr>
          <a:xfrm>
            <a:off x="320040" y="4343400"/>
            <a:ext cx="5486400" cy="640080"/>
          </a:xfrm>
          <a:prstGeom prst="rect">
            <a:avLst/>
          </a:prstGeom>
          <a:noFill/>
        </p:spPr>
        <p:txBody>
          <a:bodyPr wrap="square">
            <a:spAutoFit/>
          </a:bodyPr>
          <a:lstStyle/>
          <a:p>
            <a:pPr algn="l"/>
            <a:r>
              <a:rPr sz="1500" b="0" i="0">
                <a:solidFill>
                  <a:srgbClr val="CCD6E0"/>
                </a:solidFill>
              </a:rPr>
              <a:t>✅  Interactive Gradio evaluation interface</a:t>
            </a:r>
          </a:p>
        </p:txBody>
      </p:sp>
      <p:sp>
        <p:nvSpPr>
          <p:cNvPr id="12" name="TextBox 11"/>
          <p:cNvSpPr txBox="1"/>
          <p:nvPr/>
        </p:nvSpPr>
        <p:spPr>
          <a:xfrm>
            <a:off x="320040" y="4937760"/>
            <a:ext cx="5486400" cy="640080"/>
          </a:xfrm>
          <a:prstGeom prst="rect">
            <a:avLst/>
          </a:prstGeom>
          <a:noFill/>
        </p:spPr>
        <p:txBody>
          <a:bodyPr wrap="square">
            <a:spAutoFit/>
          </a:bodyPr>
          <a:lstStyle/>
          <a:p>
            <a:pPr algn="l"/>
            <a:r>
              <a:rPr sz="1500" b="0" i="0">
                <a:solidFill>
                  <a:srgbClr val="CCD6E0"/>
                </a:solidFill>
              </a:rPr>
              <a:t>✅  Benchmark validation pipeline on Flickr30k</a:t>
            </a:r>
          </a:p>
        </p:txBody>
      </p:sp>
      <p:pic>
        <p:nvPicPr>
          <p:cNvPr id="13" name="Picture 12" descr="single_prompt.png"/>
          <p:cNvPicPr>
            <a:picLocks noChangeAspect="1"/>
          </p:cNvPicPr>
          <p:nvPr/>
        </p:nvPicPr>
        <p:blipFill>
          <a:blip r:embed="rId3"/>
          <a:stretch>
            <a:fillRect/>
          </a:stretch>
        </p:blipFill>
        <p:spPr>
          <a:xfrm>
            <a:off x="6035040" y="1188720"/>
            <a:ext cx="5852160" cy="5303520"/>
          </a:xfrm>
          <a:prstGeom prst="rect">
            <a:avLst/>
          </a:prstGeom>
        </p:spPr>
      </p:pic>
      <p:sp>
        <p:nvSpPr>
          <p:cNvPr id="14" name="TextBox 13"/>
          <p:cNvSpPr txBox="1"/>
          <p:nvPr/>
        </p:nvSpPr>
        <p:spPr>
          <a:xfrm>
            <a:off x="6035040" y="6473952"/>
            <a:ext cx="5852160" cy="347472"/>
          </a:xfrm>
          <a:prstGeom prst="rect">
            <a:avLst/>
          </a:prstGeom>
          <a:noFill/>
        </p:spPr>
        <p:txBody>
          <a:bodyPr wrap="square">
            <a:spAutoFit/>
          </a:bodyPr>
          <a:lstStyle/>
          <a:p>
            <a:pPr algn="ctr"/>
            <a:r>
              <a:rPr sz="1000" b="0" i="1">
                <a:solidFill>
                  <a:srgbClr val="CCD6E0"/>
                </a:solidFill>
              </a:rPr>
              <a:t>Fig 1. Single-prompt evaluation interface — generated image,
metric summary, and per-check VQA pass/fail table.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BENCHMARK PIPELINE</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Benchmark Validation — Flickr30k</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80160"/>
            <a:ext cx="11430000" cy="777240"/>
          </a:xfrm>
          <a:prstGeom prst="rect">
            <a:avLst/>
          </a:prstGeom>
          <a:noFill/>
        </p:spPr>
        <p:txBody>
          <a:bodyPr wrap="square">
            <a:spAutoFit/>
          </a:bodyPr>
          <a:lstStyle/>
          <a:p>
            <a:pPr algn="l"/>
            <a:r>
              <a:rPr sz="1500" b="0" i="0">
                <a:solidFill>
                  <a:srgbClr val="CCD6E0"/>
                </a:solidFill>
              </a:rPr>
              <a:t>For each caption in Flickr30k, the evaluator scores BOTH the real image AND a
Stable Diffusion image generated from the same caption. A valid metric should
consistently score real images higher.</a:t>
            </a:r>
          </a:p>
        </p:txBody>
      </p:sp>
      <p:pic>
        <p:nvPicPr>
          <p:cNvPr id="7" name="Picture 6" descr="benchmark_interface.png"/>
          <p:cNvPicPr>
            <a:picLocks noChangeAspect="1"/>
          </p:cNvPicPr>
          <p:nvPr/>
        </p:nvPicPr>
        <p:blipFill>
          <a:blip r:embed="rId3"/>
          <a:stretch>
            <a:fillRect/>
          </a:stretch>
        </p:blipFill>
        <p:spPr>
          <a:xfrm>
            <a:off x="320040" y="2148840"/>
            <a:ext cx="11521440" cy="4343400"/>
          </a:xfrm>
          <a:prstGeom prst="rect">
            <a:avLst/>
          </a:prstGeom>
        </p:spPr>
      </p:pic>
      <p:sp>
        <p:nvSpPr>
          <p:cNvPr id="8" name="TextBox 7"/>
          <p:cNvSpPr txBox="1"/>
          <p:nvPr/>
        </p:nvSpPr>
        <p:spPr>
          <a:xfrm>
            <a:off x="320040" y="6492240"/>
            <a:ext cx="11521440" cy="320040"/>
          </a:xfrm>
          <a:prstGeom prst="rect">
            <a:avLst/>
          </a:prstGeom>
          <a:noFill/>
        </p:spPr>
        <p:txBody>
          <a:bodyPr wrap="square">
            <a:spAutoFit/>
          </a:bodyPr>
          <a:lstStyle/>
          <a:p>
            <a:pPr algn="ctr"/>
            <a:r>
              <a:rPr sz="1000" b="0" i="1">
                <a:solidFill>
                  <a:srgbClr val="CCD6E0"/>
                </a:solidFill>
              </a:rPr>
              <a:t>Fig 2. Benchmark validation tab — dataset controls, aggregate statistics table, and per-example results.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PRELIMINARY RESULTS</a:t>
            </a:r>
          </a:p>
        </p:txBody>
      </p:sp>
      <p:sp>
        <p:nvSpPr>
          <p:cNvPr id="4" name="TextBox 3"/>
          <p:cNvSpPr txBox="1"/>
          <p:nvPr/>
        </p:nvSpPr>
        <p:spPr>
          <a:xfrm>
            <a:off x="320040" y="502920"/>
            <a:ext cx="10058400" cy="640080"/>
          </a:xfrm>
          <a:prstGeom prst="rect">
            <a:avLst/>
          </a:prstGeom>
          <a:noFill/>
        </p:spPr>
        <p:txBody>
          <a:bodyPr wrap="square">
            <a:spAutoFit/>
          </a:bodyPr>
          <a:lstStyle/>
          <a:p>
            <a:pPr algn="l"/>
            <a:r>
              <a:rPr sz="3200" b="1" i="0">
                <a:solidFill>
                  <a:srgbClr val="FFFFFF"/>
                </a:solidFill>
              </a:rPr>
              <a:t>Benchmark Results on Flickr30k</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325880"/>
            <a:ext cx="64008" cy="155448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417320"/>
            <a:ext cx="3108960" cy="411480"/>
          </a:xfrm>
          <a:prstGeom prst="rect">
            <a:avLst/>
          </a:prstGeom>
          <a:noFill/>
        </p:spPr>
        <p:txBody>
          <a:bodyPr wrap="square">
            <a:spAutoFit/>
          </a:bodyPr>
          <a:lstStyle/>
          <a:p>
            <a:pPr algn="l"/>
            <a:r>
              <a:rPr sz="1300" b="1" i="0">
                <a:solidFill>
                  <a:srgbClr val="00C2D1"/>
                </a:solidFill>
              </a:rPr>
              <a:t>Ground-Truth Images</a:t>
            </a:r>
          </a:p>
        </p:txBody>
      </p:sp>
      <p:sp>
        <p:nvSpPr>
          <p:cNvPr id="9" name="TextBox 8"/>
          <p:cNvSpPr txBox="1"/>
          <p:nvPr/>
        </p:nvSpPr>
        <p:spPr>
          <a:xfrm>
            <a:off x="594360" y="1783080"/>
            <a:ext cx="3108960" cy="822960"/>
          </a:xfrm>
          <a:prstGeom prst="rect">
            <a:avLst/>
          </a:prstGeom>
          <a:noFill/>
        </p:spPr>
        <p:txBody>
          <a:bodyPr wrap="square">
            <a:spAutoFit/>
          </a:bodyPr>
          <a:lstStyle/>
          <a:p>
            <a:pPr algn="ctr"/>
            <a:r>
              <a:rPr sz="3600" b="1" i="0">
                <a:solidFill>
                  <a:srgbClr val="FFFFFF"/>
                </a:solidFill>
              </a:rPr>
              <a:t>0.929</a:t>
            </a:r>
          </a:p>
        </p:txBody>
      </p:sp>
      <p:sp>
        <p:nvSpPr>
          <p:cNvPr id="10" name="Rectangle 9"/>
          <p:cNvSpPr/>
          <p:nvPr/>
        </p:nvSpPr>
        <p:spPr>
          <a:xfrm>
            <a:off x="41148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0" y="1325880"/>
            <a:ext cx="64008" cy="155448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51960" y="1417320"/>
            <a:ext cx="3108960" cy="411480"/>
          </a:xfrm>
          <a:prstGeom prst="rect">
            <a:avLst/>
          </a:prstGeom>
          <a:noFill/>
        </p:spPr>
        <p:txBody>
          <a:bodyPr wrap="square">
            <a:spAutoFit/>
          </a:bodyPr>
          <a:lstStyle/>
          <a:p>
            <a:pPr algn="l"/>
            <a:r>
              <a:rPr sz="1300" b="1" i="0">
                <a:solidFill>
                  <a:srgbClr val="FA4D00"/>
                </a:solidFill>
              </a:rPr>
              <a:t>Generated Images</a:t>
            </a:r>
          </a:p>
        </p:txBody>
      </p:sp>
      <p:sp>
        <p:nvSpPr>
          <p:cNvPr id="13" name="TextBox 12"/>
          <p:cNvSpPr txBox="1"/>
          <p:nvPr/>
        </p:nvSpPr>
        <p:spPr>
          <a:xfrm>
            <a:off x="4251960" y="1783080"/>
            <a:ext cx="3108960" cy="822960"/>
          </a:xfrm>
          <a:prstGeom prst="rect">
            <a:avLst/>
          </a:prstGeom>
          <a:noFill/>
        </p:spPr>
        <p:txBody>
          <a:bodyPr wrap="square">
            <a:spAutoFit/>
          </a:bodyPr>
          <a:lstStyle/>
          <a:p>
            <a:pPr algn="ctr"/>
            <a:r>
              <a:rPr sz="3600" b="1" i="0">
                <a:solidFill>
                  <a:srgbClr val="FFFFFF"/>
                </a:solidFill>
              </a:rPr>
              <a:t>0.866</a:t>
            </a:r>
          </a:p>
        </p:txBody>
      </p:sp>
      <p:sp>
        <p:nvSpPr>
          <p:cNvPr id="14" name="Rectangle 13"/>
          <p:cNvSpPr/>
          <p:nvPr/>
        </p:nvSpPr>
        <p:spPr>
          <a:xfrm>
            <a:off x="7772400" y="1325880"/>
            <a:ext cx="3383280" cy="155448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0" y="1325880"/>
            <a:ext cx="64008"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0" y="1417320"/>
            <a:ext cx="3108960" cy="411480"/>
          </a:xfrm>
          <a:prstGeom prst="rect">
            <a:avLst/>
          </a:prstGeom>
          <a:noFill/>
        </p:spPr>
        <p:txBody>
          <a:bodyPr wrap="square">
            <a:spAutoFit/>
          </a:bodyPr>
          <a:lstStyle/>
          <a:p>
            <a:pPr algn="l"/>
            <a:r>
              <a:rPr sz="1300" b="1" i="0">
                <a:solidFill>
                  <a:srgbClr val="FFFFFF"/>
                </a:solidFill>
              </a:rPr>
              <a:t>Delta (GT − Gen)</a:t>
            </a:r>
          </a:p>
        </p:txBody>
      </p:sp>
      <p:sp>
        <p:nvSpPr>
          <p:cNvPr id="17" name="TextBox 16"/>
          <p:cNvSpPr txBox="1"/>
          <p:nvPr/>
        </p:nvSpPr>
        <p:spPr>
          <a:xfrm>
            <a:off x="7909560" y="1783080"/>
            <a:ext cx="3108960" cy="822960"/>
          </a:xfrm>
          <a:prstGeom prst="rect">
            <a:avLst/>
          </a:prstGeom>
          <a:noFill/>
        </p:spPr>
        <p:txBody>
          <a:bodyPr wrap="square">
            <a:spAutoFit/>
          </a:bodyPr>
          <a:lstStyle/>
          <a:p>
            <a:pPr algn="ctr"/>
            <a:r>
              <a:rPr sz="3600" b="1" i="0">
                <a:solidFill>
                  <a:srgbClr val="FFFFFF"/>
                </a:solidFill>
              </a:rPr>
              <a:t>+0.063</a:t>
            </a:r>
          </a:p>
        </p:txBody>
      </p:sp>
      <p:pic>
        <p:nvPicPr>
          <p:cNvPr id="18" name="Picture 17" descr="benchmark_bar.png"/>
          <p:cNvPicPr>
            <a:picLocks noChangeAspect="1"/>
          </p:cNvPicPr>
          <p:nvPr/>
        </p:nvPicPr>
        <p:blipFill>
          <a:blip r:embed="rId3"/>
          <a:stretch>
            <a:fillRect/>
          </a:stretch>
        </p:blipFill>
        <p:spPr>
          <a:xfrm>
            <a:off x="320040" y="3017520"/>
            <a:ext cx="5394960" cy="3520440"/>
          </a:xfrm>
          <a:prstGeom prst="rect">
            <a:avLst/>
          </a:prstGeom>
        </p:spPr>
      </p:pic>
      <p:sp>
        <p:nvSpPr>
          <p:cNvPr id="19" name="TextBox 18"/>
          <p:cNvSpPr txBox="1"/>
          <p:nvPr/>
        </p:nvSpPr>
        <p:spPr>
          <a:xfrm>
            <a:off x="320040" y="6492240"/>
            <a:ext cx="5394960" cy="320040"/>
          </a:xfrm>
          <a:prstGeom prst="rect">
            <a:avLst/>
          </a:prstGeom>
          <a:noFill/>
        </p:spPr>
        <p:txBody>
          <a:bodyPr wrap="square">
            <a:spAutoFit/>
          </a:bodyPr>
          <a:lstStyle/>
          <a:p>
            <a:pPr algn="l"/>
            <a:r>
              <a:rPr sz="1000" b="0" i="1">
                <a:solidFill>
                  <a:srgbClr val="CCD6E0"/>
                </a:solidFill>
              </a:rPr>
              <a:t>Fig 3. Mean faithfulness scores with std dev error bars.</a:t>
            </a:r>
          </a:p>
        </p:txBody>
      </p:sp>
      <p:pic>
        <p:nvPicPr>
          <p:cNvPr id="20" name="Picture 19" descr="benchmark_scatter.png"/>
          <p:cNvPicPr>
            <a:picLocks noChangeAspect="1"/>
          </p:cNvPicPr>
          <p:nvPr/>
        </p:nvPicPr>
        <p:blipFill>
          <a:blip r:embed="rId4"/>
          <a:stretch>
            <a:fillRect/>
          </a:stretch>
        </p:blipFill>
        <p:spPr>
          <a:xfrm>
            <a:off x="6126479" y="2996044"/>
            <a:ext cx="5746406" cy="3498965"/>
          </a:xfrm>
          <a:prstGeom prst="rect">
            <a:avLst/>
          </a:prstGeom>
        </p:spPr>
      </p:pic>
      <p:sp>
        <p:nvSpPr>
          <p:cNvPr id="21" name="TextBox 20"/>
          <p:cNvSpPr txBox="1"/>
          <p:nvPr/>
        </p:nvSpPr>
        <p:spPr>
          <a:xfrm>
            <a:off x="6126480" y="6492240"/>
            <a:ext cx="5760720" cy="320040"/>
          </a:xfrm>
          <a:prstGeom prst="rect">
            <a:avLst/>
          </a:prstGeom>
          <a:noFill/>
        </p:spPr>
        <p:txBody>
          <a:bodyPr wrap="square">
            <a:spAutoFit/>
          </a:bodyPr>
          <a:lstStyle/>
          <a:p>
            <a:pPr algn="l"/>
            <a:r>
              <a:rPr sz="1000" b="0" i="1">
                <a:solidFill>
                  <a:srgbClr val="CCD6E0"/>
                </a:solidFill>
              </a:rPr>
              <a:t>Fig 4. Per-example GT vs Generated faithfulness. Points below diagonal = real image scored higher.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ANALYSIS</a:t>
            </a:r>
          </a:p>
        </p:txBody>
      </p:sp>
      <p:sp>
        <p:nvSpPr>
          <p:cNvPr id="4" name="TextBox 3"/>
          <p:cNvSpPr txBox="1"/>
          <p:nvPr/>
        </p:nvSpPr>
        <p:spPr>
          <a:xfrm>
            <a:off x="320040" y="502920"/>
            <a:ext cx="9144000" cy="640080"/>
          </a:xfrm>
          <a:prstGeom prst="rect">
            <a:avLst/>
          </a:prstGeom>
          <a:noFill/>
        </p:spPr>
        <p:txBody>
          <a:bodyPr wrap="square">
            <a:spAutoFit/>
          </a:bodyPr>
          <a:lstStyle/>
          <a:p>
            <a:pPr algn="l"/>
            <a:r>
              <a:rPr sz="3200" b="1" i="0">
                <a:solidFill>
                  <a:srgbClr val="FFFFFF"/>
                </a:solidFill>
              </a:rPr>
              <a:t>Interpretation &amp; Limitations</a:t>
            </a:r>
          </a:p>
        </p:txBody>
      </p:sp>
      <p:sp>
        <p:nvSpPr>
          <p:cNvPr id="5" name="Rectangle 4"/>
          <p:cNvSpPr/>
          <p:nvPr/>
        </p:nvSpPr>
        <p:spPr>
          <a:xfrm>
            <a:off x="0" y="1143000"/>
            <a:ext cx="64008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80160"/>
            <a:ext cx="6400800" cy="365760"/>
          </a:xfrm>
          <a:prstGeom prst="rect">
            <a:avLst/>
          </a:prstGeom>
          <a:noFill/>
        </p:spPr>
        <p:txBody>
          <a:bodyPr wrap="square">
            <a:spAutoFit/>
          </a:bodyPr>
          <a:lstStyle/>
          <a:p>
            <a:pPr algn="l"/>
            <a:r>
              <a:rPr sz="1400" b="1" i="0">
                <a:solidFill>
                  <a:srgbClr val="00C2D1"/>
                </a:solidFill>
              </a:rPr>
              <a:t>What the results tell us</a:t>
            </a:r>
          </a:p>
        </p:txBody>
      </p:sp>
      <p:sp>
        <p:nvSpPr>
          <p:cNvPr id="7" name="TextBox 6"/>
          <p:cNvSpPr txBox="1"/>
          <p:nvPr/>
        </p:nvSpPr>
        <p:spPr>
          <a:xfrm>
            <a:off x="320040" y="1691640"/>
            <a:ext cx="6858000" cy="502920"/>
          </a:xfrm>
          <a:prstGeom prst="rect">
            <a:avLst/>
          </a:prstGeom>
          <a:noFill/>
        </p:spPr>
        <p:txBody>
          <a:bodyPr wrap="square">
            <a:spAutoFit/>
          </a:bodyPr>
          <a:lstStyle/>
          <a:p>
            <a:pPr algn="l"/>
            <a:r>
              <a:rPr sz="1500" b="0" i="0">
                <a:solidFill>
                  <a:srgbClr val="CCD6E0"/>
                </a:solidFill>
              </a:rPr>
              <a:t>  ✦  Metric is non-random — GT images score higher on average</a:t>
            </a:r>
          </a:p>
        </p:txBody>
      </p:sp>
      <p:sp>
        <p:nvSpPr>
          <p:cNvPr id="8" name="TextBox 7"/>
          <p:cNvSpPr txBox="1"/>
          <p:nvPr/>
        </p:nvSpPr>
        <p:spPr>
          <a:xfrm>
            <a:off x="320040" y="2148840"/>
            <a:ext cx="6858000" cy="502920"/>
          </a:xfrm>
          <a:prstGeom prst="rect">
            <a:avLst/>
          </a:prstGeom>
          <a:noFill/>
        </p:spPr>
        <p:txBody>
          <a:bodyPr wrap="square">
            <a:spAutoFit/>
          </a:bodyPr>
          <a:lstStyle/>
          <a:p>
            <a:pPr algn="l"/>
            <a:r>
              <a:rPr sz="1500" b="0" i="0">
                <a:solidFill>
                  <a:srgbClr val="CCD6E0"/>
                </a:solidFill>
              </a:rPr>
              <a:t>  ✦  Signal is real but modest — gap of ~0.063 is not yet decisive</a:t>
            </a:r>
          </a:p>
        </p:txBody>
      </p:sp>
      <p:sp>
        <p:nvSpPr>
          <p:cNvPr id="9" name="TextBox 8"/>
          <p:cNvSpPr txBox="1"/>
          <p:nvPr/>
        </p:nvSpPr>
        <p:spPr>
          <a:xfrm>
            <a:off x="320040" y="2606040"/>
            <a:ext cx="6858000" cy="502920"/>
          </a:xfrm>
          <a:prstGeom prst="rect">
            <a:avLst/>
          </a:prstGeom>
          <a:noFill/>
        </p:spPr>
        <p:txBody>
          <a:bodyPr wrap="square">
            <a:spAutoFit/>
          </a:bodyPr>
          <a:lstStyle/>
          <a:p>
            <a:pPr algn="l"/>
            <a:r>
              <a:rPr sz="1500" b="0" i="0">
                <a:solidFill>
                  <a:srgbClr val="CCD6E0"/>
                </a:solidFill>
              </a:rPr>
              <a:t>  ✦  Ceiling effect at score = 1.0 suggests checks are too easy</a:t>
            </a:r>
          </a:p>
        </p:txBody>
      </p:sp>
      <p:sp>
        <p:nvSpPr>
          <p:cNvPr id="10" name="Rectangle 9"/>
          <p:cNvSpPr/>
          <p:nvPr/>
        </p:nvSpPr>
        <p:spPr>
          <a:xfrm>
            <a:off x="320040" y="3520440"/>
            <a:ext cx="3749039" cy="22860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3520440"/>
            <a:ext cx="54864" cy="2286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611880"/>
            <a:ext cx="3520439" cy="320040"/>
          </a:xfrm>
          <a:prstGeom prst="rect">
            <a:avLst/>
          </a:prstGeom>
          <a:noFill/>
        </p:spPr>
        <p:txBody>
          <a:bodyPr wrap="square">
            <a:spAutoFit/>
          </a:bodyPr>
          <a:lstStyle/>
          <a:p>
            <a:pPr algn="l"/>
            <a:r>
              <a:rPr sz="1400" b="1" i="0">
                <a:solidFill>
                  <a:srgbClr val="00C2D1"/>
                </a:solidFill>
              </a:rPr>
              <a:t>Prompt Parser</a:t>
            </a:r>
          </a:p>
        </p:txBody>
      </p:sp>
      <p:sp>
        <p:nvSpPr>
          <p:cNvPr id="13" name="TextBox 12"/>
          <p:cNvSpPr txBox="1"/>
          <p:nvPr/>
        </p:nvSpPr>
        <p:spPr>
          <a:xfrm>
            <a:off x="502920" y="3904488"/>
            <a:ext cx="3428999" cy="320040"/>
          </a:xfrm>
          <a:prstGeom prst="rect">
            <a:avLst/>
          </a:prstGeom>
          <a:noFill/>
        </p:spPr>
        <p:txBody>
          <a:bodyPr wrap="square">
            <a:spAutoFit/>
          </a:bodyPr>
          <a:lstStyle/>
          <a:p>
            <a:pPr algn="l"/>
            <a:r>
              <a:rPr sz="1300" b="0" i="0">
                <a:solidFill>
                  <a:srgbClr val="CCD6E0"/>
                </a:solidFill>
              </a:rPr>
              <a:t>Only extracts objects &amp; colors</a:t>
            </a:r>
          </a:p>
        </p:txBody>
      </p:sp>
      <p:sp>
        <p:nvSpPr>
          <p:cNvPr id="14" name="TextBox 13"/>
          <p:cNvSpPr txBox="1"/>
          <p:nvPr/>
        </p:nvSpPr>
        <p:spPr>
          <a:xfrm>
            <a:off x="502920" y="4197096"/>
            <a:ext cx="3428999" cy="320040"/>
          </a:xfrm>
          <a:prstGeom prst="rect">
            <a:avLst/>
          </a:prstGeom>
          <a:noFill/>
        </p:spPr>
        <p:txBody>
          <a:bodyPr wrap="square">
            <a:spAutoFit/>
          </a:bodyPr>
          <a:lstStyle/>
          <a:p>
            <a:pPr algn="l"/>
            <a:r>
              <a:rPr sz="1300" b="0" i="0">
                <a:solidFill>
                  <a:srgbClr val="CCD6E0"/>
                </a:solidFill>
              </a:rPr>
              <a:t>Misses spatial relations,</a:t>
            </a:r>
          </a:p>
        </p:txBody>
      </p:sp>
      <p:sp>
        <p:nvSpPr>
          <p:cNvPr id="15" name="TextBox 14"/>
          <p:cNvSpPr txBox="1"/>
          <p:nvPr/>
        </p:nvSpPr>
        <p:spPr>
          <a:xfrm>
            <a:off x="502920" y="4489704"/>
            <a:ext cx="3428999" cy="320040"/>
          </a:xfrm>
          <a:prstGeom prst="rect">
            <a:avLst/>
          </a:prstGeom>
          <a:noFill/>
        </p:spPr>
        <p:txBody>
          <a:bodyPr wrap="square">
            <a:spAutoFit/>
          </a:bodyPr>
          <a:lstStyle/>
          <a:p>
            <a:pPr algn="l"/>
            <a:r>
              <a:rPr sz="1300" b="0" i="0">
                <a:solidFill>
                  <a:srgbClr val="CCD6E0"/>
                </a:solidFill>
              </a:rPr>
              <a:t>counts, complex scenes</a:t>
            </a:r>
          </a:p>
        </p:txBody>
      </p:sp>
      <p:sp>
        <p:nvSpPr>
          <p:cNvPr id="16" name="Rectangle 15"/>
          <p:cNvSpPr/>
          <p:nvPr/>
        </p:nvSpPr>
        <p:spPr>
          <a:xfrm>
            <a:off x="4233672" y="3520440"/>
            <a:ext cx="3749039" cy="22860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33672" y="3520440"/>
            <a:ext cx="54864" cy="2286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70832" y="3611880"/>
            <a:ext cx="3520439" cy="320040"/>
          </a:xfrm>
          <a:prstGeom prst="rect">
            <a:avLst/>
          </a:prstGeom>
          <a:noFill/>
        </p:spPr>
        <p:txBody>
          <a:bodyPr wrap="square">
            <a:spAutoFit/>
          </a:bodyPr>
          <a:lstStyle/>
          <a:p>
            <a:pPr algn="l"/>
            <a:r>
              <a:rPr sz="1400" b="1" i="0">
                <a:solidFill>
                  <a:srgbClr val="00C2D1"/>
                </a:solidFill>
              </a:rPr>
              <a:t>VQA Reliability</a:t>
            </a:r>
          </a:p>
        </p:txBody>
      </p:sp>
      <p:sp>
        <p:nvSpPr>
          <p:cNvPr id="19" name="TextBox 18"/>
          <p:cNvSpPr txBox="1"/>
          <p:nvPr/>
        </p:nvSpPr>
        <p:spPr>
          <a:xfrm>
            <a:off x="4416552" y="3904488"/>
            <a:ext cx="3428999" cy="320040"/>
          </a:xfrm>
          <a:prstGeom prst="rect">
            <a:avLst/>
          </a:prstGeom>
          <a:noFill/>
        </p:spPr>
        <p:txBody>
          <a:bodyPr wrap="square">
            <a:spAutoFit/>
          </a:bodyPr>
          <a:lstStyle/>
          <a:p>
            <a:pPr algn="l"/>
            <a:r>
              <a:rPr sz="1300" b="0" i="0">
                <a:solidFill>
                  <a:srgbClr val="CCD6E0"/>
                </a:solidFill>
              </a:rPr>
              <a:t>BLIP-VQA errors propagate</a:t>
            </a:r>
          </a:p>
        </p:txBody>
      </p:sp>
      <p:sp>
        <p:nvSpPr>
          <p:cNvPr id="20" name="TextBox 19"/>
          <p:cNvSpPr txBox="1"/>
          <p:nvPr/>
        </p:nvSpPr>
        <p:spPr>
          <a:xfrm>
            <a:off x="4416552" y="4197096"/>
            <a:ext cx="3428999" cy="320040"/>
          </a:xfrm>
          <a:prstGeom prst="rect">
            <a:avLst/>
          </a:prstGeom>
          <a:noFill/>
        </p:spPr>
        <p:txBody>
          <a:bodyPr wrap="square">
            <a:spAutoFit/>
          </a:bodyPr>
          <a:lstStyle/>
          <a:p>
            <a:pPr algn="l"/>
            <a:r>
              <a:rPr sz="1300" b="0" i="0">
                <a:solidFill>
                  <a:srgbClr val="CCD6E0"/>
                </a:solidFill>
              </a:rPr>
              <a:t>into faithfulness scores</a:t>
            </a:r>
          </a:p>
        </p:txBody>
      </p:sp>
      <p:sp>
        <p:nvSpPr>
          <p:cNvPr id="21" name="TextBox 20"/>
          <p:cNvSpPr txBox="1"/>
          <p:nvPr/>
        </p:nvSpPr>
        <p:spPr>
          <a:xfrm>
            <a:off x="4416552" y="4489704"/>
            <a:ext cx="3428999" cy="320040"/>
          </a:xfrm>
          <a:prstGeom prst="rect">
            <a:avLst/>
          </a:prstGeom>
          <a:noFill/>
        </p:spPr>
        <p:txBody>
          <a:bodyPr wrap="square">
            <a:spAutoFit/>
          </a:bodyPr>
          <a:lstStyle/>
          <a:p>
            <a:pPr algn="l"/>
            <a:r>
              <a:rPr sz="1300" b="0" i="0">
                <a:solidFill>
                  <a:srgbClr val="CCD6E0"/>
                </a:solidFill>
              </a:rPr>
              <a:t>Hard to separate from hallucination</a:t>
            </a:r>
          </a:p>
        </p:txBody>
      </p:sp>
      <p:sp>
        <p:nvSpPr>
          <p:cNvPr id="22" name="Rectangle 21"/>
          <p:cNvSpPr/>
          <p:nvPr/>
        </p:nvSpPr>
        <p:spPr>
          <a:xfrm>
            <a:off x="8147304" y="3520440"/>
            <a:ext cx="3749039" cy="22860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47304" y="3520440"/>
            <a:ext cx="54864" cy="2286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84464" y="3611880"/>
            <a:ext cx="3520439" cy="320040"/>
          </a:xfrm>
          <a:prstGeom prst="rect">
            <a:avLst/>
          </a:prstGeom>
          <a:noFill/>
        </p:spPr>
        <p:txBody>
          <a:bodyPr wrap="square">
            <a:spAutoFit/>
          </a:bodyPr>
          <a:lstStyle/>
          <a:p>
            <a:pPr algn="l"/>
            <a:r>
              <a:rPr sz="1400" b="1" i="0">
                <a:solidFill>
                  <a:srgbClr val="00C2D1"/>
                </a:solidFill>
              </a:rPr>
              <a:t>Compute Cost</a:t>
            </a:r>
          </a:p>
        </p:txBody>
      </p:sp>
      <p:sp>
        <p:nvSpPr>
          <p:cNvPr id="25" name="TextBox 24"/>
          <p:cNvSpPr txBox="1"/>
          <p:nvPr/>
        </p:nvSpPr>
        <p:spPr>
          <a:xfrm>
            <a:off x="8330183" y="3904488"/>
            <a:ext cx="3428999" cy="320040"/>
          </a:xfrm>
          <a:prstGeom prst="rect">
            <a:avLst/>
          </a:prstGeom>
          <a:noFill/>
        </p:spPr>
        <p:txBody>
          <a:bodyPr wrap="square">
            <a:spAutoFit/>
          </a:bodyPr>
          <a:lstStyle/>
          <a:p>
            <a:pPr algn="l"/>
            <a:r>
              <a:rPr sz="1300" b="0" i="0">
                <a:solidFill>
                  <a:srgbClr val="CCD6E0"/>
                </a:solidFill>
              </a:rPr>
              <a:t>Repeated generation +</a:t>
            </a:r>
          </a:p>
        </p:txBody>
      </p:sp>
      <p:sp>
        <p:nvSpPr>
          <p:cNvPr id="26" name="TextBox 25"/>
          <p:cNvSpPr txBox="1"/>
          <p:nvPr/>
        </p:nvSpPr>
        <p:spPr>
          <a:xfrm>
            <a:off x="8330183" y="4197096"/>
            <a:ext cx="3428999" cy="320040"/>
          </a:xfrm>
          <a:prstGeom prst="rect">
            <a:avLst/>
          </a:prstGeom>
          <a:noFill/>
        </p:spPr>
        <p:txBody>
          <a:bodyPr wrap="square">
            <a:spAutoFit/>
          </a:bodyPr>
          <a:lstStyle/>
          <a:p>
            <a:pPr algn="l"/>
            <a:r>
              <a:rPr sz="1300" b="0" i="0">
                <a:solidFill>
                  <a:srgbClr val="CCD6E0"/>
                </a:solidFill>
              </a:rPr>
              <a:t>VQA inference is slow</a:t>
            </a:r>
          </a:p>
        </p:txBody>
      </p:sp>
      <p:sp>
        <p:nvSpPr>
          <p:cNvPr id="27" name="TextBox 26"/>
          <p:cNvSpPr txBox="1"/>
          <p:nvPr/>
        </p:nvSpPr>
        <p:spPr>
          <a:xfrm>
            <a:off x="8330183" y="4489704"/>
            <a:ext cx="3428999" cy="320040"/>
          </a:xfrm>
          <a:prstGeom prst="rect">
            <a:avLst/>
          </a:prstGeom>
          <a:noFill/>
        </p:spPr>
        <p:txBody>
          <a:bodyPr wrap="square">
            <a:spAutoFit/>
          </a:bodyPr>
          <a:lstStyle/>
          <a:p>
            <a:pPr algn="l"/>
            <a:r>
              <a:rPr sz="1300" b="0" i="0">
                <a:solidFill>
                  <a:srgbClr val="CCD6E0"/>
                </a:solidFill>
              </a:rPr>
              <a:t>Limits iteration speed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NEXT PHASE</a:t>
            </a:r>
          </a:p>
        </p:txBody>
      </p:sp>
      <p:sp>
        <p:nvSpPr>
          <p:cNvPr id="4" name="TextBox 3"/>
          <p:cNvSpPr txBox="1"/>
          <p:nvPr/>
        </p:nvSpPr>
        <p:spPr>
          <a:xfrm>
            <a:off x="320040" y="502920"/>
            <a:ext cx="10972800" cy="640080"/>
          </a:xfrm>
          <a:prstGeom prst="rect">
            <a:avLst/>
          </a:prstGeom>
          <a:noFill/>
        </p:spPr>
        <p:txBody>
          <a:bodyPr wrap="square">
            <a:spAutoFit/>
          </a:bodyPr>
          <a:lstStyle/>
          <a:p>
            <a:pPr algn="l"/>
            <a:r>
              <a:rPr sz="3200" b="1" i="0">
                <a:solidFill>
                  <a:srgbClr val="FFFFFF"/>
                </a:solidFill>
              </a:rPr>
              <a:t>Self-Consistency as Uncertainty Signal</a:t>
            </a:r>
          </a:p>
        </p:txBody>
      </p:sp>
      <p:sp>
        <p:nvSpPr>
          <p:cNvPr id="5" name="Rectangle 4"/>
          <p:cNvSpPr/>
          <p:nvPr/>
        </p:nvSpPr>
        <p:spPr>
          <a:xfrm>
            <a:off x="0" y="1143000"/>
            <a:ext cx="73152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80160"/>
            <a:ext cx="11430000" cy="548640"/>
          </a:xfrm>
          <a:prstGeom prst="rect">
            <a:avLst/>
          </a:prstGeom>
          <a:noFill/>
        </p:spPr>
        <p:txBody>
          <a:bodyPr wrap="square">
            <a:spAutoFit/>
          </a:bodyPr>
          <a:lstStyle/>
          <a:p>
            <a:pPr algn="l"/>
            <a:r>
              <a:rPr sz="1500" b="0" i="0">
                <a:solidFill>
                  <a:srgbClr val="CCD6E0"/>
                </a:solidFill>
              </a:rPr>
              <a:t>The original multi-image self-consistency idea is the planned next phase, now built on a validated per-image baseline.</a:t>
            </a:r>
          </a:p>
        </p:txBody>
      </p:sp>
      <p:sp>
        <p:nvSpPr>
          <p:cNvPr id="7" name="Rectangle 6"/>
          <p:cNvSpPr/>
          <p:nvPr/>
        </p:nvSpPr>
        <p:spPr>
          <a:xfrm>
            <a:off x="411480" y="1965960"/>
            <a:ext cx="1920240" cy="914400"/>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075688"/>
            <a:ext cx="1828800" cy="731520"/>
          </a:xfrm>
          <a:prstGeom prst="rect">
            <a:avLst/>
          </a:prstGeom>
          <a:noFill/>
        </p:spPr>
        <p:txBody>
          <a:bodyPr wrap="square">
            <a:spAutoFit/>
          </a:bodyPr>
          <a:lstStyle/>
          <a:p>
            <a:pPr algn="ctr"/>
            <a:r>
              <a:rPr sz="1300" b="1" i="0">
                <a:solidFill>
                  <a:srgbClr val="0D1B2A"/>
                </a:solidFill>
              </a:rPr>
              <a:t>Prompt</a:t>
            </a:r>
          </a:p>
        </p:txBody>
      </p:sp>
      <p:sp>
        <p:nvSpPr>
          <p:cNvPr id="9" name="TextBox 8"/>
          <p:cNvSpPr txBox="1"/>
          <p:nvPr/>
        </p:nvSpPr>
        <p:spPr>
          <a:xfrm>
            <a:off x="2331720" y="2240279"/>
            <a:ext cx="256032" cy="365760"/>
          </a:xfrm>
          <a:prstGeom prst="rect">
            <a:avLst/>
          </a:prstGeom>
          <a:noFill/>
        </p:spPr>
        <p:txBody>
          <a:bodyPr wrap="square">
            <a:spAutoFit/>
          </a:bodyPr>
          <a:lstStyle/>
          <a:p>
            <a:pPr algn="ctr"/>
            <a:r>
              <a:rPr sz="1600" b="1" i="0">
                <a:solidFill>
                  <a:srgbClr val="FA4D00"/>
                </a:solidFill>
              </a:rPr>
              <a:t>→</a:t>
            </a:r>
          </a:p>
        </p:txBody>
      </p:sp>
      <p:sp>
        <p:nvSpPr>
          <p:cNvPr id="10" name="Rectangle 9"/>
          <p:cNvSpPr/>
          <p:nvPr/>
        </p:nvSpPr>
        <p:spPr>
          <a:xfrm>
            <a:off x="2587752" y="1965960"/>
            <a:ext cx="192024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33472" y="2075688"/>
            <a:ext cx="1828800" cy="731520"/>
          </a:xfrm>
          <a:prstGeom prst="rect">
            <a:avLst/>
          </a:prstGeom>
          <a:noFill/>
        </p:spPr>
        <p:txBody>
          <a:bodyPr wrap="square">
            <a:spAutoFit/>
          </a:bodyPr>
          <a:lstStyle/>
          <a:p>
            <a:pPr algn="ctr"/>
            <a:r>
              <a:rPr sz="1300" b="1" i="0">
                <a:solidFill>
                  <a:srgbClr val="FFFFFF"/>
                </a:solidFill>
              </a:rPr>
              <a:t>Generate
N images</a:t>
            </a:r>
          </a:p>
        </p:txBody>
      </p:sp>
      <p:sp>
        <p:nvSpPr>
          <p:cNvPr id="12" name="TextBox 11"/>
          <p:cNvSpPr txBox="1"/>
          <p:nvPr/>
        </p:nvSpPr>
        <p:spPr>
          <a:xfrm>
            <a:off x="4507992" y="2240279"/>
            <a:ext cx="256032" cy="365760"/>
          </a:xfrm>
          <a:prstGeom prst="rect">
            <a:avLst/>
          </a:prstGeom>
          <a:noFill/>
        </p:spPr>
        <p:txBody>
          <a:bodyPr wrap="square">
            <a:spAutoFit/>
          </a:bodyPr>
          <a:lstStyle/>
          <a:p>
            <a:pPr algn="ctr"/>
            <a:r>
              <a:rPr sz="1600" b="1" i="0">
                <a:solidFill>
                  <a:srgbClr val="FA4D00"/>
                </a:solidFill>
              </a:rPr>
              <a:t>→</a:t>
            </a:r>
          </a:p>
        </p:txBody>
      </p:sp>
      <p:sp>
        <p:nvSpPr>
          <p:cNvPr id="13" name="Rectangle 12"/>
          <p:cNvSpPr/>
          <p:nvPr/>
        </p:nvSpPr>
        <p:spPr>
          <a:xfrm>
            <a:off x="4764024" y="1965960"/>
            <a:ext cx="192024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9744" y="2075688"/>
            <a:ext cx="1828800" cy="731520"/>
          </a:xfrm>
          <a:prstGeom prst="rect">
            <a:avLst/>
          </a:prstGeom>
          <a:noFill/>
        </p:spPr>
        <p:txBody>
          <a:bodyPr wrap="square">
            <a:spAutoFit/>
          </a:bodyPr>
          <a:lstStyle/>
          <a:p>
            <a:pPr algn="ctr"/>
            <a:r>
              <a:rPr sz="1300" b="1" i="0">
                <a:solidFill>
                  <a:srgbClr val="FFFFFF"/>
                </a:solidFill>
              </a:rPr>
              <a:t>Per-image
Faithfulness</a:t>
            </a:r>
          </a:p>
        </p:txBody>
      </p:sp>
      <p:sp>
        <p:nvSpPr>
          <p:cNvPr id="15" name="TextBox 14"/>
          <p:cNvSpPr txBox="1"/>
          <p:nvPr/>
        </p:nvSpPr>
        <p:spPr>
          <a:xfrm>
            <a:off x="6684264" y="2240279"/>
            <a:ext cx="256032" cy="365760"/>
          </a:xfrm>
          <a:prstGeom prst="rect">
            <a:avLst/>
          </a:prstGeom>
          <a:noFill/>
        </p:spPr>
        <p:txBody>
          <a:bodyPr wrap="square">
            <a:spAutoFit/>
          </a:bodyPr>
          <a:lstStyle/>
          <a:p>
            <a:pPr algn="ctr"/>
            <a:r>
              <a:rPr sz="1600" b="1" i="0">
                <a:solidFill>
                  <a:srgbClr val="FA4D00"/>
                </a:solidFill>
              </a:rPr>
              <a:t>→</a:t>
            </a:r>
          </a:p>
        </p:txBody>
      </p:sp>
      <p:sp>
        <p:nvSpPr>
          <p:cNvPr id="16" name="Rectangle 15"/>
          <p:cNvSpPr/>
          <p:nvPr/>
        </p:nvSpPr>
        <p:spPr>
          <a:xfrm>
            <a:off x="6940296" y="1965960"/>
            <a:ext cx="1920240" cy="91440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86016" y="2075688"/>
            <a:ext cx="1828800" cy="731520"/>
          </a:xfrm>
          <a:prstGeom prst="rect">
            <a:avLst/>
          </a:prstGeom>
          <a:noFill/>
        </p:spPr>
        <p:txBody>
          <a:bodyPr wrap="square">
            <a:spAutoFit/>
          </a:bodyPr>
          <a:lstStyle/>
          <a:p>
            <a:pPr algn="ctr"/>
            <a:r>
              <a:rPr sz="1300" b="1" i="0">
                <a:solidFill>
                  <a:srgbClr val="FFFFFF"/>
                </a:solidFill>
              </a:rPr>
              <a:t>Score
Variance</a:t>
            </a:r>
          </a:p>
        </p:txBody>
      </p:sp>
      <p:sp>
        <p:nvSpPr>
          <p:cNvPr id="18" name="TextBox 17"/>
          <p:cNvSpPr txBox="1"/>
          <p:nvPr/>
        </p:nvSpPr>
        <p:spPr>
          <a:xfrm>
            <a:off x="8860536" y="2240279"/>
            <a:ext cx="256032" cy="365760"/>
          </a:xfrm>
          <a:prstGeom prst="rect">
            <a:avLst/>
          </a:prstGeom>
          <a:noFill/>
        </p:spPr>
        <p:txBody>
          <a:bodyPr wrap="square">
            <a:spAutoFit/>
          </a:bodyPr>
          <a:lstStyle/>
          <a:p>
            <a:pPr algn="ctr"/>
            <a:r>
              <a:rPr sz="1600" b="1" i="0">
                <a:solidFill>
                  <a:srgbClr val="FA4D00"/>
                </a:solidFill>
              </a:rPr>
              <a:t>→</a:t>
            </a:r>
          </a:p>
        </p:txBody>
      </p:sp>
      <p:sp>
        <p:nvSpPr>
          <p:cNvPr id="19" name="Rectangle 18"/>
          <p:cNvSpPr/>
          <p:nvPr/>
        </p:nvSpPr>
        <p:spPr>
          <a:xfrm>
            <a:off x="9116567" y="1965960"/>
            <a:ext cx="1920240" cy="9144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62288" y="2075688"/>
            <a:ext cx="1828800" cy="731520"/>
          </a:xfrm>
          <a:prstGeom prst="rect">
            <a:avLst/>
          </a:prstGeom>
          <a:noFill/>
        </p:spPr>
        <p:txBody>
          <a:bodyPr wrap="square">
            <a:spAutoFit/>
          </a:bodyPr>
          <a:lstStyle/>
          <a:p>
            <a:pPr algn="ctr"/>
            <a:r>
              <a:rPr sz="1300" b="1" i="0">
                <a:solidFill>
                  <a:srgbClr val="FFFFFF"/>
                </a:solidFill>
              </a:rPr>
              <a:t>Uncertainty
Signal</a:t>
            </a:r>
          </a:p>
        </p:txBody>
      </p:sp>
      <p:sp>
        <p:nvSpPr>
          <p:cNvPr id="21" name="TextBox 20"/>
          <p:cNvSpPr txBox="1"/>
          <p:nvPr/>
        </p:nvSpPr>
        <p:spPr>
          <a:xfrm>
            <a:off x="320040" y="3017520"/>
            <a:ext cx="11430000" cy="365760"/>
          </a:xfrm>
          <a:prstGeom prst="rect">
            <a:avLst/>
          </a:prstGeom>
          <a:noFill/>
        </p:spPr>
        <p:txBody>
          <a:bodyPr wrap="square">
            <a:spAutoFit/>
          </a:bodyPr>
          <a:lstStyle/>
          <a:p>
            <a:pPr algn="ctr"/>
            <a:r>
              <a:rPr sz="1300" b="0" i="1">
                <a:solidFill>
                  <a:srgbClr val="00C2D1"/>
                </a:solidFill>
              </a:rPr>
              <a:t>N = 3–5 images per prompt  ·  variance across faithfulness scores  =  uncertainty proxy</a:t>
            </a:r>
          </a:p>
        </p:txBody>
      </p:sp>
      <p:sp>
        <p:nvSpPr>
          <p:cNvPr id="22" name="Rectangle 21"/>
          <p:cNvSpPr/>
          <p:nvPr/>
        </p:nvSpPr>
        <p:spPr>
          <a:xfrm>
            <a:off x="320040" y="3474720"/>
            <a:ext cx="3749039" cy="2377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3474720"/>
            <a:ext cx="54864" cy="23774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566160"/>
            <a:ext cx="3520439" cy="320040"/>
          </a:xfrm>
          <a:prstGeom prst="rect">
            <a:avLst/>
          </a:prstGeom>
          <a:noFill/>
        </p:spPr>
        <p:txBody>
          <a:bodyPr wrap="square">
            <a:spAutoFit/>
          </a:bodyPr>
          <a:lstStyle/>
          <a:p>
            <a:pPr algn="l"/>
            <a:r>
              <a:rPr sz="1300" b="1" i="0">
                <a:solidFill>
                  <a:srgbClr val="00C2D1"/>
                </a:solidFill>
              </a:rPr>
              <a:t>Low Variance · High Mean</a:t>
            </a:r>
          </a:p>
        </p:txBody>
      </p:sp>
      <p:sp>
        <p:nvSpPr>
          <p:cNvPr id="25" name="TextBox 24"/>
          <p:cNvSpPr txBox="1"/>
          <p:nvPr/>
        </p:nvSpPr>
        <p:spPr>
          <a:xfrm>
            <a:off x="502920" y="3858768"/>
            <a:ext cx="3428999" cy="320040"/>
          </a:xfrm>
          <a:prstGeom prst="rect">
            <a:avLst/>
          </a:prstGeom>
          <a:noFill/>
        </p:spPr>
        <p:txBody>
          <a:bodyPr wrap="square">
            <a:spAutoFit/>
          </a:bodyPr>
          <a:lstStyle/>
          <a:p>
            <a:pPr algn="l"/>
            <a:r>
              <a:rPr sz="1200" b="0" i="0">
                <a:solidFill>
                  <a:srgbClr val="CCD6E0"/>
                </a:solidFill>
              </a:rPr>
              <a:t>Model is confident &amp; faithful</a:t>
            </a:r>
          </a:p>
        </p:txBody>
      </p:sp>
      <p:sp>
        <p:nvSpPr>
          <p:cNvPr id="26" name="TextBox 25"/>
          <p:cNvSpPr txBox="1"/>
          <p:nvPr/>
        </p:nvSpPr>
        <p:spPr>
          <a:xfrm>
            <a:off x="502920" y="4151376"/>
            <a:ext cx="3428999" cy="320040"/>
          </a:xfrm>
          <a:prstGeom prst="rect">
            <a:avLst/>
          </a:prstGeom>
          <a:noFill/>
        </p:spPr>
        <p:txBody>
          <a:bodyPr wrap="square">
            <a:spAutoFit/>
          </a:bodyPr>
          <a:lstStyle/>
          <a:p>
            <a:pPr algn="l"/>
            <a:r>
              <a:rPr sz="1200" b="0" i="0">
                <a:solidFill>
                  <a:srgbClr val="CCD6E0"/>
                </a:solidFill>
              </a:rPr>
              <a:t>Consistent, prompt-matching outputs</a:t>
            </a:r>
          </a:p>
        </p:txBody>
      </p:sp>
      <p:sp>
        <p:nvSpPr>
          <p:cNvPr id="27" name="TextBox 26"/>
          <p:cNvSpPr txBox="1"/>
          <p:nvPr/>
        </p:nvSpPr>
        <p:spPr>
          <a:xfrm>
            <a:off x="502920" y="4443983"/>
            <a:ext cx="3428999" cy="320040"/>
          </a:xfrm>
          <a:prstGeom prst="rect">
            <a:avLst/>
          </a:prstGeom>
          <a:noFill/>
        </p:spPr>
        <p:txBody>
          <a:bodyPr wrap="square">
            <a:spAutoFit/>
          </a:bodyPr>
          <a:lstStyle/>
          <a:p>
            <a:pPr algn="l"/>
            <a:r>
              <a:rPr sz="1200" b="0" i="0">
                <a:solidFill>
                  <a:srgbClr val="CCD6E0"/>
                </a:solidFill>
              </a:rPr>
              <a:t>→ LOW hallucination risk</a:t>
            </a:r>
          </a:p>
        </p:txBody>
      </p:sp>
      <p:sp>
        <p:nvSpPr>
          <p:cNvPr id="28" name="Rectangle 27"/>
          <p:cNvSpPr/>
          <p:nvPr/>
        </p:nvSpPr>
        <p:spPr>
          <a:xfrm>
            <a:off x="4233672" y="3474720"/>
            <a:ext cx="3749039" cy="2377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233672" y="3474720"/>
            <a:ext cx="54864" cy="23774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70832" y="3566160"/>
            <a:ext cx="3520439" cy="320040"/>
          </a:xfrm>
          <a:prstGeom prst="rect">
            <a:avLst/>
          </a:prstGeom>
          <a:noFill/>
        </p:spPr>
        <p:txBody>
          <a:bodyPr wrap="square">
            <a:spAutoFit/>
          </a:bodyPr>
          <a:lstStyle/>
          <a:p>
            <a:pPr algn="l"/>
            <a:r>
              <a:rPr sz="1300" b="1" i="0">
                <a:solidFill>
                  <a:srgbClr val="00C2D1"/>
                </a:solidFill>
              </a:rPr>
              <a:t>High Variance</a:t>
            </a:r>
          </a:p>
        </p:txBody>
      </p:sp>
      <p:sp>
        <p:nvSpPr>
          <p:cNvPr id="31" name="TextBox 30"/>
          <p:cNvSpPr txBox="1"/>
          <p:nvPr/>
        </p:nvSpPr>
        <p:spPr>
          <a:xfrm>
            <a:off x="4416552" y="3858768"/>
            <a:ext cx="3428999" cy="320040"/>
          </a:xfrm>
          <a:prstGeom prst="rect">
            <a:avLst/>
          </a:prstGeom>
          <a:noFill/>
        </p:spPr>
        <p:txBody>
          <a:bodyPr wrap="square">
            <a:spAutoFit/>
          </a:bodyPr>
          <a:lstStyle/>
          <a:p>
            <a:pPr algn="l"/>
            <a:r>
              <a:rPr sz="1200" b="0" i="0">
                <a:solidFill>
                  <a:srgbClr val="CCD6E0"/>
                </a:solidFill>
              </a:rPr>
              <a:t>Model is uncertain about the prompt</a:t>
            </a:r>
          </a:p>
        </p:txBody>
      </p:sp>
      <p:sp>
        <p:nvSpPr>
          <p:cNvPr id="32" name="TextBox 31"/>
          <p:cNvSpPr txBox="1"/>
          <p:nvPr/>
        </p:nvSpPr>
        <p:spPr>
          <a:xfrm>
            <a:off x="4416552" y="4151376"/>
            <a:ext cx="3428999" cy="320040"/>
          </a:xfrm>
          <a:prstGeom prst="rect">
            <a:avLst/>
          </a:prstGeom>
          <a:noFill/>
        </p:spPr>
        <p:txBody>
          <a:bodyPr wrap="square">
            <a:spAutoFit/>
          </a:bodyPr>
          <a:lstStyle/>
          <a:p>
            <a:pPr algn="l"/>
            <a:r>
              <a:rPr sz="1200" b="0" i="0">
                <a:solidFill>
                  <a:srgbClr val="CCD6E0"/>
                </a:solidFill>
              </a:rPr>
              <a:t>Outputs are inconsistent</a:t>
            </a:r>
          </a:p>
        </p:txBody>
      </p:sp>
      <p:sp>
        <p:nvSpPr>
          <p:cNvPr id="33" name="TextBox 32"/>
          <p:cNvSpPr txBox="1"/>
          <p:nvPr/>
        </p:nvSpPr>
        <p:spPr>
          <a:xfrm>
            <a:off x="4416552" y="4443983"/>
            <a:ext cx="3428999" cy="320040"/>
          </a:xfrm>
          <a:prstGeom prst="rect">
            <a:avLst/>
          </a:prstGeom>
          <a:noFill/>
        </p:spPr>
        <p:txBody>
          <a:bodyPr wrap="square">
            <a:spAutoFit/>
          </a:bodyPr>
          <a:lstStyle/>
          <a:p>
            <a:pPr algn="l"/>
            <a:r>
              <a:rPr sz="1200" b="0" i="0">
                <a:solidFill>
                  <a:srgbClr val="CCD6E0"/>
                </a:solidFill>
              </a:rPr>
              <a:t>→ HIGH hallucination risk  ⚠</a:t>
            </a:r>
          </a:p>
        </p:txBody>
      </p:sp>
      <p:sp>
        <p:nvSpPr>
          <p:cNvPr id="34" name="Rectangle 33"/>
          <p:cNvSpPr/>
          <p:nvPr/>
        </p:nvSpPr>
        <p:spPr>
          <a:xfrm>
            <a:off x="8147304" y="3474720"/>
            <a:ext cx="3749039" cy="23774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47304" y="3474720"/>
            <a:ext cx="54864" cy="237744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84464" y="3566160"/>
            <a:ext cx="3520439" cy="320040"/>
          </a:xfrm>
          <a:prstGeom prst="rect">
            <a:avLst/>
          </a:prstGeom>
          <a:noFill/>
        </p:spPr>
        <p:txBody>
          <a:bodyPr wrap="square">
            <a:spAutoFit/>
          </a:bodyPr>
          <a:lstStyle/>
          <a:p>
            <a:pPr algn="l"/>
            <a:r>
              <a:rPr sz="1300" b="1" i="0">
                <a:solidFill>
                  <a:srgbClr val="00C2D1"/>
                </a:solidFill>
              </a:rPr>
              <a:t>Low Variance · Low Mean</a:t>
            </a:r>
          </a:p>
        </p:txBody>
      </p:sp>
      <p:sp>
        <p:nvSpPr>
          <p:cNvPr id="37" name="TextBox 36"/>
          <p:cNvSpPr txBox="1"/>
          <p:nvPr/>
        </p:nvSpPr>
        <p:spPr>
          <a:xfrm>
            <a:off x="8330183" y="3858768"/>
            <a:ext cx="3428999" cy="320040"/>
          </a:xfrm>
          <a:prstGeom prst="rect">
            <a:avLst/>
          </a:prstGeom>
          <a:noFill/>
        </p:spPr>
        <p:txBody>
          <a:bodyPr wrap="square">
            <a:spAutoFit/>
          </a:bodyPr>
          <a:lstStyle/>
          <a:p>
            <a:pPr algn="l"/>
            <a:r>
              <a:rPr sz="1200" b="0" i="0">
                <a:solidFill>
                  <a:srgbClr val="CCD6E0"/>
                </a:solidFill>
              </a:rPr>
              <a:t>Model consistently fails checks</a:t>
            </a:r>
          </a:p>
        </p:txBody>
      </p:sp>
      <p:sp>
        <p:nvSpPr>
          <p:cNvPr id="38" name="TextBox 37"/>
          <p:cNvSpPr txBox="1"/>
          <p:nvPr/>
        </p:nvSpPr>
        <p:spPr>
          <a:xfrm>
            <a:off x="8330183" y="4151376"/>
            <a:ext cx="3428999" cy="320040"/>
          </a:xfrm>
          <a:prstGeom prst="rect">
            <a:avLst/>
          </a:prstGeom>
          <a:noFill/>
        </p:spPr>
        <p:txBody>
          <a:bodyPr wrap="square">
            <a:spAutoFit/>
          </a:bodyPr>
          <a:lstStyle/>
          <a:p>
            <a:pPr algn="l"/>
            <a:r>
              <a:rPr sz="1200" b="0" i="0">
                <a:solidFill>
                  <a:srgbClr val="CCD6E0"/>
                </a:solidFill>
              </a:rPr>
              <a:t>Systematic, not stochastic failure</a:t>
            </a:r>
          </a:p>
        </p:txBody>
      </p:sp>
      <p:sp>
        <p:nvSpPr>
          <p:cNvPr id="39" name="TextBox 38"/>
          <p:cNvSpPr txBox="1"/>
          <p:nvPr/>
        </p:nvSpPr>
        <p:spPr>
          <a:xfrm>
            <a:off x="8330183" y="4443983"/>
            <a:ext cx="3428999" cy="320040"/>
          </a:xfrm>
          <a:prstGeom prst="rect">
            <a:avLst/>
          </a:prstGeom>
          <a:noFill/>
        </p:spPr>
        <p:txBody>
          <a:bodyPr wrap="square">
            <a:spAutoFit/>
          </a:bodyPr>
          <a:lstStyle/>
          <a:p>
            <a:pPr algn="l"/>
            <a:r>
              <a:rPr sz="1200" b="0" i="0">
                <a:solidFill>
                  <a:srgbClr val="CCD6E0"/>
                </a:solidFill>
              </a:rPr>
              <a:t>→ DEFINITE hallucination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ROADMAP</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Next Steps &amp; Timeline</a:t>
            </a:r>
          </a:p>
        </p:txBody>
      </p:sp>
      <p:sp>
        <p:nvSpPr>
          <p:cNvPr id="5" name="Rectangle 4"/>
          <p:cNvSpPr/>
          <p:nvPr/>
        </p:nvSpPr>
        <p:spPr>
          <a:xfrm>
            <a:off x="0" y="1143000"/>
            <a:ext cx="54864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25880"/>
            <a:ext cx="1152144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11480" y="1527048"/>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8912" y="1508760"/>
            <a:ext cx="731520" cy="411480"/>
          </a:xfrm>
          <a:prstGeom prst="rect">
            <a:avLst/>
          </a:prstGeom>
          <a:noFill/>
        </p:spPr>
        <p:txBody>
          <a:bodyPr wrap="square">
            <a:spAutoFit/>
          </a:bodyPr>
          <a:lstStyle/>
          <a:p>
            <a:pPr algn="ctr"/>
            <a:r>
              <a:rPr sz="1100" b="1" i="0">
                <a:solidFill>
                  <a:srgbClr val="FFFFFF"/>
                </a:solidFill>
              </a:rPr>
              <a:t>Week 1</a:t>
            </a:r>
          </a:p>
        </p:txBody>
      </p:sp>
      <p:sp>
        <p:nvSpPr>
          <p:cNvPr id="9" name="TextBox 8"/>
          <p:cNvSpPr txBox="1"/>
          <p:nvPr/>
        </p:nvSpPr>
        <p:spPr>
          <a:xfrm>
            <a:off x="1005840" y="1399032"/>
            <a:ext cx="4389120" cy="365760"/>
          </a:xfrm>
          <a:prstGeom prst="rect">
            <a:avLst/>
          </a:prstGeom>
          <a:noFill/>
        </p:spPr>
        <p:txBody>
          <a:bodyPr wrap="square">
            <a:spAutoFit/>
          </a:bodyPr>
          <a:lstStyle/>
          <a:p>
            <a:pPr algn="l"/>
            <a:r>
              <a:rPr sz="1400" b="1" i="0">
                <a:solidFill>
                  <a:srgbClr val="00C2D1"/>
                </a:solidFill>
              </a:rPr>
              <a:t>Larger Flickr30k benchmark runs</a:t>
            </a:r>
          </a:p>
        </p:txBody>
      </p:sp>
      <p:sp>
        <p:nvSpPr>
          <p:cNvPr id="10" name="TextBox 9"/>
          <p:cNvSpPr txBox="1"/>
          <p:nvPr/>
        </p:nvSpPr>
        <p:spPr>
          <a:xfrm>
            <a:off x="1005840" y="1764792"/>
            <a:ext cx="10515600" cy="276999"/>
          </a:xfrm>
          <a:prstGeom prst="rect">
            <a:avLst/>
          </a:prstGeom>
          <a:noFill/>
        </p:spPr>
        <p:txBody>
          <a:bodyPr wrap="square" lIns="91440" tIns="45720" rIns="91440" bIns="45720" anchor="t">
            <a:spAutoFit/>
          </a:bodyPr>
          <a:lstStyle/>
          <a:p>
            <a:pPr algn="l"/>
            <a:r>
              <a:rPr sz="1200" b="0" i="0">
                <a:solidFill>
                  <a:srgbClr val="CCD6E0"/>
                </a:solidFill>
              </a:rPr>
              <a:t>Expand to </a:t>
            </a:r>
            <a:r>
              <a:rPr lang="en-US" sz="1200">
                <a:solidFill>
                  <a:srgbClr val="CCD6E0"/>
                </a:solidFill>
              </a:rPr>
              <a:t>1000</a:t>
            </a:r>
            <a:r>
              <a:rPr sz="1200" b="0" i="0">
                <a:solidFill>
                  <a:srgbClr val="CCD6E0"/>
                </a:solidFill>
              </a:rPr>
              <a:t>+ examples, collect richer statistics</a:t>
            </a:r>
          </a:p>
        </p:txBody>
      </p:sp>
      <p:sp>
        <p:nvSpPr>
          <p:cNvPr id="11" name="Rectangle 10"/>
          <p:cNvSpPr/>
          <p:nvPr/>
        </p:nvSpPr>
        <p:spPr>
          <a:xfrm>
            <a:off x="320040" y="2203704"/>
            <a:ext cx="1152144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11480" y="2404872"/>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2386584"/>
            <a:ext cx="731520" cy="411480"/>
          </a:xfrm>
          <a:prstGeom prst="rect">
            <a:avLst/>
          </a:prstGeom>
          <a:noFill/>
        </p:spPr>
        <p:txBody>
          <a:bodyPr wrap="square">
            <a:spAutoFit/>
          </a:bodyPr>
          <a:lstStyle/>
          <a:p>
            <a:pPr algn="ctr"/>
            <a:r>
              <a:rPr sz="1100" b="1" i="0">
                <a:solidFill>
                  <a:srgbClr val="FFFFFF"/>
                </a:solidFill>
              </a:rPr>
              <a:t>Week 2</a:t>
            </a:r>
          </a:p>
        </p:txBody>
      </p:sp>
      <p:sp>
        <p:nvSpPr>
          <p:cNvPr id="14" name="TextBox 13"/>
          <p:cNvSpPr txBox="1"/>
          <p:nvPr/>
        </p:nvSpPr>
        <p:spPr>
          <a:xfrm>
            <a:off x="1005840" y="2276856"/>
            <a:ext cx="4389120" cy="365760"/>
          </a:xfrm>
          <a:prstGeom prst="rect">
            <a:avLst/>
          </a:prstGeom>
          <a:noFill/>
        </p:spPr>
        <p:txBody>
          <a:bodyPr wrap="square">
            <a:spAutoFit/>
          </a:bodyPr>
          <a:lstStyle/>
          <a:p>
            <a:pPr algn="l"/>
            <a:r>
              <a:rPr sz="1400" b="1" i="0">
                <a:solidFill>
                  <a:srgbClr val="00C2D1"/>
                </a:solidFill>
              </a:rPr>
              <a:t>Score distribution analysis</a:t>
            </a:r>
          </a:p>
        </p:txBody>
      </p:sp>
      <p:sp>
        <p:nvSpPr>
          <p:cNvPr id="15" name="TextBox 14"/>
          <p:cNvSpPr txBox="1"/>
          <p:nvPr/>
        </p:nvSpPr>
        <p:spPr>
          <a:xfrm>
            <a:off x="1005840" y="2642616"/>
            <a:ext cx="10515600" cy="347472"/>
          </a:xfrm>
          <a:prstGeom prst="rect">
            <a:avLst/>
          </a:prstGeom>
          <a:noFill/>
        </p:spPr>
        <p:txBody>
          <a:bodyPr wrap="square">
            <a:spAutoFit/>
          </a:bodyPr>
          <a:lstStyle/>
          <a:p>
            <a:pPr algn="l"/>
            <a:r>
              <a:rPr sz="1200" b="0" i="0">
                <a:solidFill>
                  <a:srgbClr val="CCD6E0"/>
                </a:solidFill>
              </a:rPr>
              <a:t>Additional plots, confidence intervals, failure categorisation</a:t>
            </a:r>
          </a:p>
        </p:txBody>
      </p:sp>
      <p:sp>
        <p:nvSpPr>
          <p:cNvPr id="16" name="Rectangle 15"/>
          <p:cNvSpPr/>
          <p:nvPr/>
        </p:nvSpPr>
        <p:spPr>
          <a:xfrm>
            <a:off x="320040" y="3081528"/>
            <a:ext cx="1152144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11480" y="3282696"/>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3264408"/>
            <a:ext cx="731520" cy="411480"/>
          </a:xfrm>
          <a:prstGeom prst="rect">
            <a:avLst/>
          </a:prstGeom>
          <a:noFill/>
        </p:spPr>
        <p:txBody>
          <a:bodyPr wrap="square">
            <a:spAutoFit/>
          </a:bodyPr>
          <a:lstStyle/>
          <a:p>
            <a:pPr algn="ctr"/>
            <a:r>
              <a:rPr sz="1100" b="1" i="0">
                <a:solidFill>
                  <a:srgbClr val="FFFFFF"/>
                </a:solidFill>
              </a:rPr>
              <a:t>Week 3</a:t>
            </a:r>
          </a:p>
        </p:txBody>
      </p:sp>
      <p:sp>
        <p:nvSpPr>
          <p:cNvPr id="19" name="TextBox 18"/>
          <p:cNvSpPr txBox="1"/>
          <p:nvPr/>
        </p:nvSpPr>
        <p:spPr>
          <a:xfrm>
            <a:off x="1005840" y="3154680"/>
            <a:ext cx="4389120" cy="365760"/>
          </a:xfrm>
          <a:prstGeom prst="rect">
            <a:avLst/>
          </a:prstGeom>
          <a:noFill/>
        </p:spPr>
        <p:txBody>
          <a:bodyPr wrap="square">
            <a:spAutoFit/>
          </a:bodyPr>
          <a:lstStyle/>
          <a:p>
            <a:pPr algn="l"/>
            <a:r>
              <a:rPr sz="1400" b="1" i="0">
                <a:solidFill>
                  <a:srgbClr val="00C2D1"/>
                </a:solidFill>
              </a:rPr>
              <a:t>Improved prompt parsing</a:t>
            </a:r>
          </a:p>
        </p:txBody>
      </p:sp>
      <p:sp>
        <p:nvSpPr>
          <p:cNvPr id="20" name="TextBox 19"/>
          <p:cNvSpPr txBox="1"/>
          <p:nvPr/>
        </p:nvSpPr>
        <p:spPr>
          <a:xfrm>
            <a:off x="1005840" y="3520440"/>
            <a:ext cx="10515600" cy="347472"/>
          </a:xfrm>
          <a:prstGeom prst="rect">
            <a:avLst/>
          </a:prstGeom>
          <a:noFill/>
        </p:spPr>
        <p:txBody>
          <a:bodyPr wrap="square">
            <a:spAutoFit/>
          </a:bodyPr>
          <a:lstStyle/>
          <a:p>
            <a:pPr algn="l"/>
            <a:r>
              <a:rPr sz="1200" b="0" i="0">
                <a:solidFill>
                  <a:srgbClr val="CCD6E0"/>
                </a:solidFill>
              </a:rPr>
              <a:t>Add spatial relation, count, and attribute checks</a:t>
            </a:r>
          </a:p>
        </p:txBody>
      </p:sp>
      <p:sp>
        <p:nvSpPr>
          <p:cNvPr id="21" name="Rectangle 20"/>
          <p:cNvSpPr/>
          <p:nvPr/>
        </p:nvSpPr>
        <p:spPr>
          <a:xfrm>
            <a:off x="320040" y="3959352"/>
            <a:ext cx="1152144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11480" y="4160520"/>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 y="4142232"/>
            <a:ext cx="731520" cy="411480"/>
          </a:xfrm>
          <a:prstGeom prst="rect">
            <a:avLst/>
          </a:prstGeom>
          <a:noFill/>
        </p:spPr>
        <p:txBody>
          <a:bodyPr wrap="square">
            <a:spAutoFit/>
          </a:bodyPr>
          <a:lstStyle/>
          <a:p>
            <a:pPr algn="ctr"/>
            <a:r>
              <a:rPr sz="1100" b="1" i="0">
                <a:solidFill>
                  <a:srgbClr val="FFFFFF"/>
                </a:solidFill>
              </a:rPr>
              <a:t>Week 4</a:t>
            </a:r>
          </a:p>
        </p:txBody>
      </p:sp>
      <p:sp>
        <p:nvSpPr>
          <p:cNvPr id="24" name="TextBox 23"/>
          <p:cNvSpPr txBox="1"/>
          <p:nvPr/>
        </p:nvSpPr>
        <p:spPr>
          <a:xfrm>
            <a:off x="1005840" y="4032504"/>
            <a:ext cx="4389120" cy="365760"/>
          </a:xfrm>
          <a:prstGeom prst="rect">
            <a:avLst/>
          </a:prstGeom>
          <a:noFill/>
        </p:spPr>
        <p:txBody>
          <a:bodyPr wrap="square">
            <a:spAutoFit/>
          </a:bodyPr>
          <a:lstStyle/>
          <a:p>
            <a:pPr algn="l"/>
            <a:r>
              <a:rPr sz="1400" b="1" i="0">
                <a:solidFill>
                  <a:srgbClr val="00C2D1"/>
                </a:solidFill>
              </a:rPr>
              <a:t>Failure case analysis</a:t>
            </a:r>
          </a:p>
        </p:txBody>
      </p:sp>
      <p:sp>
        <p:nvSpPr>
          <p:cNvPr id="25" name="TextBox 24"/>
          <p:cNvSpPr txBox="1"/>
          <p:nvPr/>
        </p:nvSpPr>
        <p:spPr>
          <a:xfrm>
            <a:off x="1005840" y="4398264"/>
            <a:ext cx="10515600" cy="347472"/>
          </a:xfrm>
          <a:prstGeom prst="rect">
            <a:avLst/>
          </a:prstGeom>
          <a:noFill/>
        </p:spPr>
        <p:txBody>
          <a:bodyPr wrap="square">
            <a:spAutoFit/>
          </a:bodyPr>
          <a:lstStyle/>
          <a:p>
            <a:pPr algn="l"/>
            <a:r>
              <a:rPr sz="1200" b="0" i="0">
                <a:solidFill>
                  <a:srgbClr val="CCD6E0"/>
                </a:solidFill>
              </a:rPr>
              <a:t>Systematic review of cases where metric disagrees with human judgment</a:t>
            </a:r>
          </a:p>
        </p:txBody>
      </p:sp>
      <p:sp>
        <p:nvSpPr>
          <p:cNvPr id="26" name="Rectangle 25"/>
          <p:cNvSpPr/>
          <p:nvPr/>
        </p:nvSpPr>
        <p:spPr>
          <a:xfrm>
            <a:off x="320040" y="4837176"/>
            <a:ext cx="11521440" cy="82296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11480" y="5038344"/>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8912" y="5020056"/>
            <a:ext cx="731520" cy="411480"/>
          </a:xfrm>
          <a:prstGeom prst="rect">
            <a:avLst/>
          </a:prstGeom>
          <a:noFill/>
        </p:spPr>
        <p:txBody>
          <a:bodyPr wrap="square">
            <a:spAutoFit/>
          </a:bodyPr>
          <a:lstStyle/>
          <a:p>
            <a:pPr algn="ctr"/>
            <a:r>
              <a:rPr sz="1100" b="1" i="0">
                <a:solidFill>
                  <a:srgbClr val="FFFFFF"/>
                </a:solidFill>
              </a:rPr>
              <a:t>Week 5</a:t>
            </a:r>
          </a:p>
        </p:txBody>
      </p:sp>
      <p:sp>
        <p:nvSpPr>
          <p:cNvPr id="29" name="TextBox 28"/>
          <p:cNvSpPr txBox="1"/>
          <p:nvPr/>
        </p:nvSpPr>
        <p:spPr>
          <a:xfrm>
            <a:off x="1005840" y="4910328"/>
            <a:ext cx="4389120" cy="365760"/>
          </a:xfrm>
          <a:prstGeom prst="rect">
            <a:avLst/>
          </a:prstGeom>
          <a:noFill/>
        </p:spPr>
        <p:txBody>
          <a:bodyPr wrap="square">
            <a:spAutoFit/>
          </a:bodyPr>
          <a:lstStyle/>
          <a:p>
            <a:pPr algn="l"/>
            <a:r>
              <a:rPr sz="1400" b="1" i="0">
                <a:solidFill>
                  <a:srgbClr val="00C2D1"/>
                </a:solidFill>
              </a:rPr>
              <a:t>Self-consistency experiments</a:t>
            </a:r>
          </a:p>
        </p:txBody>
      </p:sp>
      <p:sp>
        <p:nvSpPr>
          <p:cNvPr id="30" name="TextBox 29"/>
          <p:cNvSpPr txBox="1"/>
          <p:nvPr/>
        </p:nvSpPr>
        <p:spPr>
          <a:xfrm>
            <a:off x="1005840" y="5276088"/>
            <a:ext cx="10515600" cy="347472"/>
          </a:xfrm>
          <a:prstGeom prst="rect">
            <a:avLst/>
          </a:prstGeom>
          <a:noFill/>
        </p:spPr>
        <p:txBody>
          <a:bodyPr wrap="square">
            <a:spAutoFit/>
          </a:bodyPr>
          <a:lstStyle/>
          <a:p>
            <a:pPr algn="l"/>
            <a:r>
              <a:rPr sz="1200" b="0" i="0">
                <a:solidFill>
                  <a:srgbClr val="CCD6E0"/>
                </a:solidFill>
              </a:rPr>
              <a:t>Multi-image generation, variance scoring, uncertainty signal validation</a:t>
            </a:r>
          </a:p>
        </p:txBody>
      </p:sp>
      <p:sp>
        <p:nvSpPr>
          <p:cNvPr id="31" name="Rectangle 30"/>
          <p:cNvSpPr/>
          <p:nvPr/>
        </p:nvSpPr>
        <p:spPr>
          <a:xfrm>
            <a:off x="320040" y="5715000"/>
            <a:ext cx="1152144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11480" y="5916168"/>
            <a:ext cx="411480" cy="411480"/>
          </a:xfrm>
          <a:prstGeom prst="ellipse">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8912" y="5897880"/>
            <a:ext cx="731520" cy="411480"/>
          </a:xfrm>
          <a:prstGeom prst="rect">
            <a:avLst/>
          </a:prstGeom>
          <a:noFill/>
        </p:spPr>
        <p:txBody>
          <a:bodyPr wrap="square">
            <a:spAutoFit/>
          </a:bodyPr>
          <a:lstStyle/>
          <a:p>
            <a:pPr algn="ctr"/>
            <a:r>
              <a:rPr sz="1100" b="1" i="0">
                <a:solidFill>
                  <a:srgbClr val="FFFFFF"/>
                </a:solidFill>
              </a:rPr>
              <a:t>Week 6</a:t>
            </a:r>
          </a:p>
        </p:txBody>
      </p:sp>
      <p:sp>
        <p:nvSpPr>
          <p:cNvPr id="34" name="TextBox 33"/>
          <p:cNvSpPr txBox="1"/>
          <p:nvPr/>
        </p:nvSpPr>
        <p:spPr>
          <a:xfrm>
            <a:off x="1005840" y="5788152"/>
            <a:ext cx="4389120" cy="365760"/>
          </a:xfrm>
          <a:prstGeom prst="rect">
            <a:avLst/>
          </a:prstGeom>
          <a:noFill/>
        </p:spPr>
        <p:txBody>
          <a:bodyPr wrap="square">
            <a:spAutoFit/>
          </a:bodyPr>
          <a:lstStyle/>
          <a:p>
            <a:pPr algn="l"/>
            <a:r>
              <a:rPr sz="1400" b="1" i="0">
                <a:solidFill>
                  <a:srgbClr val="00C2D1"/>
                </a:solidFill>
              </a:rPr>
              <a:t>Final report &amp; presentation</a:t>
            </a:r>
          </a:p>
        </p:txBody>
      </p:sp>
      <p:sp>
        <p:nvSpPr>
          <p:cNvPr id="35" name="TextBox 34"/>
          <p:cNvSpPr txBox="1"/>
          <p:nvPr/>
        </p:nvSpPr>
        <p:spPr>
          <a:xfrm>
            <a:off x="1005840" y="6153912"/>
            <a:ext cx="10515600" cy="347472"/>
          </a:xfrm>
          <a:prstGeom prst="rect">
            <a:avLst/>
          </a:prstGeom>
          <a:noFill/>
        </p:spPr>
        <p:txBody>
          <a:bodyPr wrap="square">
            <a:spAutoFit/>
          </a:bodyPr>
          <a:lstStyle/>
          <a:p>
            <a:pPr algn="l"/>
            <a:r>
              <a:rPr sz="1200" b="0" i="0">
                <a:solidFill>
                  <a:srgbClr val="CCD6E0"/>
                </a:solidFill>
              </a:rPr>
              <a:t>Consolidate all results, write up, rehearse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11704320" y="0"/>
            <a:ext cx="484632" cy="6858000"/>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3657600" cy="320040"/>
          </a:xfrm>
          <a:prstGeom prst="rect">
            <a:avLst/>
          </a:prstGeom>
          <a:noFill/>
        </p:spPr>
        <p:txBody>
          <a:bodyPr wrap="square">
            <a:spAutoFit/>
          </a:bodyPr>
          <a:lstStyle/>
          <a:p>
            <a:pPr algn="l"/>
            <a:r>
              <a:rPr sz="1000" b="1" i="1">
                <a:solidFill>
                  <a:srgbClr val="00C2D1"/>
                </a:solidFill>
              </a:rPr>
              <a:t>SUMMARY</a:t>
            </a:r>
          </a:p>
        </p:txBody>
      </p:sp>
      <p:sp>
        <p:nvSpPr>
          <p:cNvPr id="4" name="TextBox 3"/>
          <p:cNvSpPr txBox="1"/>
          <p:nvPr/>
        </p:nvSpPr>
        <p:spPr>
          <a:xfrm>
            <a:off x="320040" y="502920"/>
            <a:ext cx="8229600" cy="640080"/>
          </a:xfrm>
          <a:prstGeom prst="rect">
            <a:avLst/>
          </a:prstGeom>
          <a:noFill/>
        </p:spPr>
        <p:txBody>
          <a:bodyPr wrap="square">
            <a:spAutoFit/>
          </a:bodyPr>
          <a:lstStyle/>
          <a:p>
            <a:pPr algn="l"/>
            <a:r>
              <a:rPr sz="3200" b="1" i="0">
                <a:solidFill>
                  <a:srgbClr val="FFFFFF"/>
                </a:solidFill>
              </a:rPr>
              <a:t>Where Things Stand</a:t>
            </a:r>
          </a:p>
        </p:txBody>
      </p:sp>
      <p:sp>
        <p:nvSpPr>
          <p:cNvPr id="5" name="Rectangle 4"/>
          <p:cNvSpPr/>
          <p:nvPr/>
        </p:nvSpPr>
        <p:spPr>
          <a:xfrm>
            <a:off x="0" y="1143000"/>
            <a:ext cx="5486400" cy="41148"/>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371600"/>
            <a:ext cx="3749039" cy="73152"/>
          </a:xfrm>
          <a:prstGeom prst="rect">
            <a:avLst/>
          </a:prstGeom>
          <a:solidFill>
            <a:srgbClr val="00C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3474720" cy="411480"/>
          </a:xfrm>
          <a:prstGeom prst="rect">
            <a:avLst/>
          </a:prstGeom>
          <a:noFill/>
        </p:spPr>
        <p:txBody>
          <a:bodyPr wrap="square">
            <a:spAutoFit/>
          </a:bodyPr>
          <a:lstStyle/>
          <a:p>
            <a:pPr algn="l"/>
            <a:r>
              <a:rPr sz="1500" b="1" i="0">
                <a:solidFill>
                  <a:srgbClr val="00C2D1"/>
                </a:solidFill>
              </a:rPr>
              <a:t>✅  DONE</a:t>
            </a:r>
          </a:p>
        </p:txBody>
      </p:sp>
      <p:sp>
        <p:nvSpPr>
          <p:cNvPr id="9" name="TextBox 8"/>
          <p:cNvSpPr txBox="1"/>
          <p:nvPr/>
        </p:nvSpPr>
        <p:spPr>
          <a:xfrm>
            <a:off x="502920" y="1965960"/>
            <a:ext cx="3429000" cy="475488"/>
          </a:xfrm>
          <a:prstGeom prst="rect">
            <a:avLst/>
          </a:prstGeom>
          <a:noFill/>
        </p:spPr>
        <p:txBody>
          <a:bodyPr wrap="square">
            <a:spAutoFit/>
          </a:bodyPr>
          <a:lstStyle/>
          <a:p>
            <a:pPr algn="l"/>
            <a:r>
              <a:rPr sz="1300" b="0" i="0">
                <a:solidFill>
                  <a:srgbClr val="CCD6E0"/>
                </a:solidFill>
              </a:rPr>
              <a:t>End-to-end faithfulness pipeline</a:t>
            </a:r>
          </a:p>
        </p:txBody>
      </p:sp>
      <p:sp>
        <p:nvSpPr>
          <p:cNvPr id="10" name="TextBox 9"/>
          <p:cNvSpPr txBox="1"/>
          <p:nvPr/>
        </p:nvSpPr>
        <p:spPr>
          <a:xfrm>
            <a:off x="502920" y="2478024"/>
            <a:ext cx="3429000" cy="475488"/>
          </a:xfrm>
          <a:prstGeom prst="rect">
            <a:avLst/>
          </a:prstGeom>
          <a:noFill/>
        </p:spPr>
        <p:txBody>
          <a:bodyPr wrap="square">
            <a:spAutoFit/>
          </a:bodyPr>
          <a:lstStyle/>
          <a:p>
            <a:pPr algn="l"/>
            <a:r>
              <a:rPr sz="1300" b="0" i="0">
                <a:solidFill>
                  <a:srgbClr val="CCD6E0"/>
                </a:solidFill>
              </a:rPr>
              <a:t>BLIP-VQA + CLIP evaluation</a:t>
            </a:r>
          </a:p>
        </p:txBody>
      </p:sp>
      <p:sp>
        <p:nvSpPr>
          <p:cNvPr id="11" name="TextBox 10"/>
          <p:cNvSpPr txBox="1"/>
          <p:nvPr/>
        </p:nvSpPr>
        <p:spPr>
          <a:xfrm>
            <a:off x="502920" y="2990088"/>
            <a:ext cx="3429000" cy="475488"/>
          </a:xfrm>
          <a:prstGeom prst="rect">
            <a:avLst/>
          </a:prstGeom>
          <a:noFill/>
        </p:spPr>
        <p:txBody>
          <a:bodyPr wrap="square">
            <a:spAutoFit/>
          </a:bodyPr>
          <a:lstStyle/>
          <a:p>
            <a:pPr algn="l"/>
            <a:r>
              <a:rPr sz="1300" b="0" i="0">
                <a:solidFill>
                  <a:srgbClr val="CCD6E0"/>
                </a:solidFill>
              </a:rPr>
              <a:t>Interactive Gradio interface</a:t>
            </a:r>
          </a:p>
        </p:txBody>
      </p:sp>
      <p:sp>
        <p:nvSpPr>
          <p:cNvPr id="12" name="TextBox 11"/>
          <p:cNvSpPr txBox="1"/>
          <p:nvPr/>
        </p:nvSpPr>
        <p:spPr>
          <a:xfrm>
            <a:off x="502920" y="3502152"/>
            <a:ext cx="3429000" cy="475488"/>
          </a:xfrm>
          <a:prstGeom prst="rect">
            <a:avLst/>
          </a:prstGeom>
          <a:noFill/>
        </p:spPr>
        <p:txBody>
          <a:bodyPr wrap="square">
            <a:spAutoFit/>
          </a:bodyPr>
          <a:lstStyle/>
          <a:p>
            <a:pPr algn="l"/>
            <a:r>
              <a:rPr sz="1300" b="0" i="0">
                <a:solidFill>
                  <a:srgbClr val="CCD6E0"/>
                </a:solidFill>
              </a:rPr>
              <a:t>Flickr30k benchmark validation</a:t>
            </a:r>
          </a:p>
        </p:txBody>
      </p:sp>
      <p:sp>
        <p:nvSpPr>
          <p:cNvPr id="13" name="TextBox 12"/>
          <p:cNvSpPr txBox="1"/>
          <p:nvPr/>
        </p:nvSpPr>
        <p:spPr>
          <a:xfrm>
            <a:off x="502920" y="4014216"/>
            <a:ext cx="3429000" cy="475488"/>
          </a:xfrm>
          <a:prstGeom prst="rect">
            <a:avLst/>
          </a:prstGeom>
          <a:noFill/>
        </p:spPr>
        <p:txBody>
          <a:bodyPr wrap="square">
            <a:spAutoFit/>
          </a:bodyPr>
          <a:lstStyle/>
          <a:p>
            <a:pPr algn="l"/>
            <a:r>
              <a:rPr sz="1300" b="0" i="0">
                <a:solidFill>
                  <a:srgbClr val="CCD6E0"/>
                </a:solidFill>
              </a:rPr>
              <a:t>Preliminary results collected</a:t>
            </a:r>
          </a:p>
        </p:txBody>
      </p:sp>
      <p:sp>
        <p:nvSpPr>
          <p:cNvPr id="14" name="Rectangle 13"/>
          <p:cNvSpPr/>
          <p:nvPr/>
        </p:nvSpPr>
        <p:spPr>
          <a:xfrm>
            <a:off x="4233672"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33672" y="1371600"/>
            <a:ext cx="3749039" cy="73152"/>
          </a:xfrm>
          <a:prstGeom prst="rect">
            <a:avLst/>
          </a:prstGeom>
          <a:solidFill>
            <a:srgbClr val="FA4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70832" y="1463040"/>
            <a:ext cx="3474720" cy="411480"/>
          </a:xfrm>
          <a:prstGeom prst="rect">
            <a:avLst/>
          </a:prstGeom>
          <a:noFill/>
        </p:spPr>
        <p:txBody>
          <a:bodyPr wrap="square">
            <a:spAutoFit/>
          </a:bodyPr>
          <a:lstStyle/>
          <a:p>
            <a:pPr algn="l"/>
            <a:r>
              <a:rPr sz="1500" b="1" i="0">
                <a:solidFill>
                  <a:srgbClr val="FA4D00"/>
                </a:solidFill>
              </a:rPr>
              <a:t>🔧  IN PROGRESS</a:t>
            </a:r>
          </a:p>
        </p:txBody>
      </p:sp>
      <p:sp>
        <p:nvSpPr>
          <p:cNvPr id="17" name="TextBox 16"/>
          <p:cNvSpPr txBox="1"/>
          <p:nvPr/>
        </p:nvSpPr>
        <p:spPr>
          <a:xfrm>
            <a:off x="4416552" y="1965960"/>
            <a:ext cx="3429000" cy="475488"/>
          </a:xfrm>
          <a:prstGeom prst="rect">
            <a:avLst/>
          </a:prstGeom>
          <a:noFill/>
        </p:spPr>
        <p:txBody>
          <a:bodyPr wrap="square">
            <a:spAutoFit/>
          </a:bodyPr>
          <a:lstStyle/>
          <a:p>
            <a:pPr algn="l"/>
            <a:r>
              <a:rPr sz="1300" b="0" i="0">
                <a:solidFill>
                  <a:srgbClr val="CCD6E0"/>
                </a:solidFill>
              </a:rPr>
              <a:t>Larger benchmark experiments</a:t>
            </a:r>
          </a:p>
        </p:txBody>
      </p:sp>
      <p:sp>
        <p:nvSpPr>
          <p:cNvPr id="18" name="TextBox 17"/>
          <p:cNvSpPr txBox="1"/>
          <p:nvPr/>
        </p:nvSpPr>
        <p:spPr>
          <a:xfrm>
            <a:off x="4416552" y="2478024"/>
            <a:ext cx="3429000" cy="475488"/>
          </a:xfrm>
          <a:prstGeom prst="rect">
            <a:avLst/>
          </a:prstGeom>
          <a:noFill/>
        </p:spPr>
        <p:txBody>
          <a:bodyPr wrap="square">
            <a:spAutoFit/>
          </a:bodyPr>
          <a:lstStyle/>
          <a:p>
            <a:pPr algn="l"/>
            <a:r>
              <a:rPr sz="1300" b="0" i="0">
                <a:solidFill>
                  <a:srgbClr val="CCD6E0"/>
                </a:solidFill>
              </a:rPr>
              <a:t>Parser improvements</a:t>
            </a:r>
          </a:p>
        </p:txBody>
      </p:sp>
      <p:sp>
        <p:nvSpPr>
          <p:cNvPr id="19" name="TextBox 18"/>
          <p:cNvSpPr txBox="1"/>
          <p:nvPr/>
        </p:nvSpPr>
        <p:spPr>
          <a:xfrm>
            <a:off x="4416552" y="2990088"/>
            <a:ext cx="3429000" cy="475488"/>
          </a:xfrm>
          <a:prstGeom prst="rect">
            <a:avLst/>
          </a:prstGeom>
          <a:noFill/>
        </p:spPr>
        <p:txBody>
          <a:bodyPr wrap="square">
            <a:spAutoFit/>
          </a:bodyPr>
          <a:lstStyle/>
          <a:p>
            <a:pPr algn="l"/>
            <a:r>
              <a:rPr sz="1300" b="0" i="0">
                <a:solidFill>
                  <a:srgbClr val="CCD6E0"/>
                </a:solidFill>
              </a:rPr>
              <a:t>Failure case documentation</a:t>
            </a:r>
          </a:p>
        </p:txBody>
      </p:sp>
      <p:sp>
        <p:nvSpPr>
          <p:cNvPr id="20" name="Rectangle 19"/>
          <p:cNvSpPr/>
          <p:nvPr/>
        </p:nvSpPr>
        <p:spPr>
          <a:xfrm>
            <a:off x="8147304" y="1371600"/>
            <a:ext cx="3749039" cy="5120640"/>
          </a:xfrm>
          <a:prstGeom prst="rect">
            <a:avLst/>
          </a:prstGeom>
          <a:solidFill>
            <a:srgbClr val="16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47304" y="1371600"/>
            <a:ext cx="3749039"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4464" y="1463040"/>
            <a:ext cx="3474720" cy="411480"/>
          </a:xfrm>
          <a:prstGeom prst="rect">
            <a:avLst/>
          </a:prstGeom>
          <a:noFill/>
        </p:spPr>
        <p:txBody>
          <a:bodyPr wrap="square">
            <a:spAutoFit/>
          </a:bodyPr>
          <a:lstStyle/>
          <a:p>
            <a:pPr algn="l"/>
            <a:r>
              <a:rPr sz="1500" b="1" i="0">
                <a:solidFill>
                  <a:srgbClr val="FFFFFF"/>
                </a:solidFill>
              </a:rPr>
              <a:t>🔜  PLANNED</a:t>
            </a:r>
          </a:p>
        </p:txBody>
      </p:sp>
      <p:sp>
        <p:nvSpPr>
          <p:cNvPr id="23" name="TextBox 22"/>
          <p:cNvSpPr txBox="1"/>
          <p:nvPr/>
        </p:nvSpPr>
        <p:spPr>
          <a:xfrm>
            <a:off x="8330183" y="1965960"/>
            <a:ext cx="3429000" cy="475488"/>
          </a:xfrm>
          <a:prstGeom prst="rect">
            <a:avLst/>
          </a:prstGeom>
          <a:noFill/>
        </p:spPr>
        <p:txBody>
          <a:bodyPr wrap="square">
            <a:spAutoFit/>
          </a:bodyPr>
          <a:lstStyle/>
          <a:p>
            <a:pPr algn="l"/>
            <a:r>
              <a:rPr sz="1300" b="0" i="0">
                <a:solidFill>
                  <a:srgbClr val="CCD6E0"/>
                </a:solidFill>
              </a:rPr>
              <a:t>Self-consistency experiments</a:t>
            </a:r>
          </a:p>
        </p:txBody>
      </p:sp>
      <p:sp>
        <p:nvSpPr>
          <p:cNvPr id="24" name="TextBox 23"/>
          <p:cNvSpPr txBox="1"/>
          <p:nvPr/>
        </p:nvSpPr>
        <p:spPr>
          <a:xfrm>
            <a:off x="8330183" y="2478024"/>
            <a:ext cx="3429000" cy="475488"/>
          </a:xfrm>
          <a:prstGeom prst="rect">
            <a:avLst/>
          </a:prstGeom>
          <a:noFill/>
        </p:spPr>
        <p:txBody>
          <a:bodyPr wrap="square">
            <a:spAutoFit/>
          </a:bodyPr>
          <a:lstStyle/>
          <a:p>
            <a:pPr algn="l"/>
            <a:r>
              <a:rPr sz="1300" b="0" i="0">
                <a:solidFill>
                  <a:srgbClr val="CCD6E0"/>
                </a:solidFill>
              </a:rPr>
              <a:t>Uncertainty score analysis</a:t>
            </a:r>
          </a:p>
        </p:txBody>
      </p:sp>
      <p:sp>
        <p:nvSpPr>
          <p:cNvPr id="25" name="TextBox 24"/>
          <p:cNvSpPr txBox="1"/>
          <p:nvPr/>
        </p:nvSpPr>
        <p:spPr>
          <a:xfrm>
            <a:off x="8330183" y="2990088"/>
            <a:ext cx="3429000" cy="475488"/>
          </a:xfrm>
          <a:prstGeom prst="rect">
            <a:avLst/>
          </a:prstGeom>
          <a:noFill/>
        </p:spPr>
        <p:txBody>
          <a:bodyPr wrap="square">
            <a:spAutoFit/>
          </a:bodyPr>
          <a:lstStyle/>
          <a:p>
            <a:pPr algn="l"/>
            <a:r>
              <a:rPr sz="1300" b="0" i="0">
                <a:solidFill>
                  <a:srgbClr val="CCD6E0"/>
                </a:solidFill>
              </a:rPr>
              <a:t>Combined faithfulness +</a:t>
            </a:r>
          </a:p>
        </p:txBody>
      </p:sp>
      <p:sp>
        <p:nvSpPr>
          <p:cNvPr id="26" name="TextBox 25"/>
          <p:cNvSpPr txBox="1"/>
          <p:nvPr/>
        </p:nvSpPr>
        <p:spPr>
          <a:xfrm>
            <a:off x="8330183" y="3502152"/>
            <a:ext cx="3429000" cy="475488"/>
          </a:xfrm>
          <a:prstGeom prst="rect">
            <a:avLst/>
          </a:prstGeom>
          <a:noFill/>
        </p:spPr>
        <p:txBody>
          <a:bodyPr wrap="square">
            <a:spAutoFit/>
          </a:bodyPr>
          <a:lstStyle/>
          <a:p>
            <a:pPr algn="l"/>
            <a:r>
              <a:rPr sz="1300" b="0" i="0">
                <a:solidFill>
                  <a:srgbClr val="CCD6E0"/>
                </a:solidFill>
              </a:rPr>
              <a:t>  consistency framework</a:t>
            </a:r>
          </a:p>
        </p:txBody>
      </p:sp>
      <p:sp>
        <p:nvSpPr>
          <p:cNvPr id="27" name="TextBox 26"/>
          <p:cNvSpPr txBox="1"/>
          <p:nvPr/>
        </p:nvSpPr>
        <p:spPr>
          <a:xfrm>
            <a:off x="8330183" y="4014216"/>
            <a:ext cx="3429000" cy="475488"/>
          </a:xfrm>
          <a:prstGeom prst="rect">
            <a:avLst/>
          </a:prstGeom>
          <a:noFill/>
        </p:spPr>
        <p:txBody>
          <a:bodyPr wrap="square">
            <a:spAutoFit/>
          </a:bodyPr>
          <a:lstStyle/>
          <a:p>
            <a:pPr algn="l"/>
            <a:r>
              <a:rPr sz="1300" b="0" i="0">
                <a:solidFill>
                  <a:srgbClr val="CCD6E0"/>
                </a:solidFill>
              </a:rPr>
              <a:t>Final report &amp; presentation</a:t>
            </a:r>
          </a:p>
        </p:txBody>
      </p:sp>
      <p:sp>
        <p:nvSpPr>
          <p:cNvPr id="28" name="TextBox 27"/>
          <p:cNvSpPr txBox="1"/>
          <p:nvPr/>
        </p:nvSpPr>
        <p:spPr>
          <a:xfrm>
            <a:off x="320040" y="6446520"/>
            <a:ext cx="11338560" cy="292388"/>
          </a:xfrm>
          <a:prstGeom prst="rect">
            <a:avLst/>
          </a:prstGeom>
          <a:noFill/>
        </p:spPr>
        <p:txBody>
          <a:bodyPr wrap="square" lIns="91440" tIns="45720" rIns="91440" bIns="45720" anchor="t">
            <a:spAutoFit/>
          </a:bodyPr>
          <a:lstStyle/>
          <a:p>
            <a:pPr algn="ctr"/>
            <a:r>
              <a:rPr sz="1300" b="0" i="1" dirty="0">
                <a:solidFill>
                  <a:srgbClr val="00C2D1"/>
                </a:solidFill>
              </a:rPr>
              <a:t>The faithfulness baseline is validated and working.  Self-consistency experiments are the immediate next milestone.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20</cp:revision>
  <dcterms:created xsi:type="dcterms:W3CDTF">2013-01-27T09:14:16Z</dcterms:created>
  <dcterms:modified xsi:type="dcterms:W3CDTF">2026-03-12T20:53:52Z</dcterms:modified>
  <cp:category/>
</cp:coreProperties>
</file>