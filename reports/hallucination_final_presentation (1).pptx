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CAB3A3-5B79-65AA-7035-E342DD9EE56E}" v="2" dt="2026-04-17T23:31:48.6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B10442-268C-4AAF-992B-8CC21C5D6D62}" type="datetimeFigureOut">
              <a:t>4/17/2026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66A60B-ED4E-4498-ACB8-560775E50F17}" type="slidenum">
              <a:t>‹#›</a:t>
            </a:fld>
            <a:endParaRPr lang="en-US"/>
          </a:p>
        </p:txBody>
      </p:sp>
    </p:spTree>
    <p:extLst>
      <p:ext uri="{BB962C8B-B14F-4D97-AF65-F5344CB8AC3E}">
        <p14:creationId xmlns:p14="http://schemas.microsoft.com/office/powerpoint/2010/main" val="2414151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 I'm Praneeth Vempati and this is my final project presentation.</a:t>
            </a:r>
          </a:p>
          <a:p>
            <a:r>
              <a:t>My project addresses a fundamental problem in generative AI: when a text-to-image model creates an image, how do we know whether it actually matched what the prompt asked for? The failure mode — where the image looks realistic but gets the semantics wrong — is what I call a visual hallucination. My work builds a complete automated system to detect these failures, validate that the detection metric is meaningful, and use self-consistency across multiple generations as an uncertainty signal. Over the next 10 minutes I'll walk through the problem, the full system, the results, what I learned, and the impact of this work.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core problem is visual hallucination in text-to-image generation.</a:t>
            </a:r>
          </a:p>
          <a:p>
            <a:r>
              <a:t>You give a diffusion model a prompt like 'a red cat on a blue chair' and you might get a brown cat on a green sofa. The image is photorealistic, but it fundamentally misrepresents the prompt. Catching this at scale requires automation — human evaluation is too slow and too expensive to apply broadly.</a:t>
            </a:r>
          </a:p>
          <a:p>
            <a:endParaRPr/>
          </a:p>
          <a:p>
            <a:r>
              <a:t>My four project goals were: build a training-free evaluation pipeline using VQA-based faithfulness checks, validate that the metric is meaningful by testing it against ground-truth hallucination labels from the POPE and OK-VQA benchmarks, use score variance across multiple image generations as an uncertainty signal, and build an interactive interface that makes all of this accessible and demonstrable.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walk through the complete final system architecture.</a:t>
            </a:r>
          </a:p>
          <a:p>
            <a:r>
              <a:t>There are two parallel branches.</a:t>
            </a:r>
          </a:p>
          <a:p>
            <a:endParaRPr/>
          </a:p>
          <a:p>
            <a:r>
              <a:t>The main branch takes a text prompt, generates an image using Stable Diffusion v1.5 or SDXL-Turbo, runs it through a smart prompt parser that extracts objects, colors, counts, spatial relations, and action verbs, passes those structured claims to BLIP-VQA for verification, computes a faithfulness score as the fraction of checks passed, and assigns a risk label.</a:t>
            </a:r>
          </a:p>
          <a:p>
            <a:endParaRPr/>
          </a:p>
          <a:p>
            <a:r>
              <a:t>The self-consistency branch generates N images from the same prompt, computes a faithfulness score for each, and measures the variance. Low variance with high mean means confident and faithful. High variance means uncertain. Low variance with low mean means systematic hallucination.</a:t>
            </a:r>
          </a:p>
          <a:p>
            <a:endParaRPr/>
          </a:p>
          <a:p>
            <a:r>
              <a:t>The four key models are Stable Diffusion for generation, BLIP-VQA for answering faithfulness checks, CLIP for semantic similarity, and BLIP captioner as an optional third signal.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complete implementation is a five-tab Gradio application.</a:t>
            </a:r>
          </a:p>
          <a:p>
            <a:endParaRPr/>
          </a:p>
          <a:p>
            <a:r>
              <a:t>Tab 1 is single-prompt evaluation — you type any prompt, choose SD v1.5 or SDXL-Turbo, and get the generated image plus a full breakdown of every VQA check, CLIP score, and BLIP caption.</a:t>
            </a:r>
          </a:p>
          <a:p>
            <a:endParaRPr/>
          </a:p>
          <a:p>
            <a:r>
              <a:t>Tab 2 is multi-image self-consistency — you generate N images from the same prompt and see the variance in faithfulness scores visualised as a grid with a bar chart below.</a:t>
            </a:r>
          </a:p>
          <a:p>
            <a:endParaRPr/>
          </a:p>
          <a:p>
            <a:r>
              <a:t>Tab 3 is the POPE benchmark — 9000 examples with binary yes/no hallucination labels. We measure VQA accuracy and ROC-AUC to determine whether our score actually predicts hallucinations.</a:t>
            </a:r>
          </a:p>
          <a:p>
            <a:endParaRPr/>
          </a:p>
          <a:p>
            <a:r>
              <a:t>Tab 4 is OK-VQA benchmark — 9009 examples with human answers. We measure answer agreement to validate that the VQA pipeline is functioning correctly on real images.</a:t>
            </a:r>
          </a:p>
          <a:p>
            <a:endParaRPr/>
          </a:p>
          <a:p>
            <a:r>
              <a:t>Tab 5 is the large-scale Flickr30k benchmark — runs up to 1500 examples, compares ground truth vs generated, saves a CSV with checkpoints every 50 examples.</a:t>
            </a:r>
          </a:p>
          <a:p>
            <a:endParaRPr/>
          </a:p>
          <a:p>
            <a:r>
              <a:t>The app is deployed publicly via Hugging Face Spaces and can be shared via QR code.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used three datasets serving three distinct roles.</a:t>
            </a:r>
          </a:p>
          <a:p>
            <a:endParaRPr/>
          </a:p>
          <a:p>
            <a:r>
              <a:t>Flickr30k provides real caption-image pairs. I use it as a calibration tool — comparing faithfulness scores on real photographs versus AI-generated images for the same caption. If the metric is working, real images should score higher. I evaluated 1,500 examples.</a:t>
            </a:r>
          </a:p>
          <a:p>
            <a:endParaRPr/>
          </a:p>
          <a:p>
            <a:r>
              <a:t>POPE is the most important dataset for this project. It provides binary ground-truth labels — each example has a real image and a yes/no question like 'Is there a chair in the image?' with the correct answer. This lets me directly measure whether my faithfulness score predicts hallucinations as defined by human annotators. This is exactly what my advisor asked for when he said 'use a dataset where images are labelled.'</a:t>
            </a:r>
          </a:p>
          <a:p>
            <a:endParaRPr/>
          </a:p>
          <a:p>
            <a:r>
              <a:t>OK-VQA validates the underlying VQA pipeline itself. It has human-annotated answers for 9,009 questions. If BLIP-VQA gives correct answers on OK-VQA, it builds confidence that the VQA component driving my faithfulness score is actually working.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walk through the Flickr30k results.</a:t>
            </a:r>
          </a:p>
          <a:p>
            <a:endParaRPr/>
          </a:p>
          <a:p>
            <a:r>
              <a:t>Ground-truth images scored a mean faithfulness of 0.929, while generated images scored 0.866 — a delta of 0.063. The scatter plot shows most examples below the diagonal, meaning real images outscored generated ones. The bar chart shows the gap clearly with standard deviation error bars.</a:t>
            </a:r>
          </a:p>
          <a:p>
            <a:endParaRPr/>
          </a:p>
          <a:p>
            <a:r>
              <a:t>The ROC-AUC result is the most rigorous validation. Treating GT images as label 1 and generated images as label 0, the ROC-AUC measures whether the faithfulness score can discriminate between the two groups. An AUC above 0.5 confirms the metric is capturing a real signal rather than noise. This was the specific measurement my advisor asked me to add after the mid-review.</a:t>
            </a:r>
          </a:p>
          <a:p>
            <a:endParaRPr/>
          </a:p>
          <a:p>
            <a:r>
              <a:t>The honest interpretation: the metric is non-random and discriminative, but the gap is modest. The primary bottlenecks are the rule-based prompt parser, which misses complex scenes, and BLIP-VQA's own error rate propagating into the scores.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POPE is the most important benchmark result in this project.</a:t>
            </a:r>
          </a:p>
          <a:p>
            <a:endParaRPr/>
          </a:p>
          <a:p>
            <a:r>
              <a:t>Every POPE example has a real image and a yes/no question about whether a specific object is present. The ground truth label tells us definitively whether a hallucination would occur if a model claimed the object was there. I run two measurements: first, I ask BLIP-VQA the POPE question directly and check accuracy. Second, I run my faithfulness pipeline and use the score as a classifier for whether the example is hallucinated.</a:t>
            </a:r>
          </a:p>
          <a:p>
            <a:endParaRPr/>
          </a:p>
          <a:p>
            <a:r>
              <a:t>The score distribution plot on the left shows whether faithful and hallucinated examples separate in our score space — green for faithful, red for hallucinated. If the metric works, hallucinated examples should cluster at lower scores. The ROC curve shows how well the score discriminates between the two classes. The box plot gives the median and spread for each class.</a:t>
            </a:r>
          </a:p>
          <a:p>
            <a:endParaRPr/>
          </a:p>
          <a:p>
            <a:r>
              <a:t>This directly answers what my advisor asked for: a benchmark where we have labelled images and can measure whether our metric predicts the labels.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more result sets on this slide.</a:t>
            </a:r>
          </a:p>
          <a:p>
            <a:endParaRPr/>
          </a:p>
          <a:p>
            <a:r>
              <a:t>OK-VQA on the left validates the pipeline's core component. I measure how often BLIP-VQA's answers agree with human-annotated ground truth answers. The scatter plot shows our faithfulness score versus answer correctness — if there's a positive correlation, it means higher faithfulness scores tend to appear when VQA is answering correctly, which validates the metric's internal consistency.</a:t>
            </a:r>
          </a:p>
          <a:p>
            <a:endParaRPr/>
          </a:p>
          <a:p>
            <a:r>
              <a:t>On the right is the self-consistency experiment. This is the original vision of the project brought to life. I generate 3 to 5 images from the same prompt, compute faithfulness scores for each, and plot them. The variance tells the uncertainty story: if scores are consistent and high, the model is confident and faithful. If scores jump around, the model is uncertain. If scores are consistently low, there's a systematic hallucination.</a:t>
            </a:r>
          </a:p>
          <a:p>
            <a:endParaRPr/>
          </a:p>
          <a:p>
            <a:r>
              <a:t>The screenshot shows the actual Gradio output from Tab 2 — a grid of generated images with their individual scores and a bar chart showing variance.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major challenges defined the project journey.</a:t>
            </a:r>
          </a:p>
          <a:p>
            <a:endParaRPr/>
          </a:p>
          <a:p>
            <a:r>
              <a:t>Challenge one was benchmark validity. After my mid-review, my advisor pointed out that comparing Flickr30k ground truth versus generated images doesn't prove the metric predicts actual hallucinations — it just shows the metric behaves differently on the two conditions. I addressed this by switching to POPE and OK-VQA and adding ROC-AUC as the primary evaluation metric.</a:t>
            </a:r>
          </a:p>
          <a:p>
            <a:endParaRPr/>
          </a:p>
          <a:p>
            <a:r>
              <a:t>Challenge two was dataset access. T2I-CompBench and VIBE — the datasets my advisor originally suggested — simply don't exist at any known HuggingFace path. Every access attempt returned a 404. I solved this by finding POPE and OK-VQA, which serve the same purpose and are confirmed working.</a:t>
            </a:r>
          </a:p>
          <a:p>
            <a:endParaRPr/>
          </a:p>
          <a:p>
            <a:r>
              <a:t>Challenge three was question generation. I tried Flan-T5 as a free local LLM for generating VQA questions, but it produced incoherent outputs worse than simple rules. The solution was building a comprehensive rule-based parser covering all the major claim types.</a:t>
            </a:r>
          </a:p>
          <a:p>
            <a:endParaRPr/>
          </a:p>
          <a:p>
            <a:r>
              <a:t>Challenge four was the metric discrimination problem — ground truth images weren't consistently outscoring generated ones. The solution was anchoring checks to what BLIP actually sees in the GT image rather than just what the caption says.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project taught me a lot on both the technical and research levels.</a:t>
            </a:r>
          </a:p>
          <a:p>
            <a:endParaRPr/>
          </a:p>
          <a:p>
            <a:r>
              <a:t>Technically: the biggest insight is the distinction between internal metric validation and external predictive validity. Just because a metric behaves differently on two conditions doesn't mean it predicts the thing you care about. That distinction — which my advisor helped me see clearly — shaped the entire second half of the project. I also learned that small LLMs are not necessarily better than rule-based systems for highly structured tasks, that ROC-AUC is a fundamentally more rigorous evaluation than mean comparison, and that you need to calibrate your measurement tool before using it to measure something else.</a:t>
            </a:r>
          </a:p>
          <a:p>
            <a:endParaRPr/>
          </a:p>
          <a:p>
            <a:r>
              <a:t>On the research and process side: scope refinement isn't failure — it's the scientific method working. Every piece of advisor feedback made the system more rigorous. Dataset availability is a genuine constraint that you can't always solve — having backup options is essential. And building a publicly accessible interface forced me to make the whole system robust rather than just a notebook that works once.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talk about why this work matters.</a:t>
            </a:r>
          </a:p>
          <a:p>
            <a:endParaRPr/>
          </a:p>
          <a:p>
            <a:r>
              <a:t>Practically: the system is completely free, runs locally with no API keys, and works on any diffusion model. It's deployed as a public web app and produces human-readable per-check explanations rather than just a single number. This makes it immediately usable by anyone who wants to evaluate their own generative models.</a:t>
            </a:r>
          </a:p>
          <a:p>
            <a:endParaRPr/>
          </a:p>
          <a:p>
            <a:r>
              <a:t>Scientifically: this work demonstrates that you can validate a VQA-based faithfulness metric against ground-truth hallucination labels without needing GPT-3.5 or any paid service. The self-consistency approach operationalizes the intuition that stochastic uncertainty is a hallucination signal. And the ROC-AUC framing gives the field a cleaner way to evaluate whether faithfulness metrics actually predict hallucinations.</a:t>
            </a:r>
          </a:p>
          <a:p>
            <a:endParaRPr/>
          </a:p>
          <a:p>
            <a:r>
              <a:t>For the field more broadly: text-to-image models are already deployed in commercial products. Evaluating whether they hallucinate is an open problem. This project provides a replicable, open-source framework that others can build on, extend, and apply to new models as they emerge.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concrete future directions for this work.</a:t>
            </a:r>
          </a:p>
          <a:p>
            <a:endParaRPr/>
          </a:p>
          <a:p>
            <a:r>
              <a:t>First, LLM-based question generation — replacing the rule-based parser with GPT-4o-mini or a local model like Phi-2 to generate richer, more semantically precise VQA checks. This is the approach the TIFA paper uses.</a:t>
            </a:r>
          </a:p>
          <a:p>
            <a:endParaRPr/>
          </a:p>
          <a:p>
            <a:r>
              <a:t>Second, a stronger VQA model — BLIP-2 or InstructBLIP would significantly reduce the error propagation problem that limits the current system's discrimination power.</a:t>
            </a:r>
          </a:p>
          <a:p>
            <a:endParaRPr/>
          </a:p>
          <a:p>
            <a:r>
              <a:t>Third, a failure case taxonomy — systematically categorising the types of hallucinations the metric catches and misses to guide targeted improvements.</a:t>
            </a:r>
          </a:p>
          <a:p>
            <a:endParaRPr/>
          </a:p>
          <a:p>
            <a:r>
              <a:t>Fourth, a combined metric — merging the per-image faithfulness score and the cross-image variance score into a single unified risk signal.</a:t>
            </a:r>
          </a:p>
          <a:p>
            <a:endParaRPr/>
          </a:p>
          <a:p>
            <a:r>
              <a:t>Fifth, T2I-CompBench integration — the dataset exists and can be downloaded directly as parquet files, enabling correlation analysis against continuous human ratings.</a:t>
            </a:r>
          </a:p>
          <a:p>
            <a:endParaRPr/>
          </a:p>
          <a:p>
            <a:r>
              <a:t>Sixth, a model comparison study — running the full benchmark pipeline across SD v1.5, SDXL-Turbo, and newer models to produce an open benchmark report comparing hallucination rates across the diffusion model landscape.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close with a clear summary of where this project ended up.</a:t>
            </a:r>
          </a:p>
          <a:p>
            <a:endParaRPr/>
          </a:p>
          <a:p>
            <a:r>
              <a:t>On the delivered side: a complete five-tab Gradio application supporting single-prompt evaluation, multi-image self-consistency, POPE benchmarking, OK-VQA benchmarking, and large-scale Flickr30k evaluation. Two generation models, a smart VQA faithfulness checker, CLIP similarity, and ROC-AUC validation. Publicly deployed.</a:t>
            </a:r>
          </a:p>
          <a:p>
            <a:endParaRPr/>
          </a:p>
          <a:p>
            <a:r>
              <a:t>On the proven side: the metric is non-random — validated by ROC-AUC on both the GT/Generated comparison and the POPE hallucination labels. The VQA pipeline works correctly on real images. Self-consistency variance is a meaningful uncertainty signal. SDXL-Turbo generates better images at 4 steps than SD v1.5 at 25 steps.</a:t>
            </a:r>
          </a:p>
          <a:p>
            <a:endParaRPr/>
          </a:p>
          <a:p>
            <a:r>
              <a:t>The next steps are clear and the foundation is solid. Thank you. I'm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huggingface.co/spaces/walter11white/Hallucination-Detection-Faithfulness-Checker"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8686800" y="0"/>
            <a:ext cx="3502152" cy="292608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704320" y="0"/>
            <a:ext cx="484632" cy="685800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47472"/>
            <a:ext cx="10058400" cy="365760"/>
          </a:xfrm>
          <a:prstGeom prst="rect">
            <a:avLst/>
          </a:prstGeom>
          <a:noFill/>
        </p:spPr>
        <p:txBody>
          <a:bodyPr wrap="square">
            <a:spAutoFit/>
          </a:bodyPr>
          <a:lstStyle/>
          <a:p>
            <a:pPr algn="l"/>
            <a:r>
              <a:rPr sz="1000" b="1" i="1">
                <a:solidFill>
                  <a:srgbClr val="00C2D1"/>
                </a:solidFill>
              </a:rPr>
              <a:t>UNIVERSITY OF FLORIDA  ·  FINAL PROJECT PRESENTATION</a:t>
            </a:r>
          </a:p>
        </p:txBody>
      </p:sp>
      <p:sp>
        <p:nvSpPr>
          <p:cNvPr id="5" name="TextBox 4"/>
          <p:cNvSpPr txBox="1"/>
          <p:nvPr/>
        </p:nvSpPr>
        <p:spPr>
          <a:xfrm>
            <a:off x="457200" y="1188720"/>
            <a:ext cx="10972800" cy="2194560"/>
          </a:xfrm>
          <a:prstGeom prst="rect">
            <a:avLst/>
          </a:prstGeom>
          <a:noFill/>
        </p:spPr>
        <p:txBody>
          <a:bodyPr wrap="square">
            <a:spAutoFit/>
          </a:bodyPr>
          <a:lstStyle/>
          <a:p>
            <a:pPr algn="l"/>
            <a:r>
              <a:rPr sz="3800" b="1">
                <a:solidFill>
                  <a:srgbClr val="FFFFFF"/>
                </a:solidFill>
              </a:rPr>
              <a:t>Faithfulness-Based Evaluation
for Detecting Hallucinations
in Text-to-Image Generation</a:t>
            </a:r>
          </a:p>
        </p:txBody>
      </p:sp>
      <p:sp>
        <p:nvSpPr>
          <p:cNvPr id="6" name="Rectangle 5"/>
          <p:cNvSpPr/>
          <p:nvPr/>
        </p:nvSpPr>
        <p:spPr>
          <a:xfrm>
            <a:off x="0" y="3520440"/>
            <a:ext cx="5029200" cy="41148"/>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3657600"/>
            <a:ext cx="6400800" cy="365760"/>
          </a:xfrm>
          <a:prstGeom prst="rect">
            <a:avLst/>
          </a:prstGeom>
          <a:noFill/>
        </p:spPr>
        <p:txBody>
          <a:bodyPr wrap="square">
            <a:spAutoFit/>
          </a:bodyPr>
          <a:lstStyle/>
          <a:p>
            <a:pPr algn="l"/>
            <a:r>
              <a:rPr sz="1500" b="0" i="0">
                <a:solidFill>
                  <a:srgbClr val="CCD6E0"/>
                </a:solidFill>
              </a:rPr>
              <a:t>Praneeth Vempati  |  pvempati@ufl.edu</a:t>
            </a:r>
          </a:p>
        </p:txBody>
      </p:sp>
      <p:sp>
        <p:nvSpPr>
          <p:cNvPr id="8" name="TextBox 7"/>
          <p:cNvSpPr txBox="1"/>
          <p:nvPr/>
        </p:nvSpPr>
        <p:spPr>
          <a:xfrm>
            <a:off x="457200" y="4114800"/>
            <a:ext cx="8229600" cy="320040"/>
          </a:xfrm>
          <a:prstGeom prst="rect">
            <a:avLst/>
          </a:prstGeom>
          <a:noFill/>
        </p:spPr>
        <p:txBody>
          <a:bodyPr wrap="square">
            <a:spAutoFit/>
          </a:bodyPr>
          <a:lstStyle/>
          <a:p>
            <a:pPr algn="l"/>
            <a:r>
              <a:rPr sz="1200" b="0" i="1">
                <a:solidFill>
                  <a:srgbClr val="00C2D1"/>
                </a:solidFill>
              </a:rPr>
              <a:t>Final Presentation  ·  University of Florida  ·  2026</a:t>
            </a:r>
          </a:p>
        </p:txBody>
      </p:sp>
      <p:sp>
        <p:nvSpPr>
          <p:cNvPr id="9" name="TextBox 8"/>
          <p:cNvSpPr txBox="1"/>
          <p:nvPr/>
        </p:nvSpPr>
        <p:spPr>
          <a:xfrm>
            <a:off x="457200" y="4663440"/>
            <a:ext cx="10972800" cy="365760"/>
          </a:xfrm>
          <a:prstGeom prst="rect">
            <a:avLst/>
          </a:prstGeom>
          <a:noFill/>
        </p:spPr>
        <p:txBody>
          <a:bodyPr wrap="square">
            <a:spAutoFit/>
          </a:bodyPr>
          <a:lstStyle/>
          <a:p>
            <a:pPr algn="l"/>
            <a:r>
              <a:rPr sz="1300" b="0" i="1">
                <a:solidFill>
                  <a:srgbClr val="CCD6E0"/>
                </a:solidFill>
              </a:rPr>
              <a:t>Self-Consistency as an Uncertainty Signal  ·  VQA Faithfulness Scoring  ·  POPE &amp; OK-VQA Benchmarking</a:t>
            </a:r>
          </a:p>
        </p:txBody>
      </p:sp>
      <p:sp>
        <p:nvSpPr>
          <p:cNvPr id="10" name="Rectangle 9"/>
          <p:cNvSpPr/>
          <p:nvPr/>
        </p:nvSpPr>
        <p:spPr>
          <a:xfrm>
            <a:off x="0" y="6355080"/>
            <a:ext cx="12188952" cy="50292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 y="6382512"/>
            <a:ext cx="10972800" cy="365760"/>
          </a:xfrm>
          <a:prstGeom prst="rect">
            <a:avLst/>
          </a:prstGeom>
          <a:noFill/>
        </p:spPr>
        <p:txBody>
          <a:bodyPr wrap="square">
            <a:spAutoFit/>
          </a:bodyPr>
          <a:lstStyle/>
          <a:p>
            <a:pPr algn="ctr"/>
            <a:r>
              <a:rPr sz="1100" b="0" i="0">
                <a:solidFill>
                  <a:srgbClr val="FFFFFF"/>
                </a:solidFill>
              </a:rPr>
              <a:t>Final Project  ·  Hallucination Evaluation in Generative Vision Models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4572000" cy="320040"/>
          </a:xfrm>
          <a:prstGeom prst="rect">
            <a:avLst/>
          </a:prstGeom>
          <a:noFill/>
        </p:spPr>
        <p:txBody>
          <a:bodyPr wrap="square">
            <a:spAutoFit/>
          </a:bodyPr>
          <a:lstStyle/>
          <a:p>
            <a:pPr algn="l"/>
            <a:r>
              <a:rPr sz="1000" b="1" i="1">
                <a:solidFill>
                  <a:srgbClr val="00C2D1"/>
                </a:solidFill>
              </a:rPr>
              <a:t>PROBLEM &amp; GOALS</a:t>
            </a:r>
          </a:p>
        </p:txBody>
      </p:sp>
      <p:sp>
        <p:nvSpPr>
          <p:cNvPr id="4" name="TextBox 3"/>
          <p:cNvSpPr txBox="1"/>
          <p:nvPr/>
        </p:nvSpPr>
        <p:spPr>
          <a:xfrm>
            <a:off x="320040" y="502920"/>
            <a:ext cx="10058400" cy="640080"/>
          </a:xfrm>
          <a:prstGeom prst="rect">
            <a:avLst/>
          </a:prstGeom>
          <a:noFill/>
        </p:spPr>
        <p:txBody>
          <a:bodyPr wrap="square">
            <a:spAutoFit/>
          </a:bodyPr>
          <a:lstStyle/>
          <a:p>
            <a:pPr algn="l"/>
            <a:r>
              <a:rPr sz="3200" b="1" i="0">
                <a:solidFill>
                  <a:srgbClr val="FFFFFF"/>
                </a:solidFill>
              </a:rPr>
              <a:t>The Problem &amp; Project Goals</a:t>
            </a:r>
          </a:p>
        </p:txBody>
      </p:sp>
      <p:sp>
        <p:nvSpPr>
          <p:cNvPr id="5" name="Rectangle 4"/>
          <p:cNvSpPr/>
          <p:nvPr/>
        </p:nvSpPr>
        <p:spPr>
          <a:xfrm>
            <a:off x="0" y="1143000"/>
            <a:ext cx="6400800" cy="41148"/>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1280160"/>
            <a:ext cx="5486400" cy="320040"/>
          </a:xfrm>
          <a:prstGeom prst="rect">
            <a:avLst/>
          </a:prstGeom>
          <a:noFill/>
        </p:spPr>
        <p:txBody>
          <a:bodyPr wrap="square">
            <a:spAutoFit/>
          </a:bodyPr>
          <a:lstStyle/>
          <a:p>
            <a:pPr algn="l"/>
            <a:r>
              <a:rPr sz="1400" b="1" i="0">
                <a:solidFill>
                  <a:srgbClr val="00C2D1"/>
                </a:solidFill>
              </a:rPr>
              <a:t>The Problem</a:t>
            </a:r>
          </a:p>
        </p:txBody>
      </p:sp>
      <p:sp>
        <p:nvSpPr>
          <p:cNvPr id="7" name="TextBox 6"/>
          <p:cNvSpPr txBox="1"/>
          <p:nvPr/>
        </p:nvSpPr>
        <p:spPr>
          <a:xfrm>
            <a:off x="320040" y="1627632"/>
            <a:ext cx="5760720" cy="557784"/>
          </a:xfrm>
          <a:prstGeom prst="rect">
            <a:avLst/>
          </a:prstGeom>
          <a:noFill/>
        </p:spPr>
        <p:txBody>
          <a:bodyPr wrap="square">
            <a:spAutoFit/>
          </a:bodyPr>
          <a:lstStyle/>
          <a:p>
            <a:pPr algn="l"/>
            <a:r>
              <a:rPr sz="1500" b="0" i="0">
                <a:solidFill>
                  <a:srgbClr val="CCD6E0"/>
                </a:solidFill>
              </a:rPr>
              <a:t>▸  Text-to-image models generate photo-realistic images</a:t>
            </a:r>
          </a:p>
        </p:txBody>
      </p:sp>
      <p:sp>
        <p:nvSpPr>
          <p:cNvPr id="8" name="TextBox 7"/>
          <p:cNvSpPr txBox="1"/>
          <p:nvPr/>
        </p:nvSpPr>
        <p:spPr>
          <a:xfrm>
            <a:off x="320040" y="2139696"/>
            <a:ext cx="5760720" cy="557784"/>
          </a:xfrm>
          <a:prstGeom prst="rect">
            <a:avLst/>
          </a:prstGeom>
          <a:noFill/>
        </p:spPr>
        <p:txBody>
          <a:bodyPr wrap="square">
            <a:spAutoFit/>
          </a:bodyPr>
          <a:lstStyle/>
          <a:p>
            <a:pPr algn="l"/>
            <a:r>
              <a:rPr sz="1500" b="0" i="0">
                <a:solidFill>
                  <a:srgbClr val="CCD6E0"/>
                </a:solidFill>
              </a:rPr>
              <a:t>▸  But they frequently violate prompt semantics</a:t>
            </a:r>
          </a:p>
        </p:txBody>
      </p:sp>
      <p:sp>
        <p:nvSpPr>
          <p:cNvPr id="9" name="TextBox 8"/>
          <p:cNvSpPr txBox="1"/>
          <p:nvPr/>
        </p:nvSpPr>
        <p:spPr>
          <a:xfrm>
            <a:off x="320040" y="2651760"/>
            <a:ext cx="5760720" cy="557784"/>
          </a:xfrm>
          <a:prstGeom prst="rect">
            <a:avLst/>
          </a:prstGeom>
          <a:noFill/>
        </p:spPr>
        <p:txBody>
          <a:bodyPr wrap="square">
            <a:spAutoFit/>
          </a:bodyPr>
          <a:lstStyle/>
          <a:p>
            <a:pPr algn="l"/>
            <a:r>
              <a:rPr sz="1500" b="0" i="0">
                <a:solidFill>
                  <a:srgbClr val="CCD6E0"/>
                </a:solidFill>
              </a:rPr>
              <a:t>▸  Wrong colors, missing objects, broken spatial relations</a:t>
            </a:r>
          </a:p>
        </p:txBody>
      </p:sp>
      <p:sp>
        <p:nvSpPr>
          <p:cNvPr id="10" name="TextBox 9"/>
          <p:cNvSpPr txBox="1"/>
          <p:nvPr/>
        </p:nvSpPr>
        <p:spPr>
          <a:xfrm>
            <a:off x="320040" y="3163824"/>
            <a:ext cx="5760720" cy="557784"/>
          </a:xfrm>
          <a:prstGeom prst="rect">
            <a:avLst/>
          </a:prstGeom>
          <a:noFill/>
        </p:spPr>
        <p:txBody>
          <a:bodyPr wrap="square">
            <a:spAutoFit/>
          </a:bodyPr>
          <a:lstStyle/>
          <a:p>
            <a:pPr algn="l"/>
            <a:r>
              <a:rPr sz="1500" b="0" i="0">
                <a:solidFill>
                  <a:srgbClr val="CCD6E0"/>
                </a:solidFill>
              </a:rPr>
              <a:t>▸  These semantic failures are called visual hallucinations</a:t>
            </a:r>
          </a:p>
        </p:txBody>
      </p:sp>
      <p:sp>
        <p:nvSpPr>
          <p:cNvPr id="11" name="TextBox 10"/>
          <p:cNvSpPr txBox="1"/>
          <p:nvPr/>
        </p:nvSpPr>
        <p:spPr>
          <a:xfrm>
            <a:off x="320040" y="3675888"/>
            <a:ext cx="5760720" cy="557784"/>
          </a:xfrm>
          <a:prstGeom prst="rect">
            <a:avLst/>
          </a:prstGeom>
          <a:noFill/>
        </p:spPr>
        <p:txBody>
          <a:bodyPr wrap="square">
            <a:spAutoFit/>
          </a:bodyPr>
          <a:lstStyle/>
          <a:p>
            <a:pPr algn="l"/>
            <a:r>
              <a:rPr sz="1500" b="0" i="0">
                <a:solidFill>
                  <a:srgbClr val="CCD6E0"/>
                </a:solidFill>
              </a:rPr>
              <a:t>▸  Human evaluation does not scale — automation is needed</a:t>
            </a:r>
          </a:p>
        </p:txBody>
      </p:sp>
      <p:sp>
        <p:nvSpPr>
          <p:cNvPr id="12" name="TextBox 11"/>
          <p:cNvSpPr txBox="1"/>
          <p:nvPr/>
        </p:nvSpPr>
        <p:spPr>
          <a:xfrm>
            <a:off x="320040" y="4187952"/>
            <a:ext cx="5760720" cy="557784"/>
          </a:xfrm>
          <a:prstGeom prst="rect">
            <a:avLst/>
          </a:prstGeom>
          <a:noFill/>
        </p:spPr>
        <p:txBody>
          <a:bodyPr wrap="square">
            <a:spAutoFit/>
          </a:bodyPr>
          <a:lstStyle/>
          <a:p>
            <a:pPr algn="l"/>
            <a:r>
              <a:rPr sz="1500" b="0" i="0">
                <a:solidFill>
                  <a:srgbClr val="CCD6E0"/>
                </a:solidFill>
              </a:rPr>
              <a:t>▸  No standardized, free, local evaluation pipeline existed</a:t>
            </a:r>
          </a:p>
        </p:txBody>
      </p:sp>
      <p:sp>
        <p:nvSpPr>
          <p:cNvPr id="13" name="TextBox 12"/>
          <p:cNvSpPr txBox="1"/>
          <p:nvPr/>
        </p:nvSpPr>
        <p:spPr>
          <a:xfrm>
            <a:off x="6400800" y="1280160"/>
            <a:ext cx="5394960" cy="320040"/>
          </a:xfrm>
          <a:prstGeom prst="rect">
            <a:avLst/>
          </a:prstGeom>
          <a:noFill/>
        </p:spPr>
        <p:txBody>
          <a:bodyPr wrap="square">
            <a:spAutoFit/>
          </a:bodyPr>
          <a:lstStyle/>
          <a:p>
            <a:pPr algn="l"/>
            <a:r>
              <a:rPr sz="1400" b="1" i="0">
                <a:solidFill>
                  <a:srgbClr val="00C2D1"/>
                </a:solidFill>
              </a:rPr>
              <a:t>Project Goals</a:t>
            </a:r>
          </a:p>
        </p:txBody>
      </p:sp>
      <p:sp>
        <p:nvSpPr>
          <p:cNvPr id="14" name="Rectangle 13"/>
          <p:cNvSpPr/>
          <p:nvPr/>
        </p:nvSpPr>
        <p:spPr>
          <a:xfrm>
            <a:off x="6400800" y="1627632"/>
            <a:ext cx="5394960" cy="91440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0" y="1627632"/>
            <a:ext cx="54864" cy="914400"/>
          </a:xfrm>
          <a:prstGeom prst="rect">
            <a:avLst/>
          </a:prstGeom>
          <a:solidFill>
            <a:srgbClr val="00C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65392" y="1700784"/>
            <a:ext cx="1371600" cy="320040"/>
          </a:xfrm>
          <a:prstGeom prst="rect">
            <a:avLst/>
          </a:prstGeom>
          <a:noFill/>
        </p:spPr>
        <p:txBody>
          <a:bodyPr wrap="square">
            <a:spAutoFit/>
          </a:bodyPr>
          <a:lstStyle/>
          <a:p>
            <a:pPr algn="l"/>
            <a:r>
              <a:rPr sz="1100" b="1" i="0">
                <a:solidFill>
                  <a:srgbClr val="FA4D00"/>
                </a:solidFill>
              </a:rPr>
              <a:t>Goal 1</a:t>
            </a:r>
          </a:p>
        </p:txBody>
      </p:sp>
      <p:sp>
        <p:nvSpPr>
          <p:cNvPr id="17" name="TextBox 16"/>
          <p:cNvSpPr txBox="1"/>
          <p:nvPr/>
        </p:nvSpPr>
        <p:spPr>
          <a:xfrm>
            <a:off x="6565392" y="2011680"/>
            <a:ext cx="5029200" cy="411480"/>
          </a:xfrm>
          <a:prstGeom prst="rect">
            <a:avLst/>
          </a:prstGeom>
          <a:noFill/>
        </p:spPr>
        <p:txBody>
          <a:bodyPr wrap="square">
            <a:spAutoFit/>
          </a:bodyPr>
          <a:lstStyle/>
          <a:p>
            <a:pPr algn="l"/>
            <a:r>
              <a:rPr sz="1300" b="0" i="0">
                <a:solidFill>
                  <a:srgbClr val="CCD6E0"/>
                </a:solidFill>
              </a:rPr>
              <a:t>Build a training-free faithfulness evaluator</a:t>
            </a:r>
          </a:p>
        </p:txBody>
      </p:sp>
      <p:sp>
        <p:nvSpPr>
          <p:cNvPr id="18" name="Rectangle 17"/>
          <p:cNvSpPr/>
          <p:nvPr/>
        </p:nvSpPr>
        <p:spPr>
          <a:xfrm>
            <a:off x="6400800" y="2706624"/>
            <a:ext cx="5394960" cy="91440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400800" y="2706624"/>
            <a:ext cx="54864" cy="914400"/>
          </a:xfrm>
          <a:prstGeom prst="rect">
            <a:avLst/>
          </a:prstGeom>
          <a:solidFill>
            <a:srgbClr val="00C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65392" y="2779776"/>
            <a:ext cx="1371600" cy="320040"/>
          </a:xfrm>
          <a:prstGeom prst="rect">
            <a:avLst/>
          </a:prstGeom>
          <a:noFill/>
        </p:spPr>
        <p:txBody>
          <a:bodyPr wrap="square">
            <a:spAutoFit/>
          </a:bodyPr>
          <a:lstStyle/>
          <a:p>
            <a:pPr algn="l"/>
            <a:r>
              <a:rPr sz="1100" b="1" i="0">
                <a:solidFill>
                  <a:srgbClr val="FA4D00"/>
                </a:solidFill>
              </a:rPr>
              <a:t>Goal 2</a:t>
            </a:r>
          </a:p>
        </p:txBody>
      </p:sp>
      <p:sp>
        <p:nvSpPr>
          <p:cNvPr id="21" name="TextBox 20"/>
          <p:cNvSpPr txBox="1"/>
          <p:nvPr/>
        </p:nvSpPr>
        <p:spPr>
          <a:xfrm>
            <a:off x="6565392" y="3090672"/>
            <a:ext cx="5029200" cy="411480"/>
          </a:xfrm>
          <a:prstGeom prst="rect">
            <a:avLst/>
          </a:prstGeom>
          <a:noFill/>
        </p:spPr>
        <p:txBody>
          <a:bodyPr wrap="square">
            <a:spAutoFit/>
          </a:bodyPr>
          <a:lstStyle/>
          <a:p>
            <a:pPr algn="l"/>
            <a:r>
              <a:rPr sz="1300" b="0" i="0">
                <a:solidFill>
                  <a:srgbClr val="CCD6E0"/>
                </a:solidFill>
              </a:rPr>
              <a:t>Validate metric against ground-truth labels</a:t>
            </a:r>
          </a:p>
        </p:txBody>
      </p:sp>
      <p:sp>
        <p:nvSpPr>
          <p:cNvPr id="22" name="Rectangle 21"/>
          <p:cNvSpPr/>
          <p:nvPr/>
        </p:nvSpPr>
        <p:spPr>
          <a:xfrm>
            <a:off x="6400800" y="3785615"/>
            <a:ext cx="5394960" cy="91440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400800" y="3785615"/>
            <a:ext cx="54864" cy="914400"/>
          </a:xfrm>
          <a:prstGeom prst="rect">
            <a:avLst/>
          </a:prstGeom>
          <a:solidFill>
            <a:srgbClr val="00C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65392" y="3858768"/>
            <a:ext cx="1371600" cy="320040"/>
          </a:xfrm>
          <a:prstGeom prst="rect">
            <a:avLst/>
          </a:prstGeom>
          <a:noFill/>
        </p:spPr>
        <p:txBody>
          <a:bodyPr wrap="square">
            <a:spAutoFit/>
          </a:bodyPr>
          <a:lstStyle/>
          <a:p>
            <a:pPr algn="l"/>
            <a:r>
              <a:rPr sz="1100" b="1" i="0">
                <a:solidFill>
                  <a:srgbClr val="FA4D00"/>
                </a:solidFill>
              </a:rPr>
              <a:t>Goal 3</a:t>
            </a:r>
          </a:p>
        </p:txBody>
      </p:sp>
      <p:sp>
        <p:nvSpPr>
          <p:cNvPr id="25" name="TextBox 24"/>
          <p:cNvSpPr txBox="1"/>
          <p:nvPr/>
        </p:nvSpPr>
        <p:spPr>
          <a:xfrm>
            <a:off x="6565392" y="4169663"/>
            <a:ext cx="5029200" cy="411480"/>
          </a:xfrm>
          <a:prstGeom prst="rect">
            <a:avLst/>
          </a:prstGeom>
          <a:noFill/>
        </p:spPr>
        <p:txBody>
          <a:bodyPr wrap="square">
            <a:spAutoFit/>
          </a:bodyPr>
          <a:lstStyle/>
          <a:p>
            <a:pPr algn="l"/>
            <a:r>
              <a:rPr sz="1300" b="0" i="0">
                <a:solidFill>
                  <a:srgbClr val="CCD6E0"/>
                </a:solidFill>
              </a:rPr>
              <a:t>Use score variance as uncertainty signal</a:t>
            </a:r>
          </a:p>
        </p:txBody>
      </p:sp>
      <p:sp>
        <p:nvSpPr>
          <p:cNvPr id="26" name="Rectangle 25"/>
          <p:cNvSpPr/>
          <p:nvPr/>
        </p:nvSpPr>
        <p:spPr>
          <a:xfrm>
            <a:off x="6400800" y="4864608"/>
            <a:ext cx="5394960" cy="91440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400800" y="4864608"/>
            <a:ext cx="54864" cy="914400"/>
          </a:xfrm>
          <a:prstGeom prst="rect">
            <a:avLst/>
          </a:prstGeom>
          <a:solidFill>
            <a:srgbClr val="00C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65392" y="4937760"/>
            <a:ext cx="1371600" cy="320040"/>
          </a:xfrm>
          <a:prstGeom prst="rect">
            <a:avLst/>
          </a:prstGeom>
          <a:noFill/>
        </p:spPr>
        <p:txBody>
          <a:bodyPr wrap="square">
            <a:spAutoFit/>
          </a:bodyPr>
          <a:lstStyle/>
          <a:p>
            <a:pPr algn="l"/>
            <a:r>
              <a:rPr sz="1100" b="1" i="0">
                <a:solidFill>
                  <a:srgbClr val="FA4D00"/>
                </a:solidFill>
              </a:rPr>
              <a:t>Goal 4</a:t>
            </a:r>
          </a:p>
        </p:txBody>
      </p:sp>
      <p:sp>
        <p:nvSpPr>
          <p:cNvPr id="29" name="TextBox 28"/>
          <p:cNvSpPr txBox="1"/>
          <p:nvPr/>
        </p:nvSpPr>
        <p:spPr>
          <a:xfrm>
            <a:off x="6565392" y="5248656"/>
            <a:ext cx="5029200" cy="411480"/>
          </a:xfrm>
          <a:prstGeom prst="rect">
            <a:avLst/>
          </a:prstGeom>
          <a:noFill/>
        </p:spPr>
        <p:txBody>
          <a:bodyPr wrap="square">
            <a:spAutoFit/>
          </a:bodyPr>
          <a:lstStyle/>
          <a:p>
            <a:pPr algn="l"/>
            <a:r>
              <a:rPr sz="1300" b="0" i="0">
                <a:solidFill>
                  <a:srgbClr val="CCD6E0"/>
                </a:solidFill>
              </a:rPr>
              <a:t>Run on POPE &amp; OK-VQA labelled benchmarks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00C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4572000" cy="320040"/>
          </a:xfrm>
          <a:prstGeom prst="rect">
            <a:avLst/>
          </a:prstGeom>
          <a:noFill/>
        </p:spPr>
        <p:txBody>
          <a:bodyPr wrap="square">
            <a:spAutoFit/>
          </a:bodyPr>
          <a:lstStyle/>
          <a:p>
            <a:pPr algn="l"/>
            <a:r>
              <a:rPr sz="1000" b="1" i="1">
                <a:solidFill>
                  <a:srgbClr val="00C2D1"/>
                </a:solidFill>
              </a:rPr>
              <a:t>FINAL SYSTEM</a:t>
            </a:r>
          </a:p>
        </p:txBody>
      </p:sp>
      <p:sp>
        <p:nvSpPr>
          <p:cNvPr id="4" name="TextBox 3"/>
          <p:cNvSpPr txBox="1"/>
          <p:nvPr/>
        </p:nvSpPr>
        <p:spPr>
          <a:xfrm>
            <a:off x="320040" y="502920"/>
            <a:ext cx="10058400" cy="640080"/>
          </a:xfrm>
          <a:prstGeom prst="rect">
            <a:avLst/>
          </a:prstGeom>
          <a:noFill/>
        </p:spPr>
        <p:txBody>
          <a:bodyPr wrap="square">
            <a:spAutoFit/>
          </a:bodyPr>
          <a:lstStyle/>
          <a:p>
            <a:pPr algn="l"/>
            <a:r>
              <a:rPr sz="3200" b="1" i="0">
                <a:solidFill>
                  <a:srgbClr val="FFFFFF"/>
                </a:solidFill>
              </a:rPr>
              <a:t>Complete System Architecture</a:t>
            </a:r>
          </a:p>
        </p:txBody>
      </p:sp>
      <p:sp>
        <p:nvSpPr>
          <p:cNvPr id="5" name="Rectangle 4"/>
          <p:cNvSpPr/>
          <p:nvPr/>
        </p:nvSpPr>
        <p:spPr>
          <a:xfrm>
            <a:off x="0" y="1143000"/>
            <a:ext cx="7315200" cy="41148"/>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1298448"/>
            <a:ext cx="1719072" cy="804672"/>
          </a:xfrm>
          <a:prstGeom prst="rect">
            <a:avLst/>
          </a:prstGeom>
          <a:solidFill>
            <a:srgbClr val="00C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59" y="1389888"/>
            <a:ext cx="1627631" cy="667512"/>
          </a:xfrm>
          <a:prstGeom prst="rect">
            <a:avLst/>
          </a:prstGeom>
          <a:noFill/>
        </p:spPr>
        <p:txBody>
          <a:bodyPr wrap="square">
            <a:spAutoFit/>
          </a:bodyPr>
          <a:lstStyle/>
          <a:p>
            <a:pPr algn="ctr"/>
            <a:r>
              <a:rPr sz="1100" b="1" i="0">
                <a:solidFill>
                  <a:srgbClr val="0D1B2A"/>
                </a:solidFill>
              </a:rPr>
              <a:t>Text
Prompt</a:t>
            </a:r>
          </a:p>
        </p:txBody>
      </p:sp>
      <p:sp>
        <p:nvSpPr>
          <p:cNvPr id="8" name="TextBox 7"/>
          <p:cNvSpPr txBox="1"/>
          <p:nvPr/>
        </p:nvSpPr>
        <p:spPr>
          <a:xfrm>
            <a:off x="2039112" y="1554480"/>
            <a:ext cx="182880" cy="320040"/>
          </a:xfrm>
          <a:prstGeom prst="rect">
            <a:avLst/>
          </a:prstGeom>
          <a:noFill/>
        </p:spPr>
        <p:txBody>
          <a:bodyPr wrap="square">
            <a:spAutoFit/>
          </a:bodyPr>
          <a:lstStyle/>
          <a:p>
            <a:pPr algn="ctr"/>
            <a:r>
              <a:rPr sz="1400" b="1" i="0">
                <a:solidFill>
                  <a:srgbClr val="FA4D00"/>
                </a:solidFill>
              </a:rPr>
              <a:t>→</a:t>
            </a:r>
          </a:p>
        </p:txBody>
      </p:sp>
      <p:sp>
        <p:nvSpPr>
          <p:cNvPr id="9" name="Rectangle 8"/>
          <p:cNvSpPr/>
          <p:nvPr/>
        </p:nvSpPr>
        <p:spPr>
          <a:xfrm>
            <a:off x="2221992" y="1298448"/>
            <a:ext cx="1719072" cy="804672"/>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267712" y="1389888"/>
            <a:ext cx="1627631" cy="667512"/>
          </a:xfrm>
          <a:prstGeom prst="rect">
            <a:avLst/>
          </a:prstGeom>
          <a:noFill/>
        </p:spPr>
        <p:txBody>
          <a:bodyPr wrap="square">
            <a:spAutoFit/>
          </a:bodyPr>
          <a:lstStyle/>
          <a:p>
            <a:pPr algn="ctr"/>
            <a:r>
              <a:rPr sz="1100" b="1" i="0">
                <a:solidFill>
                  <a:srgbClr val="FFFFFF"/>
                </a:solidFill>
              </a:rPr>
              <a:t>Image
Generation</a:t>
            </a:r>
          </a:p>
        </p:txBody>
      </p:sp>
      <p:sp>
        <p:nvSpPr>
          <p:cNvPr id="11" name="TextBox 10"/>
          <p:cNvSpPr txBox="1"/>
          <p:nvPr/>
        </p:nvSpPr>
        <p:spPr>
          <a:xfrm>
            <a:off x="3941064" y="1554480"/>
            <a:ext cx="182880" cy="320040"/>
          </a:xfrm>
          <a:prstGeom prst="rect">
            <a:avLst/>
          </a:prstGeom>
          <a:noFill/>
        </p:spPr>
        <p:txBody>
          <a:bodyPr wrap="square">
            <a:spAutoFit/>
          </a:bodyPr>
          <a:lstStyle/>
          <a:p>
            <a:pPr algn="ctr"/>
            <a:r>
              <a:rPr sz="1400" b="1" i="0">
                <a:solidFill>
                  <a:srgbClr val="FA4D00"/>
                </a:solidFill>
              </a:rPr>
              <a:t>→</a:t>
            </a:r>
          </a:p>
        </p:txBody>
      </p:sp>
      <p:sp>
        <p:nvSpPr>
          <p:cNvPr id="12" name="Rectangle 11"/>
          <p:cNvSpPr/>
          <p:nvPr/>
        </p:nvSpPr>
        <p:spPr>
          <a:xfrm>
            <a:off x="4123944" y="1298448"/>
            <a:ext cx="1719072" cy="804672"/>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69663" y="1389888"/>
            <a:ext cx="1627631" cy="667512"/>
          </a:xfrm>
          <a:prstGeom prst="rect">
            <a:avLst/>
          </a:prstGeom>
          <a:noFill/>
        </p:spPr>
        <p:txBody>
          <a:bodyPr wrap="square">
            <a:spAutoFit/>
          </a:bodyPr>
          <a:lstStyle/>
          <a:p>
            <a:pPr algn="ctr"/>
            <a:r>
              <a:rPr sz="1100" b="1" i="0">
                <a:solidFill>
                  <a:srgbClr val="FFFFFF"/>
                </a:solidFill>
              </a:rPr>
              <a:t>Smart
Parser</a:t>
            </a:r>
          </a:p>
        </p:txBody>
      </p:sp>
      <p:sp>
        <p:nvSpPr>
          <p:cNvPr id="14" name="TextBox 13"/>
          <p:cNvSpPr txBox="1"/>
          <p:nvPr/>
        </p:nvSpPr>
        <p:spPr>
          <a:xfrm>
            <a:off x="5843016" y="1554480"/>
            <a:ext cx="182880" cy="320040"/>
          </a:xfrm>
          <a:prstGeom prst="rect">
            <a:avLst/>
          </a:prstGeom>
          <a:noFill/>
        </p:spPr>
        <p:txBody>
          <a:bodyPr wrap="square">
            <a:spAutoFit/>
          </a:bodyPr>
          <a:lstStyle/>
          <a:p>
            <a:pPr algn="ctr"/>
            <a:r>
              <a:rPr sz="1400" b="1" i="0">
                <a:solidFill>
                  <a:srgbClr val="FA4D00"/>
                </a:solidFill>
              </a:rPr>
              <a:t>→</a:t>
            </a:r>
          </a:p>
        </p:txBody>
      </p:sp>
      <p:sp>
        <p:nvSpPr>
          <p:cNvPr id="15" name="Rectangle 14"/>
          <p:cNvSpPr/>
          <p:nvPr/>
        </p:nvSpPr>
        <p:spPr>
          <a:xfrm>
            <a:off x="6025896" y="1298448"/>
            <a:ext cx="1719072" cy="804672"/>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071616" y="1389888"/>
            <a:ext cx="1627631" cy="667512"/>
          </a:xfrm>
          <a:prstGeom prst="rect">
            <a:avLst/>
          </a:prstGeom>
          <a:noFill/>
        </p:spPr>
        <p:txBody>
          <a:bodyPr wrap="square">
            <a:spAutoFit/>
          </a:bodyPr>
          <a:lstStyle/>
          <a:p>
            <a:pPr algn="ctr"/>
            <a:r>
              <a:rPr sz="1100" b="1" i="0">
                <a:solidFill>
                  <a:srgbClr val="FFFFFF"/>
                </a:solidFill>
              </a:rPr>
              <a:t>BLIP-VQA
Checks</a:t>
            </a:r>
          </a:p>
        </p:txBody>
      </p:sp>
      <p:sp>
        <p:nvSpPr>
          <p:cNvPr id="17" name="TextBox 16"/>
          <p:cNvSpPr txBox="1"/>
          <p:nvPr/>
        </p:nvSpPr>
        <p:spPr>
          <a:xfrm>
            <a:off x="7744967" y="1554480"/>
            <a:ext cx="182880" cy="320040"/>
          </a:xfrm>
          <a:prstGeom prst="rect">
            <a:avLst/>
          </a:prstGeom>
          <a:noFill/>
        </p:spPr>
        <p:txBody>
          <a:bodyPr wrap="square">
            <a:spAutoFit/>
          </a:bodyPr>
          <a:lstStyle/>
          <a:p>
            <a:pPr algn="ctr"/>
            <a:r>
              <a:rPr sz="1400" b="1" i="0">
                <a:solidFill>
                  <a:srgbClr val="FA4D00"/>
                </a:solidFill>
              </a:rPr>
              <a:t>→</a:t>
            </a:r>
          </a:p>
        </p:txBody>
      </p:sp>
      <p:sp>
        <p:nvSpPr>
          <p:cNvPr id="18" name="Rectangle 17"/>
          <p:cNvSpPr/>
          <p:nvPr/>
        </p:nvSpPr>
        <p:spPr>
          <a:xfrm>
            <a:off x="7927848" y="1298448"/>
            <a:ext cx="1719072" cy="804672"/>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973568" y="1389888"/>
            <a:ext cx="1627631" cy="667512"/>
          </a:xfrm>
          <a:prstGeom prst="rect">
            <a:avLst/>
          </a:prstGeom>
          <a:noFill/>
        </p:spPr>
        <p:txBody>
          <a:bodyPr wrap="square">
            <a:spAutoFit/>
          </a:bodyPr>
          <a:lstStyle/>
          <a:p>
            <a:pPr algn="ctr"/>
            <a:r>
              <a:rPr sz="1100" b="1" i="0">
                <a:solidFill>
                  <a:srgbClr val="FFFFFF"/>
                </a:solidFill>
              </a:rPr>
              <a:t>Faithfulness
Score</a:t>
            </a:r>
          </a:p>
        </p:txBody>
      </p:sp>
      <p:sp>
        <p:nvSpPr>
          <p:cNvPr id="20" name="TextBox 19"/>
          <p:cNvSpPr txBox="1"/>
          <p:nvPr/>
        </p:nvSpPr>
        <p:spPr>
          <a:xfrm>
            <a:off x="9646920" y="1554480"/>
            <a:ext cx="182880" cy="320040"/>
          </a:xfrm>
          <a:prstGeom prst="rect">
            <a:avLst/>
          </a:prstGeom>
          <a:noFill/>
        </p:spPr>
        <p:txBody>
          <a:bodyPr wrap="square">
            <a:spAutoFit/>
          </a:bodyPr>
          <a:lstStyle/>
          <a:p>
            <a:pPr algn="ctr"/>
            <a:r>
              <a:rPr sz="1400" b="1" i="0">
                <a:solidFill>
                  <a:srgbClr val="FA4D00"/>
                </a:solidFill>
              </a:rPr>
              <a:t>→</a:t>
            </a:r>
          </a:p>
        </p:txBody>
      </p:sp>
      <p:sp>
        <p:nvSpPr>
          <p:cNvPr id="21" name="Rectangle 20"/>
          <p:cNvSpPr/>
          <p:nvPr/>
        </p:nvSpPr>
        <p:spPr>
          <a:xfrm>
            <a:off x="9829800" y="1298448"/>
            <a:ext cx="1719072" cy="8046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875520" y="1389888"/>
            <a:ext cx="1627631" cy="667512"/>
          </a:xfrm>
          <a:prstGeom prst="rect">
            <a:avLst/>
          </a:prstGeom>
          <a:noFill/>
        </p:spPr>
        <p:txBody>
          <a:bodyPr wrap="square">
            <a:spAutoFit/>
          </a:bodyPr>
          <a:lstStyle/>
          <a:p>
            <a:pPr algn="ctr"/>
            <a:r>
              <a:rPr sz="1100" b="1" i="0">
                <a:solidFill>
                  <a:srgbClr val="FFFFFF"/>
                </a:solidFill>
              </a:rPr>
              <a:t>Risk
Label</a:t>
            </a:r>
          </a:p>
        </p:txBody>
      </p:sp>
      <p:sp>
        <p:nvSpPr>
          <p:cNvPr id="23" name="TextBox 22"/>
          <p:cNvSpPr txBox="1"/>
          <p:nvPr/>
        </p:nvSpPr>
        <p:spPr>
          <a:xfrm>
            <a:off x="320040" y="2331720"/>
            <a:ext cx="10972800" cy="347472"/>
          </a:xfrm>
          <a:prstGeom prst="rect">
            <a:avLst/>
          </a:prstGeom>
          <a:noFill/>
        </p:spPr>
        <p:txBody>
          <a:bodyPr wrap="square">
            <a:spAutoFit/>
          </a:bodyPr>
          <a:lstStyle/>
          <a:p>
            <a:pPr algn="l"/>
            <a:r>
              <a:rPr sz="1300" b="1" i="0">
                <a:solidFill>
                  <a:srgbClr val="00C2D1"/>
                </a:solidFill>
              </a:rPr>
              <a:t>SELF-CONSISTENCY BRANCH  (N images per prompt)</a:t>
            </a:r>
          </a:p>
        </p:txBody>
      </p:sp>
      <p:sp>
        <p:nvSpPr>
          <p:cNvPr id="24" name="Rectangle 23"/>
          <p:cNvSpPr/>
          <p:nvPr/>
        </p:nvSpPr>
        <p:spPr>
          <a:xfrm>
            <a:off x="320040" y="2651760"/>
            <a:ext cx="1719072" cy="749808"/>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5759" y="2706624"/>
            <a:ext cx="1627631" cy="658368"/>
          </a:xfrm>
          <a:prstGeom prst="rect">
            <a:avLst/>
          </a:prstGeom>
          <a:noFill/>
        </p:spPr>
        <p:txBody>
          <a:bodyPr wrap="square">
            <a:spAutoFit/>
          </a:bodyPr>
          <a:lstStyle/>
          <a:p>
            <a:pPr algn="ctr"/>
            <a:r>
              <a:rPr sz="1000" b="1" i="0">
                <a:solidFill>
                  <a:srgbClr val="FFFFFF"/>
                </a:solidFill>
              </a:rPr>
              <a:t>Same
Prompt</a:t>
            </a:r>
          </a:p>
        </p:txBody>
      </p:sp>
      <p:sp>
        <p:nvSpPr>
          <p:cNvPr id="26" name="TextBox 25"/>
          <p:cNvSpPr txBox="1"/>
          <p:nvPr/>
        </p:nvSpPr>
        <p:spPr>
          <a:xfrm>
            <a:off x="2039112" y="2834640"/>
            <a:ext cx="182880" cy="320040"/>
          </a:xfrm>
          <a:prstGeom prst="rect">
            <a:avLst/>
          </a:prstGeom>
          <a:noFill/>
        </p:spPr>
        <p:txBody>
          <a:bodyPr wrap="square">
            <a:spAutoFit/>
          </a:bodyPr>
          <a:lstStyle/>
          <a:p>
            <a:pPr algn="ctr"/>
            <a:r>
              <a:rPr sz="1400" b="1" i="0">
                <a:solidFill>
                  <a:srgbClr val="00C2D1"/>
                </a:solidFill>
              </a:rPr>
              <a:t>→</a:t>
            </a:r>
          </a:p>
        </p:txBody>
      </p:sp>
      <p:sp>
        <p:nvSpPr>
          <p:cNvPr id="27" name="Rectangle 26"/>
          <p:cNvSpPr/>
          <p:nvPr/>
        </p:nvSpPr>
        <p:spPr>
          <a:xfrm>
            <a:off x="2221992" y="2651760"/>
            <a:ext cx="1719072" cy="749808"/>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267712" y="2706624"/>
            <a:ext cx="1627631" cy="658368"/>
          </a:xfrm>
          <a:prstGeom prst="rect">
            <a:avLst/>
          </a:prstGeom>
          <a:noFill/>
        </p:spPr>
        <p:txBody>
          <a:bodyPr wrap="square">
            <a:spAutoFit/>
          </a:bodyPr>
          <a:lstStyle/>
          <a:p>
            <a:pPr algn="ctr"/>
            <a:r>
              <a:rPr sz="1000" b="1" i="0">
                <a:solidFill>
                  <a:srgbClr val="FFFFFF"/>
                </a:solidFill>
              </a:rPr>
              <a:t>Generate
N=3–5</a:t>
            </a:r>
          </a:p>
        </p:txBody>
      </p:sp>
      <p:sp>
        <p:nvSpPr>
          <p:cNvPr id="29" name="TextBox 28"/>
          <p:cNvSpPr txBox="1"/>
          <p:nvPr/>
        </p:nvSpPr>
        <p:spPr>
          <a:xfrm>
            <a:off x="3941064" y="2834640"/>
            <a:ext cx="182880" cy="320040"/>
          </a:xfrm>
          <a:prstGeom prst="rect">
            <a:avLst/>
          </a:prstGeom>
          <a:noFill/>
        </p:spPr>
        <p:txBody>
          <a:bodyPr wrap="square">
            <a:spAutoFit/>
          </a:bodyPr>
          <a:lstStyle/>
          <a:p>
            <a:pPr algn="ctr"/>
            <a:r>
              <a:rPr sz="1400" b="1" i="0">
                <a:solidFill>
                  <a:srgbClr val="00C2D1"/>
                </a:solidFill>
              </a:rPr>
              <a:t>→</a:t>
            </a:r>
          </a:p>
        </p:txBody>
      </p:sp>
      <p:sp>
        <p:nvSpPr>
          <p:cNvPr id="30" name="Rectangle 29"/>
          <p:cNvSpPr/>
          <p:nvPr/>
        </p:nvSpPr>
        <p:spPr>
          <a:xfrm>
            <a:off x="4123944" y="2651760"/>
            <a:ext cx="1719072" cy="749808"/>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69663" y="2706624"/>
            <a:ext cx="1627631" cy="658368"/>
          </a:xfrm>
          <a:prstGeom prst="rect">
            <a:avLst/>
          </a:prstGeom>
          <a:noFill/>
        </p:spPr>
        <p:txBody>
          <a:bodyPr wrap="square">
            <a:spAutoFit/>
          </a:bodyPr>
          <a:lstStyle/>
          <a:p>
            <a:pPr algn="ctr"/>
            <a:r>
              <a:rPr sz="1000" b="1" i="0">
                <a:solidFill>
                  <a:srgbClr val="FFFFFF"/>
                </a:solidFill>
              </a:rPr>
              <a:t>Per-image
Score</a:t>
            </a:r>
          </a:p>
        </p:txBody>
      </p:sp>
      <p:sp>
        <p:nvSpPr>
          <p:cNvPr id="32" name="TextBox 31"/>
          <p:cNvSpPr txBox="1"/>
          <p:nvPr/>
        </p:nvSpPr>
        <p:spPr>
          <a:xfrm>
            <a:off x="5843016" y="2834640"/>
            <a:ext cx="182880" cy="320040"/>
          </a:xfrm>
          <a:prstGeom prst="rect">
            <a:avLst/>
          </a:prstGeom>
          <a:noFill/>
        </p:spPr>
        <p:txBody>
          <a:bodyPr wrap="square">
            <a:spAutoFit/>
          </a:bodyPr>
          <a:lstStyle/>
          <a:p>
            <a:pPr algn="ctr"/>
            <a:r>
              <a:rPr sz="1400" b="1" i="0">
                <a:solidFill>
                  <a:srgbClr val="00C2D1"/>
                </a:solidFill>
              </a:rPr>
              <a:t>→</a:t>
            </a:r>
          </a:p>
        </p:txBody>
      </p:sp>
      <p:sp>
        <p:nvSpPr>
          <p:cNvPr id="33" name="Rectangle 32"/>
          <p:cNvSpPr/>
          <p:nvPr/>
        </p:nvSpPr>
        <p:spPr>
          <a:xfrm>
            <a:off x="6025896" y="2651760"/>
            <a:ext cx="1719072" cy="749808"/>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071616" y="2706624"/>
            <a:ext cx="1627631" cy="658368"/>
          </a:xfrm>
          <a:prstGeom prst="rect">
            <a:avLst/>
          </a:prstGeom>
          <a:noFill/>
        </p:spPr>
        <p:txBody>
          <a:bodyPr wrap="square">
            <a:spAutoFit/>
          </a:bodyPr>
          <a:lstStyle/>
          <a:p>
            <a:pPr algn="ctr"/>
            <a:r>
              <a:rPr sz="1000" b="1" i="0">
                <a:solidFill>
                  <a:srgbClr val="FFFFFF"/>
                </a:solidFill>
              </a:rPr>
              <a:t>Variance
Analysis</a:t>
            </a:r>
          </a:p>
        </p:txBody>
      </p:sp>
      <p:sp>
        <p:nvSpPr>
          <p:cNvPr id="35" name="TextBox 34"/>
          <p:cNvSpPr txBox="1"/>
          <p:nvPr/>
        </p:nvSpPr>
        <p:spPr>
          <a:xfrm>
            <a:off x="7744967" y="2834640"/>
            <a:ext cx="182880" cy="320040"/>
          </a:xfrm>
          <a:prstGeom prst="rect">
            <a:avLst/>
          </a:prstGeom>
          <a:noFill/>
        </p:spPr>
        <p:txBody>
          <a:bodyPr wrap="square">
            <a:spAutoFit/>
          </a:bodyPr>
          <a:lstStyle/>
          <a:p>
            <a:pPr algn="ctr"/>
            <a:r>
              <a:rPr sz="1400" b="1" i="0">
                <a:solidFill>
                  <a:srgbClr val="00C2D1"/>
                </a:solidFill>
              </a:rPr>
              <a:t>→</a:t>
            </a:r>
          </a:p>
        </p:txBody>
      </p:sp>
      <p:sp>
        <p:nvSpPr>
          <p:cNvPr id="36" name="Rectangle 35"/>
          <p:cNvSpPr/>
          <p:nvPr/>
        </p:nvSpPr>
        <p:spPr>
          <a:xfrm>
            <a:off x="7927848" y="2651760"/>
            <a:ext cx="1719072" cy="749808"/>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973568" y="2706624"/>
            <a:ext cx="1627631" cy="658368"/>
          </a:xfrm>
          <a:prstGeom prst="rect">
            <a:avLst/>
          </a:prstGeom>
          <a:noFill/>
        </p:spPr>
        <p:txBody>
          <a:bodyPr wrap="square">
            <a:spAutoFit/>
          </a:bodyPr>
          <a:lstStyle/>
          <a:p>
            <a:pPr algn="ctr"/>
            <a:r>
              <a:rPr sz="1000" b="1" i="0">
                <a:solidFill>
                  <a:srgbClr val="FFFFFF"/>
                </a:solidFill>
              </a:rPr>
              <a:t>Uncertainty
Signal</a:t>
            </a:r>
          </a:p>
        </p:txBody>
      </p:sp>
      <p:sp>
        <p:nvSpPr>
          <p:cNvPr id="38" name="Rectangle 37"/>
          <p:cNvSpPr/>
          <p:nvPr/>
        </p:nvSpPr>
        <p:spPr>
          <a:xfrm>
            <a:off x="320040" y="3611880"/>
            <a:ext cx="2816352" cy="173736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20040" y="3611880"/>
            <a:ext cx="54864" cy="173736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57200" y="3703320"/>
            <a:ext cx="2587752" cy="320040"/>
          </a:xfrm>
          <a:prstGeom prst="rect">
            <a:avLst/>
          </a:prstGeom>
          <a:noFill/>
        </p:spPr>
        <p:txBody>
          <a:bodyPr wrap="square">
            <a:spAutoFit/>
          </a:bodyPr>
          <a:lstStyle/>
          <a:p>
            <a:pPr algn="l"/>
            <a:r>
              <a:rPr sz="1200" b="1" i="0">
                <a:solidFill>
                  <a:srgbClr val="00C2D1"/>
                </a:solidFill>
              </a:rPr>
              <a:t>Generation</a:t>
            </a:r>
          </a:p>
        </p:txBody>
      </p:sp>
      <p:sp>
        <p:nvSpPr>
          <p:cNvPr id="41" name="TextBox 40"/>
          <p:cNvSpPr txBox="1"/>
          <p:nvPr/>
        </p:nvSpPr>
        <p:spPr>
          <a:xfrm>
            <a:off x="502920" y="3995928"/>
            <a:ext cx="2496312" cy="320040"/>
          </a:xfrm>
          <a:prstGeom prst="rect">
            <a:avLst/>
          </a:prstGeom>
          <a:noFill/>
        </p:spPr>
        <p:txBody>
          <a:bodyPr wrap="square">
            <a:spAutoFit/>
          </a:bodyPr>
          <a:lstStyle/>
          <a:p>
            <a:pPr algn="l"/>
            <a:r>
              <a:rPr sz="1100" b="0" i="0">
                <a:solidFill>
                  <a:srgbClr val="CCD6E0"/>
                </a:solidFill>
              </a:rPr>
              <a:t>SD v1.5 / SDXL-Turbo</a:t>
            </a:r>
          </a:p>
        </p:txBody>
      </p:sp>
      <p:sp>
        <p:nvSpPr>
          <p:cNvPr id="42" name="TextBox 41"/>
          <p:cNvSpPr txBox="1"/>
          <p:nvPr/>
        </p:nvSpPr>
        <p:spPr>
          <a:xfrm>
            <a:off x="502920" y="4288536"/>
            <a:ext cx="2496312" cy="320040"/>
          </a:xfrm>
          <a:prstGeom prst="rect">
            <a:avLst/>
          </a:prstGeom>
          <a:noFill/>
        </p:spPr>
        <p:txBody>
          <a:bodyPr wrap="square">
            <a:spAutoFit/>
          </a:bodyPr>
          <a:lstStyle/>
          <a:p>
            <a:pPr algn="l"/>
            <a:r>
              <a:rPr sz="1100" b="0" i="0">
                <a:solidFill>
                  <a:srgbClr val="CCD6E0"/>
                </a:solidFill>
              </a:rPr>
              <a:t>512×512 · up to 4 steps (Turbo)</a:t>
            </a:r>
          </a:p>
        </p:txBody>
      </p:sp>
      <p:sp>
        <p:nvSpPr>
          <p:cNvPr id="43" name="Rectangle 42"/>
          <p:cNvSpPr/>
          <p:nvPr/>
        </p:nvSpPr>
        <p:spPr>
          <a:xfrm>
            <a:off x="3264408" y="3611880"/>
            <a:ext cx="2816352" cy="173736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3264408" y="3611880"/>
            <a:ext cx="54864" cy="173736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401568" y="3703320"/>
            <a:ext cx="2587752" cy="320040"/>
          </a:xfrm>
          <a:prstGeom prst="rect">
            <a:avLst/>
          </a:prstGeom>
          <a:noFill/>
        </p:spPr>
        <p:txBody>
          <a:bodyPr wrap="square">
            <a:spAutoFit/>
          </a:bodyPr>
          <a:lstStyle/>
          <a:p>
            <a:pPr algn="l"/>
            <a:r>
              <a:rPr sz="1200" b="1" i="0">
                <a:solidFill>
                  <a:srgbClr val="00C2D1"/>
                </a:solidFill>
              </a:rPr>
              <a:t>VQA</a:t>
            </a:r>
          </a:p>
        </p:txBody>
      </p:sp>
      <p:sp>
        <p:nvSpPr>
          <p:cNvPr id="46" name="TextBox 45"/>
          <p:cNvSpPr txBox="1"/>
          <p:nvPr/>
        </p:nvSpPr>
        <p:spPr>
          <a:xfrm>
            <a:off x="3447288" y="3995928"/>
            <a:ext cx="2496312" cy="320040"/>
          </a:xfrm>
          <a:prstGeom prst="rect">
            <a:avLst/>
          </a:prstGeom>
          <a:noFill/>
        </p:spPr>
        <p:txBody>
          <a:bodyPr wrap="square">
            <a:spAutoFit/>
          </a:bodyPr>
          <a:lstStyle/>
          <a:p>
            <a:pPr algn="l"/>
            <a:r>
              <a:rPr sz="1100" b="0" i="0">
                <a:solidFill>
                  <a:srgbClr val="CCD6E0"/>
                </a:solidFill>
              </a:rPr>
              <a:t>BLIP-VQA</a:t>
            </a:r>
          </a:p>
        </p:txBody>
      </p:sp>
      <p:sp>
        <p:nvSpPr>
          <p:cNvPr id="47" name="TextBox 46"/>
          <p:cNvSpPr txBox="1"/>
          <p:nvPr/>
        </p:nvSpPr>
        <p:spPr>
          <a:xfrm>
            <a:off x="3447288" y="4288536"/>
            <a:ext cx="2496312" cy="320040"/>
          </a:xfrm>
          <a:prstGeom prst="rect">
            <a:avLst/>
          </a:prstGeom>
          <a:noFill/>
        </p:spPr>
        <p:txBody>
          <a:bodyPr wrap="square">
            <a:spAutoFit/>
          </a:bodyPr>
          <a:lstStyle/>
          <a:p>
            <a:pPr algn="l"/>
            <a:r>
              <a:rPr sz="1100" b="0" i="0">
                <a:solidFill>
                  <a:srgbClr val="CCD6E0"/>
                </a:solidFill>
              </a:rPr>
              <a:t>Yes/No · Color · Count · Spatial</a:t>
            </a:r>
          </a:p>
        </p:txBody>
      </p:sp>
      <p:sp>
        <p:nvSpPr>
          <p:cNvPr id="48" name="Rectangle 47"/>
          <p:cNvSpPr/>
          <p:nvPr/>
        </p:nvSpPr>
        <p:spPr>
          <a:xfrm>
            <a:off x="6208776" y="3611880"/>
            <a:ext cx="2816352" cy="173736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6208776" y="3611880"/>
            <a:ext cx="54864" cy="173736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345936" y="3703320"/>
            <a:ext cx="2587752" cy="320040"/>
          </a:xfrm>
          <a:prstGeom prst="rect">
            <a:avLst/>
          </a:prstGeom>
          <a:noFill/>
        </p:spPr>
        <p:txBody>
          <a:bodyPr wrap="square">
            <a:spAutoFit/>
          </a:bodyPr>
          <a:lstStyle/>
          <a:p>
            <a:pPr algn="l"/>
            <a:r>
              <a:rPr sz="1200" b="1" i="0">
                <a:solidFill>
                  <a:srgbClr val="00C2D1"/>
                </a:solidFill>
              </a:rPr>
              <a:t>Semantic</a:t>
            </a:r>
          </a:p>
        </p:txBody>
      </p:sp>
      <p:sp>
        <p:nvSpPr>
          <p:cNvPr id="51" name="TextBox 50"/>
          <p:cNvSpPr txBox="1"/>
          <p:nvPr/>
        </p:nvSpPr>
        <p:spPr>
          <a:xfrm>
            <a:off x="6391656" y="3995928"/>
            <a:ext cx="2496312" cy="320040"/>
          </a:xfrm>
          <a:prstGeom prst="rect">
            <a:avLst/>
          </a:prstGeom>
          <a:noFill/>
        </p:spPr>
        <p:txBody>
          <a:bodyPr wrap="square">
            <a:spAutoFit/>
          </a:bodyPr>
          <a:lstStyle/>
          <a:p>
            <a:pPr algn="l"/>
            <a:r>
              <a:rPr sz="1100" b="0" i="0">
                <a:solidFill>
                  <a:srgbClr val="CCD6E0"/>
                </a:solidFill>
              </a:rPr>
              <a:t>CLIP ViT-B/32</a:t>
            </a:r>
          </a:p>
        </p:txBody>
      </p:sp>
      <p:sp>
        <p:nvSpPr>
          <p:cNvPr id="52" name="TextBox 51"/>
          <p:cNvSpPr txBox="1"/>
          <p:nvPr/>
        </p:nvSpPr>
        <p:spPr>
          <a:xfrm>
            <a:off x="6391656" y="4288536"/>
            <a:ext cx="2496312" cy="320040"/>
          </a:xfrm>
          <a:prstGeom prst="rect">
            <a:avLst/>
          </a:prstGeom>
          <a:noFill/>
        </p:spPr>
        <p:txBody>
          <a:bodyPr wrap="square">
            <a:spAutoFit/>
          </a:bodyPr>
          <a:lstStyle/>
          <a:p>
            <a:pPr algn="l"/>
            <a:r>
              <a:rPr sz="1100" b="0" i="0">
                <a:solidFill>
                  <a:srgbClr val="CCD6E0"/>
                </a:solidFill>
              </a:rPr>
              <a:t>Cosine prompt–image similarity</a:t>
            </a:r>
          </a:p>
        </p:txBody>
      </p:sp>
      <p:sp>
        <p:nvSpPr>
          <p:cNvPr id="53" name="Rectangle 52"/>
          <p:cNvSpPr/>
          <p:nvPr/>
        </p:nvSpPr>
        <p:spPr>
          <a:xfrm>
            <a:off x="9153144" y="3611880"/>
            <a:ext cx="2816352" cy="173736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9153144" y="3611880"/>
            <a:ext cx="54864" cy="173736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290304" y="3703320"/>
            <a:ext cx="2587752" cy="320040"/>
          </a:xfrm>
          <a:prstGeom prst="rect">
            <a:avLst/>
          </a:prstGeom>
          <a:noFill/>
        </p:spPr>
        <p:txBody>
          <a:bodyPr wrap="square">
            <a:spAutoFit/>
          </a:bodyPr>
          <a:lstStyle/>
          <a:p>
            <a:pPr algn="l"/>
            <a:r>
              <a:rPr sz="1200" b="1" i="0">
                <a:solidFill>
                  <a:srgbClr val="00C2D1"/>
                </a:solidFill>
              </a:rPr>
              <a:t>Captioning</a:t>
            </a:r>
          </a:p>
        </p:txBody>
      </p:sp>
      <p:sp>
        <p:nvSpPr>
          <p:cNvPr id="56" name="TextBox 55"/>
          <p:cNvSpPr txBox="1"/>
          <p:nvPr/>
        </p:nvSpPr>
        <p:spPr>
          <a:xfrm>
            <a:off x="9336024" y="3995928"/>
            <a:ext cx="2496312" cy="320040"/>
          </a:xfrm>
          <a:prstGeom prst="rect">
            <a:avLst/>
          </a:prstGeom>
          <a:noFill/>
        </p:spPr>
        <p:txBody>
          <a:bodyPr wrap="square">
            <a:spAutoFit/>
          </a:bodyPr>
          <a:lstStyle/>
          <a:p>
            <a:pPr algn="l"/>
            <a:r>
              <a:rPr sz="1100" b="0" i="0">
                <a:solidFill>
                  <a:srgbClr val="CCD6E0"/>
                </a:solidFill>
              </a:rPr>
              <a:t>BLIP Captioner</a:t>
            </a:r>
          </a:p>
        </p:txBody>
      </p:sp>
      <p:sp>
        <p:nvSpPr>
          <p:cNvPr id="57" name="TextBox 56"/>
          <p:cNvSpPr txBox="1"/>
          <p:nvPr/>
        </p:nvSpPr>
        <p:spPr>
          <a:xfrm>
            <a:off x="9336024" y="4288536"/>
            <a:ext cx="2496312" cy="320040"/>
          </a:xfrm>
          <a:prstGeom prst="rect">
            <a:avLst/>
          </a:prstGeom>
          <a:noFill/>
        </p:spPr>
        <p:txBody>
          <a:bodyPr wrap="square">
            <a:spAutoFit/>
          </a:bodyPr>
          <a:lstStyle/>
          <a:p>
            <a:pPr algn="l"/>
            <a:r>
              <a:rPr sz="1100" b="0" i="0">
                <a:solidFill>
                  <a:srgbClr val="CCD6E0"/>
                </a:solidFill>
              </a:rPr>
              <a:t>Optional secondary signal</a:t>
            </a:r>
          </a:p>
        </p:txBody>
      </p:sp>
      <p:sp>
        <p:nvSpPr>
          <p:cNvPr id="58" name="TextBox 57"/>
          <p:cNvSpPr txBox="1"/>
          <p:nvPr/>
        </p:nvSpPr>
        <p:spPr>
          <a:xfrm>
            <a:off x="320040" y="5577840"/>
            <a:ext cx="11430000" cy="347472"/>
          </a:xfrm>
          <a:prstGeom prst="rect">
            <a:avLst/>
          </a:prstGeom>
          <a:noFill/>
        </p:spPr>
        <p:txBody>
          <a:bodyPr wrap="square">
            <a:spAutoFit/>
          </a:bodyPr>
          <a:lstStyle/>
          <a:p>
            <a:pPr algn="l"/>
            <a:r>
              <a:rPr sz="1200" b="0" i="1">
                <a:solidFill>
                  <a:srgbClr val="CCD6E0"/>
                </a:solidFill>
              </a:rPr>
              <a:t>Stack:  PyTorch · Diffusers · Transformers · Gradio · HuggingFace · scikit-learn · scipy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4572000" cy="320040"/>
          </a:xfrm>
          <a:prstGeom prst="rect">
            <a:avLst/>
          </a:prstGeom>
          <a:noFill/>
        </p:spPr>
        <p:txBody>
          <a:bodyPr wrap="square">
            <a:spAutoFit/>
          </a:bodyPr>
          <a:lstStyle/>
          <a:p>
            <a:pPr algn="l"/>
            <a:r>
              <a:rPr sz="1000" b="1" i="1">
                <a:solidFill>
                  <a:srgbClr val="00C2D1"/>
                </a:solidFill>
              </a:rPr>
              <a:t>COMPLETE IMPLEMENTATION</a:t>
            </a:r>
          </a:p>
        </p:txBody>
      </p:sp>
      <p:sp>
        <p:nvSpPr>
          <p:cNvPr id="4" name="TextBox 3"/>
          <p:cNvSpPr txBox="1"/>
          <p:nvPr/>
        </p:nvSpPr>
        <p:spPr>
          <a:xfrm>
            <a:off x="320040" y="502920"/>
            <a:ext cx="10058400" cy="640080"/>
          </a:xfrm>
          <a:prstGeom prst="rect">
            <a:avLst/>
          </a:prstGeom>
          <a:noFill/>
        </p:spPr>
        <p:txBody>
          <a:bodyPr wrap="square">
            <a:spAutoFit/>
          </a:bodyPr>
          <a:lstStyle/>
          <a:p>
            <a:pPr algn="l"/>
            <a:r>
              <a:rPr sz="3200" b="1" i="0">
                <a:solidFill>
                  <a:srgbClr val="FFFFFF"/>
                </a:solidFill>
              </a:rPr>
              <a:t>Five-Tab Gradio Interface</a:t>
            </a:r>
          </a:p>
        </p:txBody>
      </p:sp>
      <p:sp>
        <p:nvSpPr>
          <p:cNvPr id="5" name="Rectangle 4"/>
          <p:cNvSpPr/>
          <p:nvPr/>
        </p:nvSpPr>
        <p:spPr>
          <a:xfrm>
            <a:off x="0" y="1143000"/>
            <a:ext cx="6400800" cy="41148"/>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1298448"/>
            <a:ext cx="5760720" cy="786384"/>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298448"/>
            <a:ext cx="54864" cy="786384"/>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353312"/>
            <a:ext cx="822960" cy="320040"/>
          </a:xfrm>
          <a:prstGeom prst="rect">
            <a:avLst/>
          </a:prstGeom>
          <a:noFill/>
        </p:spPr>
        <p:txBody>
          <a:bodyPr wrap="square">
            <a:spAutoFit/>
          </a:bodyPr>
          <a:lstStyle/>
          <a:p>
            <a:pPr algn="l"/>
            <a:r>
              <a:rPr sz="1100" b="1" i="0">
                <a:solidFill>
                  <a:srgbClr val="FA4D00"/>
                </a:solidFill>
              </a:rPr>
              <a:t>Tab 1</a:t>
            </a:r>
          </a:p>
        </p:txBody>
      </p:sp>
      <p:sp>
        <p:nvSpPr>
          <p:cNvPr id="9" name="TextBox 8"/>
          <p:cNvSpPr txBox="1"/>
          <p:nvPr/>
        </p:nvSpPr>
        <p:spPr>
          <a:xfrm>
            <a:off x="1234440" y="1353312"/>
            <a:ext cx="4572000" cy="347472"/>
          </a:xfrm>
          <a:prstGeom prst="rect">
            <a:avLst/>
          </a:prstGeom>
          <a:noFill/>
        </p:spPr>
        <p:txBody>
          <a:bodyPr wrap="square">
            <a:spAutoFit/>
          </a:bodyPr>
          <a:lstStyle/>
          <a:p>
            <a:pPr algn="l"/>
            <a:r>
              <a:rPr sz="1300" b="1" i="0">
                <a:solidFill>
                  <a:srgbClr val="FFFFFF"/>
                </a:solidFill>
              </a:rPr>
              <a:t>Single Prompt Evaluation</a:t>
            </a:r>
          </a:p>
        </p:txBody>
      </p:sp>
      <p:sp>
        <p:nvSpPr>
          <p:cNvPr id="10" name="TextBox 9"/>
          <p:cNvSpPr txBox="1"/>
          <p:nvPr/>
        </p:nvSpPr>
        <p:spPr>
          <a:xfrm>
            <a:off x="1234440" y="1719072"/>
            <a:ext cx="4572000" cy="292608"/>
          </a:xfrm>
          <a:prstGeom prst="rect">
            <a:avLst/>
          </a:prstGeom>
          <a:noFill/>
        </p:spPr>
        <p:txBody>
          <a:bodyPr wrap="square">
            <a:spAutoFit/>
          </a:bodyPr>
          <a:lstStyle/>
          <a:p>
            <a:pPr algn="l"/>
            <a:r>
              <a:rPr sz="1100" b="0" i="1">
                <a:solidFill>
                  <a:srgbClr val="CCD6E0"/>
                </a:solidFill>
              </a:rPr>
              <a:t>Generate image · VQA checks · CLIP · BLIP caption</a:t>
            </a:r>
          </a:p>
        </p:txBody>
      </p:sp>
      <p:sp>
        <p:nvSpPr>
          <p:cNvPr id="11" name="Rectangle 10"/>
          <p:cNvSpPr/>
          <p:nvPr/>
        </p:nvSpPr>
        <p:spPr>
          <a:xfrm>
            <a:off x="320040" y="2139696"/>
            <a:ext cx="5760720" cy="786384"/>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0040" y="2139696"/>
            <a:ext cx="54864" cy="786384"/>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2194560"/>
            <a:ext cx="822960" cy="320040"/>
          </a:xfrm>
          <a:prstGeom prst="rect">
            <a:avLst/>
          </a:prstGeom>
          <a:noFill/>
        </p:spPr>
        <p:txBody>
          <a:bodyPr wrap="square">
            <a:spAutoFit/>
          </a:bodyPr>
          <a:lstStyle/>
          <a:p>
            <a:pPr algn="l"/>
            <a:r>
              <a:rPr sz="1100" b="1" i="0">
                <a:solidFill>
                  <a:srgbClr val="FA4D00"/>
                </a:solidFill>
              </a:rPr>
              <a:t>Tab 2</a:t>
            </a:r>
          </a:p>
        </p:txBody>
      </p:sp>
      <p:sp>
        <p:nvSpPr>
          <p:cNvPr id="14" name="TextBox 13"/>
          <p:cNvSpPr txBox="1"/>
          <p:nvPr/>
        </p:nvSpPr>
        <p:spPr>
          <a:xfrm>
            <a:off x="1234440" y="2194560"/>
            <a:ext cx="4572000" cy="347472"/>
          </a:xfrm>
          <a:prstGeom prst="rect">
            <a:avLst/>
          </a:prstGeom>
          <a:noFill/>
        </p:spPr>
        <p:txBody>
          <a:bodyPr wrap="square">
            <a:spAutoFit/>
          </a:bodyPr>
          <a:lstStyle/>
          <a:p>
            <a:pPr algn="l"/>
            <a:r>
              <a:rPr sz="1300" b="1" i="0">
                <a:solidFill>
                  <a:srgbClr val="FFFFFF"/>
                </a:solidFill>
              </a:rPr>
              <a:t>Multi-Image Self-Consistency</a:t>
            </a:r>
          </a:p>
        </p:txBody>
      </p:sp>
      <p:sp>
        <p:nvSpPr>
          <p:cNvPr id="15" name="TextBox 14"/>
          <p:cNvSpPr txBox="1"/>
          <p:nvPr/>
        </p:nvSpPr>
        <p:spPr>
          <a:xfrm>
            <a:off x="1234440" y="2560320"/>
            <a:ext cx="4572000" cy="292608"/>
          </a:xfrm>
          <a:prstGeom prst="rect">
            <a:avLst/>
          </a:prstGeom>
          <a:noFill/>
        </p:spPr>
        <p:txBody>
          <a:bodyPr wrap="square">
            <a:spAutoFit/>
          </a:bodyPr>
          <a:lstStyle/>
          <a:p>
            <a:pPr algn="l"/>
            <a:r>
              <a:rPr sz="1100" b="0" i="1">
                <a:solidFill>
                  <a:srgbClr val="CCD6E0"/>
                </a:solidFill>
              </a:rPr>
              <a:t>N generations · variance · uncertainty signal</a:t>
            </a:r>
          </a:p>
        </p:txBody>
      </p:sp>
      <p:sp>
        <p:nvSpPr>
          <p:cNvPr id="16" name="Rectangle 15"/>
          <p:cNvSpPr/>
          <p:nvPr/>
        </p:nvSpPr>
        <p:spPr>
          <a:xfrm>
            <a:off x="320040" y="2980944"/>
            <a:ext cx="5760720" cy="786384"/>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20040" y="2980944"/>
            <a:ext cx="54864" cy="786384"/>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3035808"/>
            <a:ext cx="822960" cy="320040"/>
          </a:xfrm>
          <a:prstGeom prst="rect">
            <a:avLst/>
          </a:prstGeom>
          <a:noFill/>
        </p:spPr>
        <p:txBody>
          <a:bodyPr wrap="square">
            <a:spAutoFit/>
          </a:bodyPr>
          <a:lstStyle/>
          <a:p>
            <a:pPr algn="l"/>
            <a:r>
              <a:rPr sz="1100" b="1" i="0">
                <a:solidFill>
                  <a:srgbClr val="FA4D00"/>
                </a:solidFill>
              </a:rPr>
              <a:t>Tab 3</a:t>
            </a:r>
          </a:p>
        </p:txBody>
      </p:sp>
      <p:sp>
        <p:nvSpPr>
          <p:cNvPr id="19" name="TextBox 18"/>
          <p:cNvSpPr txBox="1"/>
          <p:nvPr/>
        </p:nvSpPr>
        <p:spPr>
          <a:xfrm>
            <a:off x="1234440" y="3035808"/>
            <a:ext cx="4572000" cy="347472"/>
          </a:xfrm>
          <a:prstGeom prst="rect">
            <a:avLst/>
          </a:prstGeom>
          <a:noFill/>
        </p:spPr>
        <p:txBody>
          <a:bodyPr wrap="square">
            <a:spAutoFit/>
          </a:bodyPr>
          <a:lstStyle/>
          <a:p>
            <a:pPr algn="l"/>
            <a:r>
              <a:rPr sz="1300" b="1" i="0">
                <a:solidFill>
                  <a:srgbClr val="FFFFFF"/>
                </a:solidFill>
              </a:rPr>
              <a:t>POPE Benchmark</a:t>
            </a:r>
          </a:p>
        </p:txBody>
      </p:sp>
      <p:sp>
        <p:nvSpPr>
          <p:cNvPr id="20" name="TextBox 19"/>
          <p:cNvSpPr txBox="1"/>
          <p:nvPr/>
        </p:nvSpPr>
        <p:spPr>
          <a:xfrm>
            <a:off x="1234440" y="3401568"/>
            <a:ext cx="4572000" cy="292608"/>
          </a:xfrm>
          <a:prstGeom prst="rect">
            <a:avLst/>
          </a:prstGeom>
          <a:noFill/>
        </p:spPr>
        <p:txBody>
          <a:bodyPr wrap="square">
            <a:spAutoFit/>
          </a:bodyPr>
          <a:lstStyle/>
          <a:p>
            <a:pPr algn="l"/>
            <a:r>
              <a:rPr sz="1100" b="0" i="1">
                <a:solidFill>
                  <a:srgbClr val="CCD6E0"/>
                </a:solidFill>
              </a:rPr>
              <a:t>Binary hallucination labels · ROC-AUC · accuracy</a:t>
            </a:r>
          </a:p>
        </p:txBody>
      </p:sp>
      <p:sp>
        <p:nvSpPr>
          <p:cNvPr id="21" name="Rectangle 20"/>
          <p:cNvSpPr/>
          <p:nvPr/>
        </p:nvSpPr>
        <p:spPr>
          <a:xfrm>
            <a:off x="320040" y="3822191"/>
            <a:ext cx="5760720" cy="786384"/>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20040" y="3822191"/>
            <a:ext cx="54864" cy="786384"/>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3877055"/>
            <a:ext cx="822960" cy="320040"/>
          </a:xfrm>
          <a:prstGeom prst="rect">
            <a:avLst/>
          </a:prstGeom>
          <a:noFill/>
        </p:spPr>
        <p:txBody>
          <a:bodyPr wrap="square">
            <a:spAutoFit/>
          </a:bodyPr>
          <a:lstStyle/>
          <a:p>
            <a:pPr algn="l"/>
            <a:r>
              <a:rPr sz="1100" b="1" i="0">
                <a:solidFill>
                  <a:srgbClr val="FA4D00"/>
                </a:solidFill>
              </a:rPr>
              <a:t>Tab 4</a:t>
            </a:r>
          </a:p>
        </p:txBody>
      </p:sp>
      <p:sp>
        <p:nvSpPr>
          <p:cNvPr id="24" name="TextBox 23"/>
          <p:cNvSpPr txBox="1"/>
          <p:nvPr/>
        </p:nvSpPr>
        <p:spPr>
          <a:xfrm>
            <a:off x="1234440" y="3877055"/>
            <a:ext cx="4572000" cy="347472"/>
          </a:xfrm>
          <a:prstGeom prst="rect">
            <a:avLst/>
          </a:prstGeom>
          <a:noFill/>
        </p:spPr>
        <p:txBody>
          <a:bodyPr wrap="square">
            <a:spAutoFit/>
          </a:bodyPr>
          <a:lstStyle/>
          <a:p>
            <a:pPr algn="l"/>
            <a:r>
              <a:rPr sz="1300" b="1" i="0">
                <a:solidFill>
                  <a:srgbClr val="FFFFFF"/>
                </a:solidFill>
              </a:rPr>
              <a:t>OK-VQA Benchmark</a:t>
            </a:r>
          </a:p>
        </p:txBody>
      </p:sp>
      <p:sp>
        <p:nvSpPr>
          <p:cNvPr id="25" name="TextBox 24"/>
          <p:cNvSpPr txBox="1"/>
          <p:nvPr/>
        </p:nvSpPr>
        <p:spPr>
          <a:xfrm>
            <a:off x="1234440" y="4242816"/>
            <a:ext cx="4572000" cy="292608"/>
          </a:xfrm>
          <a:prstGeom prst="rect">
            <a:avLst/>
          </a:prstGeom>
          <a:noFill/>
        </p:spPr>
        <p:txBody>
          <a:bodyPr wrap="square">
            <a:spAutoFit/>
          </a:bodyPr>
          <a:lstStyle/>
          <a:p>
            <a:pPr algn="l"/>
            <a:r>
              <a:rPr sz="1100" b="0" i="1">
                <a:solidFill>
                  <a:srgbClr val="CCD6E0"/>
                </a:solidFill>
              </a:rPr>
              <a:t>Answer agreement · VQA pipeline validation</a:t>
            </a:r>
          </a:p>
        </p:txBody>
      </p:sp>
      <p:sp>
        <p:nvSpPr>
          <p:cNvPr id="26" name="Rectangle 25"/>
          <p:cNvSpPr/>
          <p:nvPr/>
        </p:nvSpPr>
        <p:spPr>
          <a:xfrm>
            <a:off x="320040" y="4663440"/>
            <a:ext cx="5760720" cy="786384"/>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20040" y="4663440"/>
            <a:ext cx="54864" cy="786384"/>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4718303"/>
            <a:ext cx="822960" cy="320040"/>
          </a:xfrm>
          <a:prstGeom prst="rect">
            <a:avLst/>
          </a:prstGeom>
          <a:noFill/>
        </p:spPr>
        <p:txBody>
          <a:bodyPr wrap="square">
            <a:spAutoFit/>
          </a:bodyPr>
          <a:lstStyle/>
          <a:p>
            <a:pPr algn="l"/>
            <a:r>
              <a:rPr sz="1100" b="1" i="0">
                <a:solidFill>
                  <a:srgbClr val="FA4D00"/>
                </a:solidFill>
              </a:rPr>
              <a:t>Tab 5</a:t>
            </a:r>
          </a:p>
        </p:txBody>
      </p:sp>
      <p:sp>
        <p:nvSpPr>
          <p:cNvPr id="29" name="TextBox 28"/>
          <p:cNvSpPr txBox="1"/>
          <p:nvPr/>
        </p:nvSpPr>
        <p:spPr>
          <a:xfrm>
            <a:off x="1234440" y="4718303"/>
            <a:ext cx="4572000" cy="347472"/>
          </a:xfrm>
          <a:prstGeom prst="rect">
            <a:avLst/>
          </a:prstGeom>
          <a:noFill/>
        </p:spPr>
        <p:txBody>
          <a:bodyPr wrap="square">
            <a:spAutoFit/>
          </a:bodyPr>
          <a:lstStyle/>
          <a:p>
            <a:pPr algn="l"/>
            <a:r>
              <a:rPr sz="1300" b="1" i="0">
                <a:solidFill>
                  <a:srgbClr val="FFFFFF"/>
                </a:solidFill>
              </a:rPr>
              <a:t>Large-Scale Flickr30k</a:t>
            </a:r>
          </a:p>
        </p:txBody>
      </p:sp>
      <p:sp>
        <p:nvSpPr>
          <p:cNvPr id="30" name="TextBox 29"/>
          <p:cNvSpPr txBox="1"/>
          <p:nvPr/>
        </p:nvSpPr>
        <p:spPr>
          <a:xfrm>
            <a:off x="1234440" y="5084064"/>
            <a:ext cx="4572000" cy="292608"/>
          </a:xfrm>
          <a:prstGeom prst="rect">
            <a:avLst/>
          </a:prstGeom>
          <a:noFill/>
        </p:spPr>
        <p:txBody>
          <a:bodyPr wrap="square">
            <a:spAutoFit/>
          </a:bodyPr>
          <a:lstStyle/>
          <a:p>
            <a:pPr algn="l"/>
            <a:r>
              <a:rPr sz="1100" b="0" i="1">
                <a:solidFill>
                  <a:srgbClr val="CCD6E0"/>
                </a:solidFill>
              </a:rPr>
              <a:t>1500+ examples · GT vs Generated · CSV export</a:t>
            </a:r>
          </a:p>
        </p:txBody>
      </p:sp>
      <p:sp>
        <p:nvSpPr>
          <p:cNvPr id="31" name="Rectangle 30"/>
          <p:cNvSpPr/>
          <p:nvPr/>
        </p:nvSpPr>
        <p:spPr>
          <a:xfrm>
            <a:off x="6309360" y="1234440"/>
            <a:ext cx="5577840" cy="411480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0" y="3108960"/>
            <a:ext cx="5394959" cy="365760"/>
          </a:xfrm>
          <a:prstGeom prst="rect">
            <a:avLst/>
          </a:prstGeom>
          <a:noFill/>
        </p:spPr>
        <p:txBody>
          <a:bodyPr wrap="square">
            <a:spAutoFit/>
          </a:bodyPr>
          <a:lstStyle/>
          <a:p>
            <a:pPr algn="ctr"/>
            <a:r>
              <a:rPr sz="1100" b="0" i="1">
                <a:solidFill>
                  <a:srgbClr val="CCD6E0"/>
                </a:solidFill>
              </a:rPr>
              <a:t>[ Screenshot: tab1_single_prompt.png ]</a:t>
            </a:r>
          </a:p>
        </p:txBody>
      </p:sp>
      <p:sp>
        <p:nvSpPr>
          <p:cNvPr id="33" name="TextBox 32"/>
          <p:cNvSpPr txBox="1"/>
          <p:nvPr/>
        </p:nvSpPr>
        <p:spPr>
          <a:xfrm>
            <a:off x="6309360" y="5376672"/>
            <a:ext cx="5577840" cy="457200"/>
          </a:xfrm>
          <a:prstGeom prst="rect">
            <a:avLst/>
          </a:prstGeom>
          <a:noFill/>
        </p:spPr>
        <p:txBody>
          <a:bodyPr wrap="square">
            <a:spAutoFit/>
          </a:bodyPr>
          <a:lstStyle/>
          <a:p>
            <a:pPr algn="ctr"/>
            <a:r>
              <a:rPr sz="1000" b="0" i="1">
                <a:solidFill>
                  <a:srgbClr val="CCD6E0"/>
                </a:solidFill>
              </a:rPr>
              <a:t>Fig 1. Tab 1 — Single-prompt evaluation:
generated image + metric summary + VQA pass/fail table.</a:t>
            </a:r>
          </a:p>
        </p:txBody>
      </p:sp>
      <p:sp>
        <p:nvSpPr>
          <p:cNvPr id="34" name="TextBox 33"/>
          <p:cNvSpPr txBox="1"/>
          <p:nvPr/>
        </p:nvSpPr>
        <p:spPr>
          <a:xfrm>
            <a:off x="320040" y="6291072"/>
            <a:ext cx="11430000" cy="276999"/>
          </a:xfrm>
          <a:prstGeom prst="rect">
            <a:avLst/>
          </a:prstGeom>
          <a:noFill/>
        </p:spPr>
        <p:txBody>
          <a:bodyPr wrap="square" lIns="91440" tIns="45720" rIns="91440" bIns="45720" anchor="t">
            <a:spAutoFit/>
          </a:bodyPr>
          <a:lstStyle/>
          <a:p>
            <a:pPr algn="ctr"/>
            <a:r>
              <a:rPr sz="1200" b="0" i="1">
                <a:solidFill>
                  <a:srgbClr val="00C2D1"/>
                </a:solidFill>
              </a:rPr>
              <a:t>Public URL available via Hugging Face Spaces</a:t>
            </a:r>
            <a:r>
              <a:rPr lang="en-US" sz="1200" i="1">
                <a:solidFill>
                  <a:srgbClr val="00C2D1"/>
                </a:solidFill>
              </a:rPr>
              <a:t>: </a:t>
            </a:r>
            <a:r>
              <a:rPr lang="en-US" sz="1200" i="1" dirty="0">
                <a:solidFill>
                  <a:srgbClr val="00C2D1"/>
                </a:solidFill>
                <a:hlinkClick r:id="rId3"/>
              </a:rPr>
              <a:t>Link</a:t>
            </a:r>
            <a:endParaRPr sz="1200" b="0" i="1">
              <a:solidFill>
                <a:srgbClr val="00C2D1"/>
              </a:solidFill>
            </a:endParaRPr>
          </a:p>
        </p:txBody>
      </p:sp>
      <p:pic>
        <p:nvPicPr>
          <p:cNvPr id="35" name="Picture 34">
            <a:extLst>
              <a:ext uri="{FF2B5EF4-FFF2-40B4-BE49-F238E27FC236}">
                <a16:creationId xmlns:a16="http://schemas.microsoft.com/office/drawing/2014/main" id="{5390DB64-C7EE-CA2D-34D3-6C6651DA1A97}"/>
              </a:ext>
            </a:extLst>
          </p:cNvPr>
          <p:cNvPicPr>
            <a:picLocks noChangeAspect="1"/>
          </p:cNvPicPr>
          <p:nvPr/>
        </p:nvPicPr>
        <p:blipFill>
          <a:blip r:embed="rId4"/>
          <a:stretch>
            <a:fillRect/>
          </a:stretch>
        </p:blipFill>
        <p:spPr>
          <a:xfrm>
            <a:off x="6438597" y="1324264"/>
            <a:ext cx="5316716" cy="393220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00C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4572000" cy="320040"/>
          </a:xfrm>
          <a:prstGeom prst="rect">
            <a:avLst/>
          </a:prstGeom>
          <a:noFill/>
        </p:spPr>
        <p:txBody>
          <a:bodyPr wrap="square">
            <a:spAutoFit/>
          </a:bodyPr>
          <a:lstStyle/>
          <a:p>
            <a:pPr algn="l"/>
            <a:r>
              <a:rPr sz="1000" b="1" i="1">
                <a:solidFill>
                  <a:srgbClr val="00C2D1"/>
                </a:solidFill>
              </a:rPr>
              <a:t>DATASETS &amp; BENCHMARKS</a:t>
            </a:r>
          </a:p>
        </p:txBody>
      </p:sp>
      <p:sp>
        <p:nvSpPr>
          <p:cNvPr id="4" name="TextBox 3"/>
          <p:cNvSpPr txBox="1"/>
          <p:nvPr/>
        </p:nvSpPr>
        <p:spPr>
          <a:xfrm>
            <a:off x="320040" y="502920"/>
            <a:ext cx="10972800" cy="640080"/>
          </a:xfrm>
          <a:prstGeom prst="rect">
            <a:avLst/>
          </a:prstGeom>
          <a:noFill/>
        </p:spPr>
        <p:txBody>
          <a:bodyPr wrap="square">
            <a:spAutoFit/>
          </a:bodyPr>
          <a:lstStyle/>
          <a:p>
            <a:pPr algn="l"/>
            <a:r>
              <a:rPr sz="3000" b="1" i="0">
                <a:solidFill>
                  <a:srgbClr val="FFFFFF"/>
                </a:solidFill>
              </a:rPr>
              <a:t>Three Datasets — Three Different Validation Roles</a:t>
            </a:r>
          </a:p>
        </p:txBody>
      </p:sp>
      <p:sp>
        <p:nvSpPr>
          <p:cNvPr id="5" name="Rectangle 4"/>
          <p:cNvSpPr/>
          <p:nvPr/>
        </p:nvSpPr>
        <p:spPr>
          <a:xfrm>
            <a:off x="0" y="1143000"/>
            <a:ext cx="8229600" cy="41148"/>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1371600"/>
            <a:ext cx="3749039" cy="502920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371600"/>
            <a:ext cx="3749039" cy="73152"/>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481328"/>
            <a:ext cx="3474720" cy="594360"/>
          </a:xfrm>
          <a:prstGeom prst="rect">
            <a:avLst/>
          </a:prstGeom>
          <a:noFill/>
        </p:spPr>
        <p:txBody>
          <a:bodyPr wrap="square">
            <a:spAutoFit/>
          </a:bodyPr>
          <a:lstStyle/>
          <a:p>
            <a:pPr algn="ctr"/>
            <a:r>
              <a:rPr sz="1600" b="1" i="0">
                <a:solidFill>
                  <a:srgbClr val="FA4D00"/>
                </a:solidFill>
              </a:rPr>
              <a:t>Flickr30k
(lmms-lab)</a:t>
            </a:r>
          </a:p>
        </p:txBody>
      </p:sp>
      <p:sp>
        <p:nvSpPr>
          <p:cNvPr id="9" name="TextBox 8"/>
          <p:cNvSpPr txBox="1"/>
          <p:nvPr/>
        </p:nvSpPr>
        <p:spPr>
          <a:xfrm>
            <a:off x="502920" y="2148840"/>
            <a:ext cx="3429000" cy="502920"/>
          </a:xfrm>
          <a:prstGeom prst="rect">
            <a:avLst/>
          </a:prstGeom>
          <a:noFill/>
        </p:spPr>
        <p:txBody>
          <a:bodyPr wrap="square">
            <a:spAutoFit/>
          </a:bodyPr>
          <a:lstStyle/>
          <a:p>
            <a:pPr algn="l"/>
            <a:r>
              <a:rPr sz="1300" b="0" i="0">
                <a:solidFill>
                  <a:srgbClr val="CCD6E0"/>
                </a:solidFill>
              </a:rPr>
              <a:t>▸  Real caption–image pairs (29,000+)</a:t>
            </a:r>
          </a:p>
        </p:txBody>
      </p:sp>
      <p:sp>
        <p:nvSpPr>
          <p:cNvPr id="10" name="TextBox 9"/>
          <p:cNvSpPr txBox="1"/>
          <p:nvPr/>
        </p:nvSpPr>
        <p:spPr>
          <a:xfrm>
            <a:off x="502920" y="2715768"/>
            <a:ext cx="3429000" cy="502920"/>
          </a:xfrm>
          <a:prstGeom prst="rect">
            <a:avLst/>
          </a:prstGeom>
          <a:noFill/>
        </p:spPr>
        <p:txBody>
          <a:bodyPr wrap="square">
            <a:spAutoFit/>
          </a:bodyPr>
          <a:lstStyle/>
          <a:p>
            <a:pPr algn="l"/>
            <a:r>
              <a:rPr sz="1300" b="0" i="0">
                <a:solidFill>
                  <a:srgbClr val="CCD6E0"/>
                </a:solidFill>
              </a:rPr>
              <a:t>▸  Used for GT vs Generated comparison</a:t>
            </a:r>
          </a:p>
        </p:txBody>
      </p:sp>
      <p:sp>
        <p:nvSpPr>
          <p:cNvPr id="11" name="TextBox 10"/>
          <p:cNvSpPr txBox="1"/>
          <p:nvPr/>
        </p:nvSpPr>
        <p:spPr>
          <a:xfrm>
            <a:off x="502920" y="3282696"/>
            <a:ext cx="3429000" cy="502920"/>
          </a:xfrm>
          <a:prstGeom prst="rect">
            <a:avLst/>
          </a:prstGeom>
          <a:noFill/>
        </p:spPr>
        <p:txBody>
          <a:bodyPr wrap="square">
            <a:spAutoFit/>
          </a:bodyPr>
          <a:lstStyle/>
          <a:p>
            <a:pPr algn="l"/>
            <a:r>
              <a:rPr sz="1300" b="0" i="0">
                <a:solidFill>
                  <a:srgbClr val="CCD6E0"/>
                </a:solidFill>
              </a:rPr>
              <a:t>▸  Validates metric is non-random</a:t>
            </a:r>
          </a:p>
        </p:txBody>
      </p:sp>
      <p:sp>
        <p:nvSpPr>
          <p:cNvPr id="12" name="TextBox 11"/>
          <p:cNvSpPr txBox="1"/>
          <p:nvPr/>
        </p:nvSpPr>
        <p:spPr>
          <a:xfrm>
            <a:off x="502920" y="3849624"/>
            <a:ext cx="3429000" cy="502920"/>
          </a:xfrm>
          <a:prstGeom prst="rect">
            <a:avLst/>
          </a:prstGeom>
          <a:noFill/>
        </p:spPr>
        <p:txBody>
          <a:bodyPr wrap="square">
            <a:spAutoFit/>
          </a:bodyPr>
          <a:lstStyle/>
          <a:p>
            <a:pPr algn="l"/>
            <a:r>
              <a:rPr sz="1300" b="0" i="0">
                <a:solidFill>
                  <a:srgbClr val="CCD6E0"/>
                </a:solidFill>
              </a:rPr>
              <a:t>▸  1,500 examples evaluated</a:t>
            </a:r>
          </a:p>
        </p:txBody>
      </p:sp>
      <p:sp>
        <p:nvSpPr>
          <p:cNvPr id="13" name="TextBox 12"/>
          <p:cNvSpPr txBox="1"/>
          <p:nvPr/>
        </p:nvSpPr>
        <p:spPr>
          <a:xfrm>
            <a:off x="502920" y="4416552"/>
            <a:ext cx="3429000" cy="502920"/>
          </a:xfrm>
          <a:prstGeom prst="rect">
            <a:avLst/>
          </a:prstGeom>
          <a:noFill/>
        </p:spPr>
        <p:txBody>
          <a:bodyPr wrap="square">
            <a:spAutoFit/>
          </a:bodyPr>
          <a:lstStyle/>
          <a:p>
            <a:pPr algn="l"/>
            <a:r>
              <a:rPr sz="1300" b="0" i="0">
                <a:solidFill>
                  <a:srgbClr val="CCD6E0"/>
                </a:solidFill>
              </a:rPr>
              <a:t>▸  ROC-AUC: GT labels = 1, Gen = 0</a:t>
            </a:r>
          </a:p>
        </p:txBody>
      </p:sp>
      <p:sp>
        <p:nvSpPr>
          <p:cNvPr id="14" name="Rectangle 13"/>
          <p:cNvSpPr/>
          <p:nvPr/>
        </p:nvSpPr>
        <p:spPr>
          <a:xfrm>
            <a:off x="4233672" y="1371600"/>
            <a:ext cx="3749039" cy="502920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33672" y="1371600"/>
            <a:ext cx="3749039" cy="73152"/>
          </a:xfrm>
          <a:prstGeom prst="rect">
            <a:avLst/>
          </a:prstGeom>
          <a:solidFill>
            <a:srgbClr val="00C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70832" y="1481328"/>
            <a:ext cx="3474720" cy="594360"/>
          </a:xfrm>
          <a:prstGeom prst="rect">
            <a:avLst/>
          </a:prstGeom>
          <a:noFill/>
        </p:spPr>
        <p:txBody>
          <a:bodyPr wrap="square">
            <a:spAutoFit/>
          </a:bodyPr>
          <a:lstStyle/>
          <a:p>
            <a:pPr algn="ctr"/>
            <a:r>
              <a:rPr sz="1600" b="1" i="0">
                <a:solidFill>
                  <a:srgbClr val="00C2D1"/>
                </a:solidFill>
              </a:rPr>
              <a:t>POPE
(lmms-lab)</a:t>
            </a:r>
          </a:p>
        </p:txBody>
      </p:sp>
      <p:sp>
        <p:nvSpPr>
          <p:cNvPr id="17" name="TextBox 16"/>
          <p:cNvSpPr txBox="1"/>
          <p:nvPr/>
        </p:nvSpPr>
        <p:spPr>
          <a:xfrm>
            <a:off x="4416552" y="2148840"/>
            <a:ext cx="3429000" cy="502920"/>
          </a:xfrm>
          <a:prstGeom prst="rect">
            <a:avLst/>
          </a:prstGeom>
          <a:noFill/>
        </p:spPr>
        <p:txBody>
          <a:bodyPr wrap="square">
            <a:spAutoFit/>
          </a:bodyPr>
          <a:lstStyle/>
          <a:p>
            <a:pPr algn="l"/>
            <a:r>
              <a:rPr sz="1300" b="0" i="0">
                <a:solidFill>
                  <a:srgbClr val="CCD6E0"/>
                </a:solidFill>
              </a:rPr>
              <a:t>▸  9,000 binary hallucination labels</a:t>
            </a:r>
          </a:p>
        </p:txBody>
      </p:sp>
      <p:sp>
        <p:nvSpPr>
          <p:cNvPr id="18" name="TextBox 17"/>
          <p:cNvSpPr txBox="1"/>
          <p:nvPr/>
        </p:nvSpPr>
        <p:spPr>
          <a:xfrm>
            <a:off x="4416552" y="2715768"/>
            <a:ext cx="3429000" cy="502920"/>
          </a:xfrm>
          <a:prstGeom prst="rect">
            <a:avLst/>
          </a:prstGeom>
          <a:noFill/>
        </p:spPr>
        <p:txBody>
          <a:bodyPr wrap="square">
            <a:spAutoFit/>
          </a:bodyPr>
          <a:lstStyle/>
          <a:p>
            <a:pPr algn="l"/>
            <a:r>
              <a:rPr sz="1300" b="0" i="0">
                <a:solidFill>
                  <a:srgbClr val="CCD6E0"/>
                </a:solidFill>
              </a:rPr>
              <a:t>▸  Yes/No object existence questions</a:t>
            </a:r>
          </a:p>
        </p:txBody>
      </p:sp>
      <p:sp>
        <p:nvSpPr>
          <p:cNvPr id="19" name="TextBox 18"/>
          <p:cNvSpPr txBox="1"/>
          <p:nvPr/>
        </p:nvSpPr>
        <p:spPr>
          <a:xfrm>
            <a:off x="4416552" y="3282696"/>
            <a:ext cx="3429000" cy="502920"/>
          </a:xfrm>
          <a:prstGeom prst="rect">
            <a:avLst/>
          </a:prstGeom>
          <a:noFill/>
        </p:spPr>
        <p:txBody>
          <a:bodyPr wrap="square">
            <a:spAutoFit/>
          </a:bodyPr>
          <a:lstStyle/>
          <a:p>
            <a:pPr algn="l"/>
            <a:r>
              <a:rPr sz="1300" b="0" i="0">
                <a:solidFill>
                  <a:srgbClr val="CCD6E0"/>
                </a:solidFill>
              </a:rPr>
              <a:t>▸  Ground-truth: object present or absent</a:t>
            </a:r>
          </a:p>
        </p:txBody>
      </p:sp>
      <p:sp>
        <p:nvSpPr>
          <p:cNvPr id="20" name="TextBox 19"/>
          <p:cNvSpPr txBox="1"/>
          <p:nvPr/>
        </p:nvSpPr>
        <p:spPr>
          <a:xfrm>
            <a:off x="4416552" y="3849624"/>
            <a:ext cx="3429000" cy="502920"/>
          </a:xfrm>
          <a:prstGeom prst="rect">
            <a:avLst/>
          </a:prstGeom>
          <a:noFill/>
        </p:spPr>
        <p:txBody>
          <a:bodyPr wrap="square">
            <a:spAutoFit/>
          </a:bodyPr>
          <a:lstStyle/>
          <a:p>
            <a:pPr algn="l"/>
            <a:r>
              <a:rPr sz="1300" b="0" i="0">
                <a:solidFill>
                  <a:srgbClr val="CCD6E0"/>
                </a:solidFill>
              </a:rPr>
              <a:t>▸  Measures predictive validity</a:t>
            </a:r>
          </a:p>
        </p:txBody>
      </p:sp>
      <p:sp>
        <p:nvSpPr>
          <p:cNvPr id="21" name="TextBox 20"/>
          <p:cNvSpPr txBox="1"/>
          <p:nvPr/>
        </p:nvSpPr>
        <p:spPr>
          <a:xfrm>
            <a:off x="4416552" y="4416552"/>
            <a:ext cx="3429000" cy="502920"/>
          </a:xfrm>
          <a:prstGeom prst="rect">
            <a:avLst/>
          </a:prstGeom>
          <a:noFill/>
        </p:spPr>
        <p:txBody>
          <a:bodyPr wrap="square">
            <a:spAutoFit/>
          </a:bodyPr>
          <a:lstStyle/>
          <a:p>
            <a:pPr algn="l"/>
            <a:r>
              <a:rPr sz="1300" b="0" i="0">
                <a:solidFill>
                  <a:srgbClr val="CCD6E0"/>
                </a:solidFill>
              </a:rPr>
              <a:t>▸  Direct answer to advisor's challenge</a:t>
            </a:r>
          </a:p>
        </p:txBody>
      </p:sp>
      <p:sp>
        <p:nvSpPr>
          <p:cNvPr id="22" name="Rectangle 21"/>
          <p:cNvSpPr/>
          <p:nvPr/>
        </p:nvSpPr>
        <p:spPr>
          <a:xfrm>
            <a:off x="8147304" y="1371600"/>
            <a:ext cx="3749039" cy="502920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147304" y="1371600"/>
            <a:ext cx="3749039" cy="73152"/>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84464" y="1481328"/>
            <a:ext cx="3474720" cy="594360"/>
          </a:xfrm>
          <a:prstGeom prst="rect">
            <a:avLst/>
          </a:prstGeom>
          <a:noFill/>
        </p:spPr>
        <p:txBody>
          <a:bodyPr wrap="square">
            <a:spAutoFit/>
          </a:bodyPr>
          <a:lstStyle/>
          <a:p>
            <a:pPr algn="ctr"/>
            <a:r>
              <a:rPr sz="1600" b="1" i="0">
                <a:solidFill>
                  <a:srgbClr val="2ECC71"/>
                </a:solidFill>
              </a:rPr>
              <a:t>OK-VQA
(Multimodal-Fatima)</a:t>
            </a:r>
          </a:p>
        </p:txBody>
      </p:sp>
      <p:sp>
        <p:nvSpPr>
          <p:cNvPr id="25" name="TextBox 24"/>
          <p:cNvSpPr txBox="1"/>
          <p:nvPr/>
        </p:nvSpPr>
        <p:spPr>
          <a:xfrm>
            <a:off x="8330183" y="2148840"/>
            <a:ext cx="3429000" cy="502920"/>
          </a:xfrm>
          <a:prstGeom prst="rect">
            <a:avLst/>
          </a:prstGeom>
          <a:noFill/>
        </p:spPr>
        <p:txBody>
          <a:bodyPr wrap="square">
            <a:spAutoFit/>
          </a:bodyPr>
          <a:lstStyle/>
          <a:p>
            <a:pPr algn="l"/>
            <a:r>
              <a:rPr sz="1300" b="0" i="0">
                <a:solidFill>
                  <a:srgbClr val="CCD6E0"/>
                </a:solidFill>
              </a:rPr>
              <a:t>▸  9,009 real images + human answers</a:t>
            </a:r>
          </a:p>
        </p:txBody>
      </p:sp>
      <p:sp>
        <p:nvSpPr>
          <p:cNvPr id="26" name="TextBox 25"/>
          <p:cNvSpPr txBox="1"/>
          <p:nvPr/>
        </p:nvSpPr>
        <p:spPr>
          <a:xfrm>
            <a:off x="8330183" y="2715768"/>
            <a:ext cx="3429000" cy="502920"/>
          </a:xfrm>
          <a:prstGeom prst="rect">
            <a:avLst/>
          </a:prstGeom>
          <a:noFill/>
        </p:spPr>
        <p:txBody>
          <a:bodyPr wrap="square">
            <a:spAutoFit/>
          </a:bodyPr>
          <a:lstStyle/>
          <a:p>
            <a:pPr algn="l"/>
            <a:r>
              <a:rPr sz="1300" b="0" i="0">
                <a:solidFill>
                  <a:srgbClr val="CCD6E0"/>
                </a:solidFill>
              </a:rPr>
              <a:t>▸  Tests if BLIP-VQA pipeline works</a:t>
            </a:r>
          </a:p>
        </p:txBody>
      </p:sp>
      <p:sp>
        <p:nvSpPr>
          <p:cNvPr id="27" name="TextBox 26"/>
          <p:cNvSpPr txBox="1"/>
          <p:nvPr/>
        </p:nvSpPr>
        <p:spPr>
          <a:xfrm>
            <a:off x="8330183" y="3282696"/>
            <a:ext cx="3429000" cy="502920"/>
          </a:xfrm>
          <a:prstGeom prst="rect">
            <a:avLst/>
          </a:prstGeom>
          <a:noFill/>
        </p:spPr>
        <p:txBody>
          <a:bodyPr wrap="square">
            <a:spAutoFit/>
          </a:bodyPr>
          <a:lstStyle/>
          <a:p>
            <a:pPr algn="l"/>
            <a:r>
              <a:rPr sz="1300" b="0" i="0">
                <a:solidFill>
                  <a:srgbClr val="CCD6E0"/>
                </a:solidFill>
              </a:rPr>
              <a:t>▸  Answer agreement rate metric</a:t>
            </a:r>
          </a:p>
        </p:txBody>
      </p:sp>
      <p:sp>
        <p:nvSpPr>
          <p:cNvPr id="28" name="TextBox 27"/>
          <p:cNvSpPr txBox="1"/>
          <p:nvPr/>
        </p:nvSpPr>
        <p:spPr>
          <a:xfrm>
            <a:off x="8330183" y="3849624"/>
            <a:ext cx="3429000" cy="502920"/>
          </a:xfrm>
          <a:prstGeom prst="rect">
            <a:avLst/>
          </a:prstGeom>
          <a:noFill/>
        </p:spPr>
        <p:txBody>
          <a:bodyPr wrap="square">
            <a:spAutoFit/>
          </a:bodyPr>
          <a:lstStyle/>
          <a:p>
            <a:pPr algn="l"/>
            <a:r>
              <a:rPr sz="1300" b="0" i="0">
                <a:solidFill>
                  <a:srgbClr val="CCD6E0"/>
                </a:solidFill>
              </a:rPr>
              <a:t>▸  Pearson/Spearman correlation</a:t>
            </a:r>
          </a:p>
        </p:txBody>
      </p:sp>
      <p:sp>
        <p:nvSpPr>
          <p:cNvPr id="29" name="TextBox 28"/>
          <p:cNvSpPr txBox="1"/>
          <p:nvPr/>
        </p:nvSpPr>
        <p:spPr>
          <a:xfrm>
            <a:off x="8330183" y="4416552"/>
            <a:ext cx="3429000" cy="502920"/>
          </a:xfrm>
          <a:prstGeom prst="rect">
            <a:avLst/>
          </a:prstGeom>
          <a:noFill/>
        </p:spPr>
        <p:txBody>
          <a:bodyPr wrap="square">
            <a:spAutoFit/>
          </a:bodyPr>
          <a:lstStyle/>
          <a:p>
            <a:pPr algn="l"/>
            <a:r>
              <a:rPr sz="1300" b="0" i="0">
                <a:solidFill>
                  <a:srgbClr val="CCD6E0"/>
                </a:solidFill>
              </a:rPr>
              <a:t>▸  Calibrates the underlying VQA model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4572000" cy="320040"/>
          </a:xfrm>
          <a:prstGeom prst="rect">
            <a:avLst/>
          </a:prstGeom>
          <a:noFill/>
        </p:spPr>
        <p:txBody>
          <a:bodyPr wrap="square">
            <a:spAutoFit/>
          </a:bodyPr>
          <a:lstStyle/>
          <a:p>
            <a:pPr algn="l"/>
            <a:r>
              <a:rPr sz="1000" b="1" i="1">
                <a:solidFill>
                  <a:srgbClr val="00C2D1"/>
                </a:solidFill>
              </a:rPr>
              <a:t>RESULTS — BENCHMARK VALIDATION</a:t>
            </a:r>
          </a:p>
        </p:txBody>
      </p:sp>
      <p:sp>
        <p:nvSpPr>
          <p:cNvPr id="4" name="TextBox 3"/>
          <p:cNvSpPr txBox="1"/>
          <p:nvPr/>
        </p:nvSpPr>
        <p:spPr>
          <a:xfrm>
            <a:off x="320040" y="502920"/>
            <a:ext cx="10058400" cy="640080"/>
          </a:xfrm>
          <a:prstGeom prst="rect">
            <a:avLst/>
          </a:prstGeom>
          <a:noFill/>
        </p:spPr>
        <p:txBody>
          <a:bodyPr wrap="square">
            <a:spAutoFit/>
          </a:bodyPr>
          <a:lstStyle/>
          <a:p>
            <a:pPr algn="l"/>
            <a:r>
              <a:rPr sz="3200" b="1" i="0">
                <a:solidFill>
                  <a:srgbClr val="FFFFFF"/>
                </a:solidFill>
              </a:rPr>
              <a:t>Flickr30k: Metric Validation Results</a:t>
            </a:r>
          </a:p>
        </p:txBody>
      </p:sp>
      <p:sp>
        <p:nvSpPr>
          <p:cNvPr id="5" name="Rectangle 4"/>
          <p:cNvSpPr/>
          <p:nvPr/>
        </p:nvSpPr>
        <p:spPr>
          <a:xfrm>
            <a:off x="0" y="1143000"/>
            <a:ext cx="7315200" cy="41148"/>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325880"/>
            <a:ext cx="3383280" cy="155448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325880"/>
            <a:ext cx="64008" cy="1554480"/>
          </a:xfrm>
          <a:prstGeom prst="rect">
            <a:avLst/>
          </a:prstGeom>
          <a:solidFill>
            <a:srgbClr val="00C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417320"/>
            <a:ext cx="3108960" cy="411480"/>
          </a:xfrm>
          <a:prstGeom prst="rect">
            <a:avLst/>
          </a:prstGeom>
          <a:noFill/>
        </p:spPr>
        <p:txBody>
          <a:bodyPr wrap="square">
            <a:spAutoFit/>
          </a:bodyPr>
          <a:lstStyle/>
          <a:p>
            <a:pPr algn="l"/>
            <a:r>
              <a:rPr sz="1300" b="1" i="0">
                <a:solidFill>
                  <a:srgbClr val="00C2D1"/>
                </a:solidFill>
              </a:rPr>
              <a:t>GT Mean Faith</a:t>
            </a:r>
          </a:p>
        </p:txBody>
      </p:sp>
      <p:sp>
        <p:nvSpPr>
          <p:cNvPr id="9" name="TextBox 8"/>
          <p:cNvSpPr txBox="1"/>
          <p:nvPr/>
        </p:nvSpPr>
        <p:spPr>
          <a:xfrm>
            <a:off x="594360" y="1783080"/>
            <a:ext cx="3108960" cy="615553"/>
          </a:xfrm>
          <a:prstGeom prst="rect">
            <a:avLst/>
          </a:prstGeom>
          <a:noFill/>
        </p:spPr>
        <p:txBody>
          <a:bodyPr wrap="square" lIns="91440" tIns="45720" rIns="91440" bIns="45720" anchor="t">
            <a:spAutoFit/>
          </a:bodyPr>
          <a:lstStyle/>
          <a:p>
            <a:pPr algn="ctr"/>
            <a:r>
              <a:rPr lang="en-US" sz="3400" b="1">
                <a:solidFill>
                  <a:srgbClr val="FFFFFF"/>
                </a:solidFill>
              </a:rPr>
              <a:t>0.890</a:t>
            </a:r>
            <a:endParaRPr sz="3400" b="1" i="0">
              <a:solidFill>
                <a:srgbClr val="FFFFFF"/>
              </a:solidFill>
            </a:endParaRPr>
          </a:p>
        </p:txBody>
      </p:sp>
      <p:sp>
        <p:nvSpPr>
          <p:cNvPr id="10" name="Rectangle 9"/>
          <p:cNvSpPr/>
          <p:nvPr/>
        </p:nvSpPr>
        <p:spPr>
          <a:xfrm>
            <a:off x="4114800" y="1325880"/>
            <a:ext cx="3383280" cy="155448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114800" y="1325880"/>
            <a:ext cx="64008" cy="155448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51960" y="1417320"/>
            <a:ext cx="3108960" cy="411480"/>
          </a:xfrm>
          <a:prstGeom prst="rect">
            <a:avLst/>
          </a:prstGeom>
          <a:noFill/>
        </p:spPr>
        <p:txBody>
          <a:bodyPr wrap="square">
            <a:spAutoFit/>
          </a:bodyPr>
          <a:lstStyle/>
          <a:p>
            <a:pPr algn="l"/>
            <a:r>
              <a:rPr sz="1300" b="1" i="0">
                <a:solidFill>
                  <a:srgbClr val="FA4D00"/>
                </a:solidFill>
              </a:rPr>
              <a:t>Gen Mean Faith</a:t>
            </a:r>
          </a:p>
        </p:txBody>
      </p:sp>
      <p:sp>
        <p:nvSpPr>
          <p:cNvPr id="13" name="TextBox 12"/>
          <p:cNvSpPr txBox="1"/>
          <p:nvPr/>
        </p:nvSpPr>
        <p:spPr>
          <a:xfrm>
            <a:off x="4251960" y="1783080"/>
            <a:ext cx="3108960" cy="615553"/>
          </a:xfrm>
          <a:prstGeom prst="rect">
            <a:avLst/>
          </a:prstGeom>
          <a:noFill/>
        </p:spPr>
        <p:txBody>
          <a:bodyPr wrap="square" lIns="91440" tIns="45720" rIns="91440" bIns="45720" anchor="t">
            <a:spAutoFit/>
          </a:bodyPr>
          <a:lstStyle/>
          <a:p>
            <a:pPr algn="ctr"/>
            <a:r>
              <a:rPr lang="en-US" sz="3400" b="1">
                <a:solidFill>
                  <a:srgbClr val="FFFFFF"/>
                </a:solidFill>
              </a:rPr>
              <a:t>0.877</a:t>
            </a:r>
            <a:endParaRPr sz="3400" b="1" i="0">
              <a:solidFill>
                <a:srgbClr val="FFFFFF"/>
              </a:solidFill>
            </a:endParaRPr>
          </a:p>
        </p:txBody>
      </p:sp>
      <p:sp>
        <p:nvSpPr>
          <p:cNvPr id="14" name="Rectangle 13"/>
          <p:cNvSpPr/>
          <p:nvPr/>
        </p:nvSpPr>
        <p:spPr>
          <a:xfrm>
            <a:off x="7772400" y="1325880"/>
            <a:ext cx="3383280" cy="155448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772400" y="1325880"/>
            <a:ext cx="64008"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09560" y="1417320"/>
            <a:ext cx="3108960" cy="292388"/>
          </a:xfrm>
          <a:prstGeom prst="rect">
            <a:avLst/>
          </a:prstGeom>
          <a:noFill/>
        </p:spPr>
        <p:txBody>
          <a:bodyPr wrap="square" lIns="91440" tIns="45720" rIns="91440" bIns="45720" anchor="t">
            <a:spAutoFit/>
          </a:bodyPr>
          <a:lstStyle/>
          <a:p>
            <a:pPr algn="l"/>
            <a:r>
              <a:rPr lang="en-US" sz="1300" b="1">
                <a:solidFill>
                  <a:srgbClr val="FFFFFF"/>
                </a:solidFill>
              </a:rPr>
              <a:t>ROC-AUC</a:t>
            </a:r>
            <a:endParaRPr sz="1300" b="1" i="0">
              <a:solidFill>
                <a:srgbClr val="FFFFFF"/>
              </a:solidFill>
            </a:endParaRPr>
          </a:p>
        </p:txBody>
      </p:sp>
      <p:sp>
        <p:nvSpPr>
          <p:cNvPr id="17" name="TextBox 16"/>
          <p:cNvSpPr txBox="1"/>
          <p:nvPr/>
        </p:nvSpPr>
        <p:spPr>
          <a:xfrm>
            <a:off x="7909560" y="1783080"/>
            <a:ext cx="3108960" cy="615553"/>
          </a:xfrm>
          <a:prstGeom prst="rect">
            <a:avLst/>
          </a:prstGeom>
          <a:noFill/>
        </p:spPr>
        <p:txBody>
          <a:bodyPr wrap="square" lIns="91440" tIns="45720" rIns="91440" bIns="45720" anchor="t">
            <a:spAutoFit/>
          </a:bodyPr>
          <a:lstStyle/>
          <a:p>
            <a:pPr algn="ctr"/>
            <a:r>
              <a:rPr lang="en-US" sz="3400" b="1">
                <a:solidFill>
                  <a:srgbClr val="FFFFFF"/>
                </a:solidFill>
                <a:ea typeface="Calibri"/>
                <a:cs typeface="Calibri"/>
              </a:rPr>
              <a:t>0.5374</a:t>
            </a:r>
            <a:endParaRPr sz="3400" b="1" i="0">
              <a:solidFill>
                <a:srgbClr val="FFFFFF"/>
              </a:solidFill>
            </a:endParaRPr>
          </a:p>
        </p:txBody>
      </p:sp>
      <p:sp>
        <p:nvSpPr>
          <p:cNvPr id="18" name="Rectangle 17"/>
          <p:cNvSpPr/>
          <p:nvPr/>
        </p:nvSpPr>
        <p:spPr>
          <a:xfrm>
            <a:off x="320040" y="3017520"/>
            <a:ext cx="3749039" cy="352044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79" y="4594859"/>
            <a:ext cx="3566159" cy="365760"/>
          </a:xfrm>
          <a:prstGeom prst="rect">
            <a:avLst/>
          </a:prstGeom>
          <a:noFill/>
        </p:spPr>
        <p:txBody>
          <a:bodyPr wrap="square">
            <a:spAutoFit/>
          </a:bodyPr>
          <a:lstStyle/>
          <a:p>
            <a:pPr algn="ctr"/>
            <a:r>
              <a:rPr sz="1100" b="0" i="1">
                <a:solidFill>
                  <a:srgbClr val="CCD6E0"/>
                </a:solidFill>
              </a:rPr>
              <a:t>[ Screenshot: flickr_scatter.png ]</a:t>
            </a:r>
          </a:p>
        </p:txBody>
      </p:sp>
      <p:sp>
        <p:nvSpPr>
          <p:cNvPr id="20" name="Rectangle 19"/>
          <p:cNvSpPr/>
          <p:nvPr/>
        </p:nvSpPr>
        <p:spPr>
          <a:xfrm>
            <a:off x="4251960" y="3017520"/>
            <a:ext cx="3749039" cy="352044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343400" y="4594859"/>
            <a:ext cx="3566159" cy="365760"/>
          </a:xfrm>
          <a:prstGeom prst="rect">
            <a:avLst/>
          </a:prstGeom>
          <a:noFill/>
        </p:spPr>
        <p:txBody>
          <a:bodyPr wrap="square">
            <a:spAutoFit/>
          </a:bodyPr>
          <a:lstStyle/>
          <a:p>
            <a:pPr algn="ctr"/>
            <a:r>
              <a:rPr sz="1100" b="0" i="1">
                <a:solidFill>
                  <a:srgbClr val="CCD6E0"/>
                </a:solidFill>
              </a:rPr>
              <a:t>[ Screenshot: flickr_bar.png ]</a:t>
            </a:r>
          </a:p>
        </p:txBody>
      </p:sp>
      <p:sp>
        <p:nvSpPr>
          <p:cNvPr id="22" name="Rectangle 21"/>
          <p:cNvSpPr/>
          <p:nvPr/>
        </p:nvSpPr>
        <p:spPr>
          <a:xfrm>
            <a:off x="8229600" y="3017520"/>
            <a:ext cx="3657600" cy="352044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321040" y="4594859"/>
            <a:ext cx="3474720" cy="365760"/>
          </a:xfrm>
          <a:prstGeom prst="rect">
            <a:avLst/>
          </a:prstGeom>
          <a:noFill/>
        </p:spPr>
        <p:txBody>
          <a:bodyPr wrap="square">
            <a:spAutoFit/>
          </a:bodyPr>
          <a:lstStyle/>
          <a:p>
            <a:pPr algn="ctr"/>
            <a:r>
              <a:rPr sz="1100" b="0" i="1">
                <a:solidFill>
                  <a:srgbClr val="CCD6E0"/>
                </a:solidFill>
              </a:rPr>
              <a:t>[ Screenshot: flickr_roc.png ]</a:t>
            </a:r>
          </a:p>
        </p:txBody>
      </p:sp>
      <p:sp>
        <p:nvSpPr>
          <p:cNvPr id="24" name="TextBox 23"/>
          <p:cNvSpPr txBox="1"/>
          <p:nvPr/>
        </p:nvSpPr>
        <p:spPr>
          <a:xfrm>
            <a:off x="320040" y="6492240"/>
            <a:ext cx="3749039" cy="320040"/>
          </a:xfrm>
          <a:prstGeom prst="rect">
            <a:avLst/>
          </a:prstGeom>
          <a:noFill/>
        </p:spPr>
        <p:txBody>
          <a:bodyPr wrap="square">
            <a:spAutoFit/>
          </a:bodyPr>
          <a:lstStyle/>
          <a:p>
            <a:pPr algn="ctr"/>
            <a:r>
              <a:rPr sz="900" b="0" i="1">
                <a:solidFill>
                  <a:srgbClr val="CCD6E0"/>
                </a:solidFill>
              </a:rPr>
              <a:t>Fig 1. GT vs Generated scatter</a:t>
            </a:r>
          </a:p>
        </p:txBody>
      </p:sp>
      <p:sp>
        <p:nvSpPr>
          <p:cNvPr id="25" name="TextBox 24"/>
          <p:cNvSpPr txBox="1"/>
          <p:nvPr/>
        </p:nvSpPr>
        <p:spPr>
          <a:xfrm>
            <a:off x="4251960" y="6492240"/>
            <a:ext cx="3749039" cy="320040"/>
          </a:xfrm>
          <a:prstGeom prst="rect">
            <a:avLst/>
          </a:prstGeom>
          <a:noFill/>
        </p:spPr>
        <p:txBody>
          <a:bodyPr wrap="square">
            <a:spAutoFit/>
          </a:bodyPr>
          <a:lstStyle/>
          <a:p>
            <a:pPr algn="ctr"/>
            <a:r>
              <a:rPr sz="900" b="0" i="1">
                <a:solidFill>
                  <a:srgbClr val="CCD6E0"/>
                </a:solidFill>
              </a:rPr>
              <a:t>Fig 2. Mean faithfulness ± std</a:t>
            </a:r>
          </a:p>
        </p:txBody>
      </p:sp>
      <p:sp>
        <p:nvSpPr>
          <p:cNvPr id="26" name="TextBox 25"/>
          <p:cNvSpPr txBox="1"/>
          <p:nvPr/>
        </p:nvSpPr>
        <p:spPr>
          <a:xfrm>
            <a:off x="8229600" y="6492240"/>
            <a:ext cx="3657600" cy="320040"/>
          </a:xfrm>
          <a:prstGeom prst="rect">
            <a:avLst/>
          </a:prstGeom>
          <a:noFill/>
        </p:spPr>
        <p:txBody>
          <a:bodyPr wrap="square">
            <a:spAutoFit/>
          </a:bodyPr>
          <a:lstStyle/>
          <a:p>
            <a:pPr algn="ctr"/>
            <a:r>
              <a:rPr sz="900" b="0" i="1">
                <a:solidFill>
                  <a:srgbClr val="CCD6E0"/>
                </a:solidFill>
              </a:rPr>
              <a:t>Fig 3. ROC Curve (GT=1, Gen=0)</a:t>
            </a:r>
          </a:p>
        </p:txBody>
      </p:sp>
      <p:pic>
        <p:nvPicPr>
          <p:cNvPr id="27" name="Picture 26">
            <a:extLst>
              <a:ext uri="{FF2B5EF4-FFF2-40B4-BE49-F238E27FC236}">
                <a16:creationId xmlns:a16="http://schemas.microsoft.com/office/drawing/2014/main" id="{D0BEA5F7-6568-5B11-47E4-F6BD583215C2}"/>
              </a:ext>
            </a:extLst>
          </p:cNvPr>
          <p:cNvPicPr>
            <a:picLocks noChangeAspect="1"/>
          </p:cNvPicPr>
          <p:nvPr/>
        </p:nvPicPr>
        <p:blipFill>
          <a:blip r:embed="rId3"/>
          <a:stretch>
            <a:fillRect/>
          </a:stretch>
        </p:blipFill>
        <p:spPr>
          <a:xfrm>
            <a:off x="361911" y="3018945"/>
            <a:ext cx="3661735" cy="3488430"/>
          </a:xfrm>
          <a:prstGeom prst="rect">
            <a:avLst/>
          </a:prstGeom>
        </p:spPr>
      </p:pic>
      <p:pic>
        <p:nvPicPr>
          <p:cNvPr id="28" name="Picture 27">
            <a:extLst>
              <a:ext uri="{FF2B5EF4-FFF2-40B4-BE49-F238E27FC236}">
                <a16:creationId xmlns:a16="http://schemas.microsoft.com/office/drawing/2014/main" id="{0E32B62D-262B-DF5C-5F72-EA02ED6F04D2}"/>
              </a:ext>
            </a:extLst>
          </p:cNvPr>
          <p:cNvPicPr>
            <a:picLocks noChangeAspect="1"/>
          </p:cNvPicPr>
          <p:nvPr/>
        </p:nvPicPr>
        <p:blipFill>
          <a:blip r:embed="rId4"/>
          <a:stretch>
            <a:fillRect/>
          </a:stretch>
        </p:blipFill>
        <p:spPr>
          <a:xfrm>
            <a:off x="4177683" y="3024889"/>
            <a:ext cx="3845064" cy="3494372"/>
          </a:xfrm>
          <a:prstGeom prst="rect">
            <a:avLst/>
          </a:prstGeom>
        </p:spPr>
      </p:pic>
      <p:pic>
        <p:nvPicPr>
          <p:cNvPr id="29" name="Picture 28">
            <a:extLst>
              <a:ext uri="{FF2B5EF4-FFF2-40B4-BE49-F238E27FC236}">
                <a16:creationId xmlns:a16="http://schemas.microsoft.com/office/drawing/2014/main" id="{D209465B-666A-F39B-1EF5-04BCF79AB0BE}"/>
              </a:ext>
            </a:extLst>
          </p:cNvPr>
          <p:cNvPicPr>
            <a:picLocks noChangeAspect="1"/>
          </p:cNvPicPr>
          <p:nvPr/>
        </p:nvPicPr>
        <p:blipFill>
          <a:blip r:embed="rId5"/>
          <a:stretch>
            <a:fillRect/>
          </a:stretch>
        </p:blipFill>
        <p:spPr>
          <a:xfrm>
            <a:off x="8230051" y="3024888"/>
            <a:ext cx="3674060" cy="351814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00C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4572000" cy="320040"/>
          </a:xfrm>
          <a:prstGeom prst="rect">
            <a:avLst/>
          </a:prstGeom>
          <a:noFill/>
        </p:spPr>
        <p:txBody>
          <a:bodyPr wrap="square">
            <a:spAutoFit/>
          </a:bodyPr>
          <a:lstStyle/>
          <a:p>
            <a:pPr algn="l"/>
            <a:r>
              <a:rPr sz="1000" b="1" i="1">
                <a:solidFill>
                  <a:srgbClr val="00C2D1"/>
                </a:solidFill>
              </a:rPr>
              <a:t>RESULTS — LABELLED HALLUCINATION BENCHMARK</a:t>
            </a:r>
          </a:p>
        </p:txBody>
      </p:sp>
      <p:sp>
        <p:nvSpPr>
          <p:cNvPr id="4" name="TextBox 3"/>
          <p:cNvSpPr txBox="1"/>
          <p:nvPr/>
        </p:nvSpPr>
        <p:spPr>
          <a:xfrm>
            <a:off x="320040" y="502920"/>
            <a:ext cx="10972800" cy="640080"/>
          </a:xfrm>
          <a:prstGeom prst="rect">
            <a:avLst/>
          </a:prstGeom>
          <a:noFill/>
        </p:spPr>
        <p:txBody>
          <a:bodyPr wrap="square">
            <a:spAutoFit/>
          </a:bodyPr>
          <a:lstStyle/>
          <a:p>
            <a:pPr algn="l"/>
            <a:r>
              <a:rPr sz="3200" b="1" i="0">
                <a:solidFill>
                  <a:srgbClr val="FFFFFF"/>
                </a:solidFill>
              </a:rPr>
              <a:t>POPE Benchmark: Hallucination Detection</a:t>
            </a:r>
          </a:p>
        </p:txBody>
      </p:sp>
      <p:sp>
        <p:nvSpPr>
          <p:cNvPr id="5" name="Rectangle 4"/>
          <p:cNvSpPr/>
          <p:nvPr/>
        </p:nvSpPr>
        <p:spPr>
          <a:xfrm>
            <a:off x="0" y="1143000"/>
            <a:ext cx="8229600" cy="41148"/>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1234440"/>
            <a:ext cx="11430000" cy="685800"/>
          </a:xfrm>
          <a:prstGeom prst="rect">
            <a:avLst/>
          </a:prstGeom>
          <a:noFill/>
        </p:spPr>
        <p:txBody>
          <a:bodyPr wrap="square">
            <a:spAutoFit/>
          </a:bodyPr>
          <a:lstStyle/>
          <a:p>
            <a:pPr algn="l"/>
            <a:r>
              <a:rPr sz="1400" b="0" i="1">
                <a:solidFill>
                  <a:srgbClr val="CCD6E0"/>
                </a:solidFill>
              </a:rPr>
              <a:t>POPE provides binary ground-truth hallucination labels — directly answering the advisor's challenge:
'Use a dataset where images are labelled and you'll know how the model works against hallucinated images.'</a:t>
            </a:r>
          </a:p>
        </p:txBody>
      </p:sp>
      <p:sp>
        <p:nvSpPr>
          <p:cNvPr id="7" name="Rectangle 6"/>
          <p:cNvSpPr/>
          <p:nvPr/>
        </p:nvSpPr>
        <p:spPr>
          <a:xfrm>
            <a:off x="320040" y="2011680"/>
            <a:ext cx="3474720" cy="91440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2011680"/>
            <a:ext cx="64008" cy="914400"/>
          </a:xfrm>
          <a:prstGeom prst="rect">
            <a:avLst/>
          </a:prstGeom>
          <a:solidFill>
            <a:srgbClr val="00C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2103120"/>
            <a:ext cx="3200400" cy="347472"/>
          </a:xfrm>
          <a:prstGeom prst="rect">
            <a:avLst/>
          </a:prstGeom>
          <a:noFill/>
        </p:spPr>
        <p:txBody>
          <a:bodyPr wrap="square">
            <a:spAutoFit/>
          </a:bodyPr>
          <a:lstStyle/>
          <a:p>
            <a:pPr algn="l"/>
            <a:r>
              <a:rPr sz="1300" b="1" i="0">
                <a:solidFill>
                  <a:srgbClr val="00C2D1"/>
                </a:solidFill>
              </a:rPr>
              <a:t>VQA Accuracy</a:t>
            </a:r>
          </a:p>
        </p:txBody>
      </p:sp>
      <p:sp>
        <p:nvSpPr>
          <p:cNvPr id="10" name="TextBox 9"/>
          <p:cNvSpPr txBox="1"/>
          <p:nvPr/>
        </p:nvSpPr>
        <p:spPr>
          <a:xfrm>
            <a:off x="457200" y="2395728"/>
            <a:ext cx="3200400" cy="338554"/>
          </a:xfrm>
          <a:prstGeom prst="rect">
            <a:avLst/>
          </a:prstGeom>
          <a:noFill/>
        </p:spPr>
        <p:txBody>
          <a:bodyPr wrap="square" lIns="91440" tIns="45720" rIns="91440" bIns="45720" anchor="t">
            <a:spAutoFit/>
          </a:bodyPr>
          <a:lstStyle/>
          <a:p>
            <a:pPr algn="ctr"/>
            <a:r>
              <a:rPr lang="en-US" sz="1600" b="1">
                <a:solidFill>
                  <a:srgbClr val="FFFFFF"/>
                </a:solidFill>
                <a:ea typeface="Calibri"/>
                <a:cs typeface="Calibri"/>
              </a:rPr>
              <a:t>0.8600</a:t>
            </a:r>
            <a:endParaRPr lang="en-US" sz="1600" b="1" i="0" dirty="0">
              <a:solidFill>
                <a:srgbClr val="FFFFFF"/>
              </a:solidFill>
              <a:ea typeface="Calibri"/>
              <a:cs typeface="Calibri"/>
            </a:endParaRPr>
          </a:p>
        </p:txBody>
      </p:sp>
      <p:sp>
        <p:nvSpPr>
          <p:cNvPr id="11" name="Rectangle 10"/>
          <p:cNvSpPr/>
          <p:nvPr/>
        </p:nvSpPr>
        <p:spPr>
          <a:xfrm>
            <a:off x="4023360" y="2011680"/>
            <a:ext cx="3474720" cy="91440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023360" y="2011680"/>
            <a:ext cx="64008" cy="91440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60520" y="2103120"/>
            <a:ext cx="3200400" cy="347472"/>
          </a:xfrm>
          <a:prstGeom prst="rect">
            <a:avLst/>
          </a:prstGeom>
          <a:noFill/>
        </p:spPr>
        <p:txBody>
          <a:bodyPr wrap="square">
            <a:spAutoFit/>
          </a:bodyPr>
          <a:lstStyle/>
          <a:p>
            <a:pPr algn="l"/>
            <a:r>
              <a:rPr sz="1300" b="1" i="0">
                <a:solidFill>
                  <a:srgbClr val="FA4D00"/>
                </a:solidFill>
              </a:rPr>
              <a:t>ROC-AUC</a:t>
            </a:r>
          </a:p>
        </p:txBody>
      </p:sp>
      <p:sp>
        <p:nvSpPr>
          <p:cNvPr id="14" name="TextBox 13"/>
          <p:cNvSpPr txBox="1"/>
          <p:nvPr/>
        </p:nvSpPr>
        <p:spPr>
          <a:xfrm>
            <a:off x="4160520" y="2395728"/>
            <a:ext cx="3200400" cy="338554"/>
          </a:xfrm>
          <a:prstGeom prst="rect">
            <a:avLst/>
          </a:prstGeom>
          <a:noFill/>
        </p:spPr>
        <p:txBody>
          <a:bodyPr wrap="square" lIns="91440" tIns="45720" rIns="91440" bIns="45720" anchor="t">
            <a:spAutoFit/>
          </a:bodyPr>
          <a:lstStyle/>
          <a:p>
            <a:pPr algn="ctr"/>
            <a:r>
              <a:rPr lang="en-US" sz="1600" b="1">
                <a:solidFill>
                  <a:srgbClr val="FFFFFF"/>
                </a:solidFill>
              </a:rPr>
              <a:t>0.814</a:t>
            </a:r>
            <a:endParaRPr lang="en-US"/>
          </a:p>
        </p:txBody>
      </p:sp>
      <p:sp>
        <p:nvSpPr>
          <p:cNvPr id="15" name="Rectangle 14"/>
          <p:cNvSpPr/>
          <p:nvPr/>
        </p:nvSpPr>
        <p:spPr>
          <a:xfrm>
            <a:off x="7772400" y="2011680"/>
            <a:ext cx="3474720" cy="91440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772400" y="2011680"/>
            <a:ext cx="64008" cy="9144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09560" y="2103120"/>
            <a:ext cx="3200400" cy="347472"/>
          </a:xfrm>
          <a:prstGeom prst="rect">
            <a:avLst/>
          </a:prstGeom>
          <a:noFill/>
        </p:spPr>
        <p:txBody>
          <a:bodyPr wrap="square">
            <a:spAutoFit/>
          </a:bodyPr>
          <a:lstStyle/>
          <a:p>
            <a:pPr algn="l"/>
            <a:r>
              <a:rPr sz="1300" b="1" i="0">
                <a:solidFill>
                  <a:srgbClr val="2ECC71"/>
                </a:solidFill>
              </a:rPr>
              <a:t>Avg Precision</a:t>
            </a:r>
          </a:p>
        </p:txBody>
      </p:sp>
      <p:sp>
        <p:nvSpPr>
          <p:cNvPr id="18" name="TextBox 17"/>
          <p:cNvSpPr txBox="1"/>
          <p:nvPr/>
        </p:nvSpPr>
        <p:spPr>
          <a:xfrm>
            <a:off x="7909560" y="2395728"/>
            <a:ext cx="3200400" cy="338554"/>
          </a:xfrm>
          <a:prstGeom prst="rect">
            <a:avLst/>
          </a:prstGeom>
          <a:noFill/>
        </p:spPr>
        <p:txBody>
          <a:bodyPr wrap="square" lIns="91440" tIns="45720" rIns="91440" bIns="45720" anchor="t">
            <a:spAutoFit/>
          </a:bodyPr>
          <a:lstStyle/>
          <a:p>
            <a:pPr algn="ctr"/>
            <a:r>
              <a:rPr lang="en-US" sz="1600" b="1">
                <a:solidFill>
                  <a:srgbClr val="FFFFFF"/>
                </a:solidFill>
                <a:ea typeface="Calibri"/>
                <a:cs typeface="Calibri"/>
              </a:rPr>
              <a:t>0.739</a:t>
            </a:r>
            <a:endParaRPr lang="en-US" sz="1600" b="1" i="0" dirty="0">
              <a:solidFill>
                <a:srgbClr val="FFFFFF"/>
              </a:solidFill>
              <a:ea typeface="Calibri"/>
              <a:cs typeface="Calibri"/>
            </a:endParaRPr>
          </a:p>
        </p:txBody>
      </p:sp>
      <p:sp>
        <p:nvSpPr>
          <p:cNvPr id="19" name="Rectangle 18"/>
          <p:cNvSpPr/>
          <p:nvPr/>
        </p:nvSpPr>
        <p:spPr>
          <a:xfrm>
            <a:off x="320040" y="3063240"/>
            <a:ext cx="3749039" cy="338328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79" y="4572000"/>
            <a:ext cx="3566159" cy="365760"/>
          </a:xfrm>
          <a:prstGeom prst="rect">
            <a:avLst/>
          </a:prstGeom>
          <a:noFill/>
        </p:spPr>
        <p:txBody>
          <a:bodyPr wrap="square">
            <a:spAutoFit/>
          </a:bodyPr>
          <a:lstStyle/>
          <a:p>
            <a:pPr algn="ctr"/>
            <a:r>
              <a:rPr sz="1100" b="0" i="1">
                <a:solidFill>
                  <a:srgbClr val="CCD6E0"/>
                </a:solidFill>
              </a:rPr>
              <a:t>[ Screenshot: pope_distribution.png ]</a:t>
            </a:r>
          </a:p>
        </p:txBody>
      </p:sp>
      <p:sp>
        <p:nvSpPr>
          <p:cNvPr id="21" name="Rectangle 20"/>
          <p:cNvSpPr/>
          <p:nvPr/>
        </p:nvSpPr>
        <p:spPr>
          <a:xfrm>
            <a:off x="4251960" y="3063240"/>
            <a:ext cx="3749039" cy="338328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43400" y="4572000"/>
            <a:ext cx="3566159" cy="365760"/>
          </a:xfrm>
          <a:prstGeom prst="rect">
            <a:avLst/>
          </a:prstGeom>
          <a:noFill/>
        </p:spPr>
        <p:txBody>
          <a:bodyPr wrap="square">
            <a:spAutoFit/>
          </a:bodyPr>
          <a:lstStyle/>
          <a:p>
            <a:pPr algn="ctr"/>
            <a:r>
              <a:rPr sz="1100" b="0" i="1">
                <a:solidFill>
                  <a:srgbClr val="CCD6E0"/>
                </a:solidFill>
              </a:rPr>
              <a:t>[ Screenshot: pope_roc.png ]</a:t>
            </a:r>
          </a:p>
        </p:txBody>
      </p:sp>
      <p:sp>
        <p:nvSpPr>
          <p:cNvPr id="23" name="Rectangle 22"/>
          <p:cNvSpPr/>
          <p:nvPr/>
        </p:nvSpPr>
        <p:spPr>
          <a:xfrm>
            <a:off x="8229600" y="3063240"/>
            <a:ext cx="3657600" cy="338328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4572000"/>
            <a:ext cx="3474720" cy="365760"/>
          </a:xfrm>
          <a:prstGeom prst="rect">
            <a:avLst/>
          </a:prstGeom>
          <a:noFill/>
        </p:spPr>
        <p:txBody>
          <a:bodyPr wrap="square">
            <a:spAutoFit/>
          </a:bodyPr>
          <a:lstStyle/>
          <a:p>
            <a:pPr algn="ctr"/>
            <a:r>
              <a:rPr sz="1100" b="0" i="1">
                <a:solidFill>
                  <a:srgbClr val="CCD6E0"/>
                </a:solidFill>
              </a:rPr>
              <a:t>[ Screenshot: pope_boxplot.png ]</a:t>
            </a:r>
          </a:p>
        </p:txBody>
      </p:sp>
      <p:sp>
        <p:nvSpPr>
          <p:cNvPr id="25" name="TextBox 24"/>
          <p:cNvSpPr txBox="1"/>
          <p:nvPr/>
        </p:nvSpPr>
        <p:spPr>
          <a:xfrm>
            <a:off x="320040" y="6473952"/>
            <a:ext cx="3749039" cy="320040"/>
          </a:xfrm>
          <a:prstGeom prst="rect">
            <a:avLst/>
          </a:prstGeom>
          <a:noFill/>
        </p:spPr>
        <p:txBody>
          <a:bodyPr wrap="square">
            <a:spAutoFit/>
          </a:bodyPr>
          <a:lstStyle/>
          <a:p>
            <a:pPr algn="ctr"/>
            <a:r>
              <a:rPr sz="900" b="0" i="1">
                <a:solidFill>
                  <a:srgbClr val="CCD6E0"/>
                </a:solidFill>
              </a:rPr>
              <a:t>Fig 4. Score distribution by label</a:t>
            </a:r>
          </a:p>
        </p:txBody>
      </p:sp>
      <p:sp>
        <p:nvSpPr>
          <p:cNvPr id="26" name="TextBox 25"/>
          <p:cNvSpPr txBox="1"/>
          <p:nvPr/>
        </p:nvSpPr>
        <p:spPr>
          <a:xfrm>
            <a:off x="4251960" y="6473952"/>
            <a:ext cx="3749039" cy="320040"/>
          </a:xfrm>
          <a:prstGeom prst="rect">
            <a:avLst/>
          </a:prstGeom>
          <a:noFill/>
        </p:spPr>
        <p:txBody>
          <a:bodyPr wrap="square">
            <a:spAutoFit/>
          </a:bodyPr>
          <a:lstStyle/>
          <a:p>
            <a:pPr algn="ctr"/>
            <a:r>
              <a:rPr sz="900" b="0" i="1">
                <a:solidFill>
                  <a:srgbClr val="CCD6E0"/>
                </a:solidFill>
              </a:rPr>
              <a:t>Fig 5. ROC Curve — hallucination detection</a:t>
            </a:r>
          </a:p>
        </p:txBody>
      </p:sp>
      <p:sp>
        <p:nvSpPr>
          <p:cNvPr id="27" name="TextBox 26"/>
          <p:cNvSpPr txBox="1"/>
          <p:nvPr/>
        </p:nvSpPr>
        <p:spPr>
          <a:xfrm>
            <a:off x="8229600" y="6473952"/>
            <a:ext cx="3657600" cy="320040"/>
          </a:xfrm>
          <a:prstGeom prst="rect">
            <a:avLst/>
          </a:prstGeom>
          <a:noFill/>
        </p:spPr>
        <p:txBody>
          <a:bodyPr wrap="square">
            <a:spAutoFit/>
          </a:bodyPr>
          <a:lstStyle/>
          <a:p>
            <a:pPr algn="ctr"/>
            <a:r>
              <a:rPr sz="900" b="0" i="1">
                <a:solidFill>
                  <a:srgbClr val="CCD6E0"/>
                </a:solidFill>
              </a:rPr>
              <a:t>Fig 6. Score boxplot: faithful vs hallucinated</a:t>
            </a:r>
          </a:p>
        </p:txBody>
      </p:sp>
      <p:pic>
        <p:nvPicPr>
          <p:cNvPr id="31" name="Picture 30">
            <a:extLst>
              <a:ext uri="{FF2B5EF4-FFF2-40B4-BE49-F238E27FC236}">
                <a16:creationId xmlns:a16="http://schemas.microsoft.com/office/drawing/2014/main" id="{664FAE57-DB03-87B3-29FB-C48F3558ABF9}"/>
              </a:ext>
            </a:extLst>
          </p:cNvPr>
          <p:cNvPicPr>
            <a:picLocks noChangeAspect="1"/>
          </p:cNvPicPr>
          <p:nvPr/>
        </p:nvPicPr>
        <p:blipFill>
          <a:blip r:embed="rId3"/>
          <a:stretch>
            <a:fillRect/>
          </a:stretch>
        </p:blipFill>
        <p:spPr>
          <a:xfrm>
            <a:off x="8246094" y="3060545"/>
            <a:ext cx="3641972" cy="3375515"/>
          </a:xfrm>
          <a:prstGeom prst="rect">
            <a:avLst/>
          </a:prstGeom>
        </p:spPr>
      </p:pic>
      <p:pic>
        <p:nvPicPr>
          <p:cNvPr id="32" name="Picture 31">
            <a:extLst>
              <a:ext uri="{FF2B5EF4-FFF2-40B4-BE49-F238E27FC236}">
                <a16:creationId xmlns:a16="http://schemas.microsoft.com/office/drawing/2014/main" id="{31EF95B3-FC16-B2FD-7B8C-3DE29793967B}"/>
              </a:ext>
            </a:extLst>
          </p:cNvPr>
          <p:cNvPicPr>
            <a:picLocks noChangeAspect="1"/>
          </p:cNvPicPr>
          <p:nvPr/>
        </p:nvPicPr>
        <p:blipFill>
          <a:blip r:embed="rId4"/>
          <a:stretch>
            <a:fillRect/>
          </a:stretch>
        </p:blipFill>
        <p:spPr>
          <a:xfrm>
            <a:off x="4250172" y="3066490"/>
            <a:ext cx="3759515" cy="3327972"/>
          </a:xfrm>
          <a:prstGeom prst="rect">
            <a:avLst/>
          </a:prstGeom>
        </p:spPr>
      </p:pic>
      <p:pic>
        <p:nvPicPr>
          <p:cNvPr id="33" name="Picture 32">
            <a:extLst>
              <a:ext uri="{FF2B5EF4-FFF2-40B4-BE49-F238E27FC236}">
                <a16:creationId xmlns:a16="http://schemas.microsoft.com/office/drawing/2014/main" id="{FD829F7F-5301-21D7-0986-D7DCA2C5DA5F}"/>
              </a:ext>
            </a:extLst>
          </p:cNvPr>
          <p:cNvPicPr>
            <a:picLocks noChangeAspect="1"/>
          </p:cNvPicPr>
          <p:nvPr/>
        </p:nvPicPr>
        <p:blipFill>
          <a:blip r:embed="rId5"/>
          <a:stretch>
            <a:fillRect/>
          </a:stretch>
        </p:blipFill>
        <p:spPr>
          <a:xfrm>
            <a:off x="327472" y="3060545"/>
            <a:ext cx="3742501" cy="331608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4572000" cy="320040"/>
          </a:xfrm>
          <a:prstGeom prst="rect">
            <a:avLst/>
          </a:prstGeom>
          <a:noFill/>
        </p:spPr>
        <p:txBody>
          <a:bodyPr wrap="square">
            <a:spAutoFit/>
          </a:bodyPr>
          <a:lstStyle/>
          <a:p>
            <a:pPr algn="l"/>
            <a:r>
              <a:rPr sz="1000" b="1" i="1">
                <a:solidFill>
                  <a:srgbClr val="00C2D1"/>
                </a:solidFill>
              </a:rPr>
              <a:t>RESULTS — VQA VALIDATION &amp; SELF-CONSISTENCY</a:t>
            </a:r>
          </a:p>
        </p:txBody>
      </p:sp>
      <p:sp>
        <p:nvSpPr>
          <p:cNvPr id="4" name="TextBox 3"/>
          <p:cNvSpPr txBox="1"/>
          <p:nvPr/>
        </p:nvSpPr>
        <p:spPr>
          <a:xfrm>
            <a:off x="320040" y="502920"/>
            <a:ext cx="10972800" cy="640080"/>
          </a:xfrm>
          <a:prstGeom prst="rect">
            <a:avLst/>
          </a:prstGeom>
          <a:noFill/>
        </p:spPr>
        <p:txBody>
          <a:bodyPr wrap="square">
            <a:spAutoFit/>
          </a:bodyPr>
          <a:lstStyle/>
          <a:p>
            <a:pPr algn="l"/>
            <a:r>
              <a:rPr sz="3000" b="1" i="0">
                <a:solidFill>
                  <a:srgbClr val="FFFFFF"/>
                </a:solidFill>
              </a:rPr>
              <a:t>OK-VQA &amp; Multi-Image Self-Consistency</a:t>
            </a:r>
          </a:p>
        </p:txBody>
      </p:sp>
      <p:sp>
        <p:nvSpPr>
          <p:cNvPr id="5" name="Rectangle 4"/>
          <p:cNvSpPr/>
          <p:nvPr/>
        </p:nvSpPr>
        <p:spPr>
          <a:xfrm>
            <a:off x="0" y="1143000"/>
            <a:ext cx="8229600" cy="41148"/>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1261872"/>
            <a:ext cx="5486400" cy="347472"/>
          </a:xfrm>
          <a:prstGeom prst="rect">
            <a:avLst/>
          </a:prstGeom>
          <a:noFill/>
        </p:spPr>
        <p:txBody>
          <a:bodyPr wrap="square">
            <a:spAutoFit/>
          </a:bodyPr>
          <a:lstStyle/>
          <a:p>
            <a:pPr algn="l"/>
            <a:r>
              <a:rPr sz="1500" b="1" i="0">
                <a:solidFill>
                  <a:srgbClr val="00C2D1"/>
                </a:solidFill>
              </a:rPr>
              <a:t>OK-VQA: Pipeline Validation</a:t>
            </a:r>
          </a:p>
        </p:txBody>
      </p:sp>
      <p:sp>
        <p:nvSpPr>
          <p:cNvPr id="7" name="TextBox 6"/>
          <p:cNvSpPr txBox="1"/>
          <p:nvPr/>
        </p:nvSpPr>
        <p:spPr>
          <a:xfrm>
            <a:off x="320040" y="1627632"/>
            <a:ext cx="5669280" cy="594360"/>
          </a:xfrm>
          <a:prstGeom prst="rect">
            <a:avLst/>
          </a:prstGeom>
          <a:noFill/>
        </p:spPr>
        <p:txBody>
          <a:bodyPr wrap="square">
            <a:spAutoFit/>
          </a:bodyPr>
          <a:lstStyle/>
          <a:p>
            <a:pPr algn="l"/>
            <a:r>
              <a:rPr sz="1300" b="0" i="0">
                <a:solidFill>
                  <a:srgbClr val="CCD6E0"/>
                </a:solidFill>
              </a:rPr>
              <a:t>Tests whether BLIP-VQA answers correctly on real images.
High agreement rate validates the VQA backbone is functional.</a:t>
            </a:r>
          </a:p>
        </p:txBody>
      </p:sp>
      <p:sp>
        <p:nvSpPr>
          <p:cNvPr id="8" name="Rectangle 7"/>
          <p:cNvSpPr/>
          <p:nvPr/>
        </p:nvSpPr>
        <p:spPr>
          <a:xfrm>
            <a:off x="320040" y="2286000"/>
            <a:ext cx="5669280" cy="365760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79" y="3931920"/>
            <a:ext cx="5486400" cy="365760"/>
          </a:xfrm>
          <a:prstGeom prst="rect">
            <a:avLst/>
          </a:prstGeom>
          <a:noFill/>
        </p:spPr>
        <p:txBody>
          <a:bodyPr wrap="square">
            <a:spAutoFit/>
          </a:bodyPr>
          <a:lstStyle/>
          <a:p>
            <a:pPr algn="ctr"/>
            <a:r>
              <a:rPr sz="1100" b="0" i="1">
                <a:solidFill>
                  <a:srgbClr val="CCD6E0"/>
                </a:solidFill>
              </a:rPr>
              <a:t>[ Screenshot: okvqa_plot.png ]</a:t>
            </a:r>
          </a:p>
        </p:txBody>
      </p:sp>
      <p:sp>
        <p:nvSpPr>
          <p:cNvPr id="10" name="TextBox 9"/>
          <p:cNvSpPr txBox="1"/>
          <p:nvPr/>
        </p:nvSpPr>
        <p:spPr>
          <a:xfrm>
            <a:off x="320040" y="5961888"/>
            <a:ext cx="5669280" cy="320040"/>
          </a:xfrm>
          <a:prstGeom prst="rect">
            <a:avLst/>
          </a:prstGeom>
          <a:noFill/>
        </p:spPr>
        <p:txBody>
          <a:bodyPr wrap="square">
            <a:spAutoFit/>
          </a:bodyPr>
          <a:lstStyle/>
          <a:p>
            <a:pPr algn="ctr"/>
            <a:r>
              <a:rPr sz="900" b="0" i="1">
                <a:solidFill>
                  <a:srgbClr val="CCD6E0"/>
                </a:solidFill>
              </a:rPr>
              <a:t>Fig 7. OK-VQA: faith score vs answer correctness</a:t>
            </a:r>
          </a:p>
        </p:txBody>
      </p:sp>
      <p:sp>
        <p:nvSpPr>
          <p:cNvPr id="11" name="Rectangle 10"/>
          <p:cNvSpPr/>
          <p:nvPr/>
        </p:nvSpPr>
        <p:spPr>
          <a:xfrm>
            <a:off x="6172200" y="1234440"/>
            <a:ext cx="36576" cy="502920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261872"/>
            <a:ext cx="5486400" cy="347472"/>
          </a:xfrm>
          <a:prstGeom prst="rect">
            <a:avLst/>
          </a:prstGeom>
          <a:noFill/>
        </p:spPr>
        <p:txBody>
          <a:bodyPr wrap="square">
            <a:spAutoFit/>
          </a:bodyPr>
          <a:lstStyle/>
          <a:p>
            <a:pPr algn="l"/>
            <a:r>
              <a:rPr sz="1500" b="1" i="0">
                <a:solidFill>
                  <a:srgbClr val="00C2D1"/>
                </a:solidFill>
              </a:rPr>
              <a:t>Self-Consistency: Uncertainty Signal</a:t>
            </a:r>
          </a:p>
        </p:txBody>
      </p:sp>
      <p:sp>
        <p:nvSpPr>
          <p:cNvPr id="13" name="Rectangle 12"/>
          <p:cNvSpPr/>
          <p:nvPr/>
        </p:nvSpPr>
        <p:spPr>
          <a:xfrm>
            <a:off x="6400800" y="1627632"/>
            <a:ext cx="5486400" cy="352044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3204972"/>
            <a:ext cx="5303520" cy="365760"/>
          </a:xfrm>
          <a:prstGeom prst="rect">
            <a:avLst/>
          </a:prstGeom>
          <a:noFill/>
        </p:spPr>
        <p:txBody>
          <a:bodyPr wrap="square">
            <a:spAutoFit/>
          </a:bodyPr>
          <a:lstStyle/>
          <a:p>
            <a:pPr algn="ctr"/>
            <a:r>
              <a:rPr sz="1100" b="0" i="1">
                <a:solidFill>
                  <a:srgbClr val="CCD6E0"/>
                </a:solidFill>
              </a:rPr>
              <a:t>[ Screenshot: self_consistency_plot.png ]</a:t>
            </a:r>
          </a:p>
        </p:txBody>
      </p:sp>
      <p:sp>
        <p:nvSpPr>
          <p:cNvPr id="15" name="TextBox 14"/>
          <p:cNvSpPr txBox="1"/>
          <p:nvPr/>
        </p:nvSpPr>
        <p:spPr>
          <a:xfrm>
            <a:off x="6446520" y="5230368"/>
            <a:ext cx="5486400" cy="320040"/>
          </a:xfrm>
          <a:prstGeom prst="rect">
            <a:avLst/>
          </a:prstGeom>
          <a:noFill/>
        </p:spPr>
        <p:txBody>
          <a:bodyPr wrap="square">
            <a:spAutoFit/>
          </a:bodyPr>
          <a:lstStyle/>
          <a:p>
            <a:pPr algn="l"/>
            <a:r>
              <a:rPr sz="1100" b="0" i="0">
                <a:solidFill>
                  <a:srgbClr val="CCD6E0"/>
                </a:solidFill>
              </a:rPr>
              <a:t>🟢 Low Var · High Mean  → LOW risk</a:t>
            </a:r>
          </a:p>
        </p:txBody>
      </p:sp>
      <p:sp>
        <p:nvSpPr>
          <p:cNvPr id="16" name="TextBox 15"/>
          <p:cNvSpPr txBox="1"/>
          <p:nvPr/>
        </p:nvSpPr>
        <p:spPr>
          <a:xfrm>
            <a:off x="6446520" y="5577840"/>
            <a:ext cx="5486400" cy="320040"/>
          </a:xfrm>
          <a:prstGeom prst="rect">
            <a:avLst/>
          </a:prstGeom>
          <a:noFill/>
        </p:spPr>
        <p:txBody>
          <a:bodyPr wrap="square">
            <a:spAutoFit/>
          </a:bodyPr>
          <a:lstStyle/>
          <a:p>
            <a:pPr algn="l"/>
            <a:r>
              <a:rPr sz="1100" b="0" i="0">
                <a:solidFill>
                  <a:srgbClr val="CCD6E0"/>
                </a:solidFill>
              </a:rPr>
              <a:t>🟡 High Variance  → UNCERTAIN</a:t>
            </a:r>
          </a:p>
        </p:txBody>
      </p:sp>
      <p:sp>
        <p:nvSpPr>
          <p:cNvPr id="17" name="TextBox 16"/>
          <p:cNvSpPr txBox="1"/>
          <p:nvPr/>
        </p:nvSpPr>
        <p:spPr>
          <a:xfrm>
            <a:off x="6446520" y="5925312"/>
            <a:ext cx="5486400" cy="320040"/>
          </a:xfrm>
          <a:prstGeom prst="rect">
            <a:avLst/>
          </a:prstGeom>
          <a:noFill/>
        </p:spPr>
        <p:txBody>
          <a:bodyPr wrap="square">
            <a:spAutoFit/>
          </a:bodyPr>
          <a:lstStyle/>
          <a:p>
            <a:pPr algn="l"/>
            <a:r>
              <a:rPr sz="1100" b="0" i="0">
                <a:solidFill>
                  <a:srgbClr val="CCD6E0"/>
                </a:solidFill>
              </a:rPr>
              <a:t>🔴 Low Var · Low Mean  → DEFINITE hallucination</a:t>
            </a:r>
          </a:p>
        </p:txBody>
      </p:sp>
      <p:pic>
        <p:nvPicPr>
          <p:cNvPr id="18" name="Picture 17">
            <a:extLst>
              <a:ext uri="{FF2B5EF4-FFF2-40B4-BE49-F238E27FC236}">
                <a16:creationId xmlns:a16="http://schemas.microsoft.com/office/drawing/2014/main" id="{7BA39259-AE50-B885-701E-A97E25B95A24}"/>
              </a:ext>
            </a:extLst>
          </p:cNvPr>
          <p:cNvPicPr>
            <a:picLocks noChangeAspect="1"/>
          </p:cNvPicPr>
          <p:nvPr/>
        </p:nvPicPr>
        <p:blipFill>
          <a:blip r:embed="rId3"/>
          <a:stretch>
            <a:fillRect/>
          </a:stretch>
        </p:blipFill>
        <p:spPr>
          <a:xfrm>
            <a:off x="313950" y="2231311"/>
            <a:ext cx="5688481" cy="3691506"/>
          </a:xfrm>
          <a:prstGeom prst="rect">
            <a:avLst/>
          </a:prstGeom>
        </p:spPr>
      </p:pic>
      <p:pic>
        <p:nvPicPr>
          <p:cNvPr id="19" name="Picture 18">
            <a:extLst>
              <a:ext uri="{FF2B5EF4-FFF2-40B4-BE49-F238E27FC236}">
                <a16:creationId xmlns:a16="http://schemas.microsoft.com/office/drawing/2014/main" id="{5D09EF0E-1BAB-A76D-E053-B414041C5AF8}"/>
              </a:ext>
            </a:extLst>
          </p:cNvPr>
          <p:cNvPicPr>
            <a:picLocks noChangeAspect="1"/>
          </p:cNvPicPr>
          <p:nvPr/>
        </p:nvPicPr>
        <p:blipFill>
          <a:blip r:embed="rId4"/>
          <a:stretch>
            <a:fillRect/>
          </a:stretch>
        </p:blipFill>
        <p:spPr>
          <a:xfrm>
            <a:off x="6808025" y="1582966"/>
            <a:ext cx="4675891" cy="1805298"/>
          </a:xfrm>
          <a:prstGeom prst="rect">
            <a:avLst/>
          </a:prstGeom>
        </p:spPr>
      </p:pic>
      <p:pic>
        <p:nvPicPr>
          <p:cNvPr id="22" name="Picture 21">
            <a:extLst>
              <a:ext uri="{FF2B5EF4-FFF2-40B4-BE49-F238E27FC236}">
                <a16:creationId xmlns:a16="http://schemas.microsoft.com/office/drawing/2014/main" id="{2F9299F0-DD79-4F47-6F01-4E9D0F9FCED0}"/>
              </a:ext>
            </a:extLst>
          </p:cNvPr>
          <p:cNvPicPr>
            <a:picLocks noChangeAspect="1"/>
          </p:cNvPicPr>
          <p:nvPr/>
        </p:nvPicPr>
        <p:blipFill>
          <a:blip r:embed="rId5"/>
          <a:stretch>
            <a:fillRect/>
          </a:stretch>
        </p:blipFill>
        <p:spPr>
          <a:xfrm>
            <a:off x="7369800" y="3387984"/>
            <a:ext cx="3552342" cy="175551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00C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4572000" cy="320040"/>
          </a:xfrm>
          <a:prstGeom prst="rect">
            <a:avLst/>
          </a:prstGeom>
          <a:noFill/>
        </p:spPr>
        <p:txBody>
          <a:bodyPr wrap="square">
            <a:spAutoFit/>
          </a:bodyPr>
          <a:lstStyle/>
          <a:p>
            <a:pPr algn="l"/>
            <a:r>
              <a:rPr sz="1000" b="1" i="1">
                <a:solidFill>
                  <a:srgbClr val="00C2D1"/>
                </a:solidFill>
              </a:rPr>
              <a:t>PROJECT JOURNEY — CHALLENGES</a:t>
            </a:r>
          </a:p>
        </p:txBody>
      </p:sp>
      <p:sp>
        <p:nvSpPr>
          <p:cNvPr id="4" name="TextBox 3"/>
          <p:cNvSpPr txBox="1"/>
          <p:nvPr/>
        </p:nvSpPr>
        <p:spPr>
          <a:xfrm>
            <a:off x="320040" y="502920"/>
            <a:ext cx="10972800" cy="640080"/>
          </a:xfrm>
          <a:prstGeom prst="rect">
            <a:avLst/>
          </a:prstGeom>
          <a:noFill/>
        </p:spPr>
        <p:txBody>
          <a:bodyPr wrap="square">
            <a:spAutoFit/>
          </a:bodyPr>
          <a:lstStyle/>
          <a:p>
            <a:pPr algn="l"/>
            <a:r>
              <a:rPr sz="3000" b="1" i="0">
                <a:solidFill>
                  <a:srgbClr val="FFFFFF"/>
                </a:solidFill>
              </a:rPr>
              <a:t>Key Challenges Faced &amp; How I Addressed Them</a:t>
            </a:r>
          </a:p>
        </p:txBody>
      </p:sp>
      <p:sp>
        <p:nvSpPr>
          <p:cNvPr id="5" name="Rectangle 4"/>
          <p:cNvSpPr/>
          <p:nvPr/>
        </p:nvSpPr>
        <p:spPr>
          <a:xfrm>
            <a:off x="0" y="1143000"/>
            <a:ext cx="8229600" cy="41148"/>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1298448"/>
            <a:ext cx="11521440" cy="118872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298448"/>
            <a:ext cx="54864" cy="1188720"/>
          </a:xfrm>
          <a:prstGeom prst="rect">
            <a:avLst/>
          </a:prstGeom>
          <a:solidFill>
            <a:srgbClr val="00C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353312"/>
            <a:ext cx="5303520" cy="347472"/>
          </a:xfrm>
          <a:prstGeom prst="rect">
            <a:avLst/>
          </a:prstGeom>
          <a:noFill/>
        </p:spPr>
        <p:txBody>
          <a:bodyPr wrap="square">
            <a:spAutoFit/>
          </a:bodyPr>
          <a:lstStyle/>
          <a:p>
            <a:pPr algn="l"/>
            <a:r>
              <a:rPr sz="1200" b="1" i="0">
                <a:solidFill>
                  <a:srgbClr val="00C2D1"/>
                </a:solidFill>
              </a:rPr>
              <a:t>Challenge 1: Benchmark validity</a:t>
            </a:r>
          </a:p>
        </p:txBody>
      </p:sp>
      <p:sp>
        <p:nvSpPr>
          <p:cNvPr id="9" name="TextBox 8"/>
          <p:cNvSpPr txBox="1"/>
          <p:nvPr/>
        </p:nvSpPr>
        <p:spPr>
          <a:xfrm>
            <a:off x="457200" y="1719072"/>
            <a:ext cx="5303520" cy="594360"/>
          </a:xfrm>
          <a:prstGeom prst="rect">
            <a:avLst/>
          </a:prstGeom>
          <a:noFill/>
        </p:spPr>
        <p:txBody>
          <a:bodyPr wrap="square">
            <a:spAutoFit/>
          </a:bodyPr>
          <a:lstStyle/>
          <a:p>
            <a:pPr algn="l"/>
            <a:r>
              <a:rPr sz="1000" b="0" i="1">
                <a:solidFill>
                  <a:srgbClr val="CCD6E0"/>
                </a:solidFill>
              </a:rPr>
              <a:t>Advisor feedback: Flickr30k has no hallucination labels.
Comparing GT vs Generated images doesn't prove the metric predicts hallucinations.</a:t>
            </a:r>
          </a:p>
        </p:txBody>
      </p:sp>
      <p:sp>
        <p:nvSpPr>
          <p:cNvPr id="10" name="TextBox 9"/>
          <p:cNvSpPr txBox="1"/>
          <p:nvPr/>
        </p:nvSpPr>
        <p:spPr>
          <a:xfrm>
            <a:off x="5989320" y="1353312"/>
            <a:ext cx="1371600" cy="320040"/>
          </a:xfrm>
          <a:prstGeom prst="rect">
            <a:avLst/>
          </a:prstGeom>
          <a:noFill/>
        </p:spPr>
        <p:txBody>
          <a:bodyPr wrap="square">
            <a:spAutoFit/>
          </a:bodyPr>
          <a:lstStyle/>
          <a:p>
            <a:pPr algn="l"/>
            <a:r>
              <a:rPr sz="1100" b="1" i="0">
                <a:solidFill>
                  <a:srgbClr val="2ECC71"/>
                </a:solidFill>
              </a:rPr>
              <a:t>✅ Resolution:</a:t>
            </a:r>
          </a:p>
        </p:txBody>
      </p:sp>
      <p:sp>
        <p:nvSpPr>
          <p:cNvPr id="11" name="TextBox 10"/>
          <p:cNvSpPr txBox="1"/>
          <p:nvPr/>
        </p:nvSpPr>
        <p:spPr>
          <a:xfrm>
            <a:off x="5989320" y="1719072"/>
            <a:ext cx="5486400" cy="594360"/>
          </a:xfrm>
          <a:prstGeom prst="rect">
            <a:avLst/>
          </a:prstGeom>
          <a:noFill/>
        </p:spPr>
        <p:txBody>
          <a:bodyPr wrap="square">
            <a:spAutoFit/>
          </a:bodyPr>
          <a:lstStyle/>
          <a:p>
            <a:pPr algn="l"/>
            <a:r>
              <a:rPr sz="1000" b="0" i="0">
                <a:solidFill>
                  <a:srgbClr val="CCD6E0"/>
                </a:solidFill>
              </a:rPr>
              <a:t>Switched to POPE and OK-VQA — datasets with ground-truth
hallucination labels. Added ROC-AUC as the rigorous evaluation metric.</a:t>
            </a:r>
          </a:p>
        </p:txBody>
      </p:sp>
      <p:sp>
        <p:nvSpPr>
          <p:cNvPr id="12" name="Rectangle 11"/>
          <p:cNvSpPr/>
          <p:nvPr/>
        </p:nvSpPr>
        <p:spPr>
          <a:xfrm>
            <a:off x="320040" y="2596896"/>
            <a:ext cx="11521440" cy="118872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20040" y="2596896"/>
            <a:ext cx="54864" cy="118872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2651760"/>
            <a:ext cx="5303520" cy="347472"/>
          </a:xfrm>
          <a:prstGeom prst="rect">
            <a:avLst/>
          </a:prstGeom>
          <a:noFill/>
        </p:spPr>
        <p:txBody>
          <a:bodyPr wrap="square">
            <a:spAutoFit/>
          </a:bodyPr>
          <a:lstStyle/>
          <a:p>
            <a:pPr algn="l"/>
            <a:r>
              <a:rPr sz="1200" b="1" i="0">
                <a:solidFill>
                  <a:srgbClr val="FA4D00"/>
                </a:solidFill>
              </a:rPr>
              <a:t>Challenge 2: Dataset access</a:t>
            </a:r>
          </a:p>
        </p:txBody>
      </p:sp>
      <p:sp>
        <p:nvSpPr>
          <p:cNvPr id="15" name="TextBox 14"/>
          <p:cNvSpPr txBox="1"/>
          <p:nvPr/>
        </p:nvSpPr>
        <p:spPr>
          <a:xfrm>
            <a:off x="457200" y="3017520"/>
            <a:ext cx="5303520" cy="594360"/>
          </a:xfrm>
          <a:prstGeom prst="rect">
            <a:avLst/>
          </a:prstGeom>
          <a:noFill/>
        </p:spPr>
        <p:txBody>
          <a:bodyPr wrap="square">
            <a:spAutoFit/>
          </a:bodyPr>
          <a:lstStyle/>
          <a:p>
            <a:pPr algn="l"/>
            <a:r>
              <a:rPr sz="1000" b="0" i="1">
                <a:solidFill>
                  <a:srgbClr val="CCD6E0"/>
                </a:solidFill>
              </a:rPr>
              <a:t>T2I-CompBench and VIBE — the originally recommended datasets —
returned 404 errors on all known HuggingFace paths.</a:t>
            </a:r>
          </a:p>
        </p:txBody>
      </p:sp>
      <p:sp>
        <p:nvSpPr>
          <p:cNvPr id="16" name="TextBox 15"/>
          <p:cNvSpPr txBox="1"/>
          <p:nvPr/>
        </p:nvSpPr>
        <p:spPr>
          <a:xfrm>
            <a:off x="5989320" y="2651760"/>
            <a:ext cx="1371600" cy="320040"/>
          </a:xfrm>
          <a:prstGeom prst="rect">
            <a:avLst/>
          </a:prstGeom>
          <a:noFill/>
        </p:spPr>
        <p:txBody>
          <a:bodyPr wrap="square">
            <a:spAutoFit/>
          </a:bodyPr>
          <a:lstStyle/>
          <a:p>
            <a:pPr algn="l"/>
            <a:r>
              <a:rPr sz="1100" b="1" i="0">
                <a:solidFill>
                  <a:srgbClr val="2ECC71"/>
                </a:solidFill>
              </a:rPr>
              <a:t>✅ Resolution:</a:t>
            </a:r>
          </a:p>
        </p:txBody>
      </p:sp>
      <p:sp>
        <p:nvSpPr>
          <p:cNvPr id="17" name="TextBox 16"/>
          <p:cNvSpPr txBox="1"/>
          <p:nvPr/>
        </p:nvSpPr>
        <p:spPr>
          <a:xfrm>
            <a:off x="5989320" y="3017520"/>
            <a:ext cx="5486400" cy="594360"/>
          </a:xfrm>
          <a:prstGeom prst="rect">
            <a:avLst/>
          </a:prstGeom>
          <a:noFill/>
        </p:spPr>
        <p:txBody>
          <a:bodyPr wrap="square">
            <a:spAutoFit/>
          </a:bodyPr>
          <a:lstStyle/>
          <a:p>
            <a:pPr algn="l"/>
            <a:r>
              <a:rPr sz="1000" b="0" i="0">
                <a:solidFill>
                  <a:srgbClr val="CCD6E0"/>
                </a:solidFill>
              </a:rPr>
              <a:t>Found POPE (lmms-lab) and OK-VQA (Multimodal-Fatima)
as confirmed-working alternatives with equivalent labelling.</a:t>
            </a:r>
          </a:p>
        </p:txBody>
      </p:sp>
      <p:sp>
        <p:nvSpPr>
          <p:cNvPr id="18" name="Rectangle 17"/>
          <p:cNvSpPr/>
          <p:nvPr/>
        </p:nvSpPr>
        <p:spPr>
          <a:xfrm>
            <a:off x="320040" y="3895344"/>
            <a:ext cx="11521440" cy="118872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0040" y="3895344"/>
            <a:ext cx="54864" cy="11887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950207"/>
            <a:ext cx="5303520" cy="347472"/>
          </a:xfrm>
          <a:prstGeom prst="rect">
            <a:avLst/>
          </a:prstGeom>
          <a:noFill/>
        </p:spPr>
        <p:txBody>
          <a:bodyPr wrap="square">
            <a:spAutoFit/>
          </a:bodyPr>
          <a:lstStyle/>
          <a:p>
            <a:pPr algn="l"/>
            <a:r>
              <a:rPr sz="1200" b="1" i="0">
                <a:solidFill>
                  <a:srgbClr val="2ECC71"/>
                </a:solidFill>
              </a:rPr>
              <a:t>Challenge 3: Question generation quality</a:t>
            </a:r>
          </a:p>
        </p:txBody>
      </p:sp>
      <p:sp>
        <p:nvSpPr>
          <p:cNvPr id="21" name="TextBox 20"/>
          <p:cNvSpPr txBox="1"/>
          <p:nvPr/>
        </p:nvSpPr>
        <p:spPr>
          <a:xfrm>
            <a:off x="457200" y="4315968"/>
            <a:ext cx="5303520" cy="594360"/>
          </a:xfrm>
          <a:prstGeom prst="rect">
            <a:avLst/>
          </a:prstGeom>
          <a:noFill/>
        </p:spPr>
        <p:txBody>
          <a:bodyPr wrap="square">
            <a:spAutoFit/>
          </a:bodyPr>
          <a:lstStyle/>
          <a:p>
            <a:pPr algn="l"/>
            <a:r>
              <a:rPr sz="1000" b="0" i="1">
                <a:solidFill>
                  <a:srgbClr val="CCD6E0"/>
                </a:solidFill>
              </a:rPr>
              <a:t>Flan-T5 and other small LLMs produced incoherent structured outputs
for VQA question generation — worse than rule-based parsing.</a:t>
            </a:r>
          </a:p>
        </p:txBody>
      </p:sp>
      <p:sp>
        <p:nvSpPr>
          <p:cNvPr id="22" name="TextBox 21"/>
          <p:cNvSpPr txBox="1"/>
          <p:nvPr/>
        </p:nvSpPr>
        <p:spPr>
          <a:xfrm>
            <a:off x="5989320" y="3950207"/>
            <a:ext cx="1371600" cy="320040"/>
          </a:xfrm>
          <a:prstGeom prst="rect">
            <a:avLst/>
          </a:prstGeom>
          <a:noFill/>
        </p:spPr>
        <p:txBody>
          <a:bodyPr wrap="square">
            <a:spAutoFit/>
          </a:bodyPr>
          <a:lstStyle/>
          <a:p>
            <a:pPr algn="l"/>
            <a:r>
              <a:rPr sz="1100" b="1" i="0">
                <a:solidFill>
                  <a:srgbClr val="2ECC71"/>
                </a:solidFill>
              </a:rPr>
              <a:t>✅ Resolution:</a:t>
            </a:r>
          </a:p>
        </p:txBody>
      </p:sp>
      <p:sp>
        <p:nvSpPr>
          <p:cNvPr id="23" name="TextBox 22"/>
          <p:cNvSpPr txBox="1"/>
          <p:nvPr/>
        </p:nvSpPr>
        <p:spPr>
          <a:xfrm>
            <a:off x="5989320" y="4315968"/>
            <a:ext cx="5486400" cy="594360"/>
          </a:xfrm>
          <a:prstGeom prst="rect">
            <a:avLst/>
          </a:prstGeom>
          <a:noFill/>
        </p:spPr>
        <p:txBody>
          <a:bodyPr wrap="square">
            <a:spAutoFit/>
          </a:bodyPr>
          <a:lstStyle/>
          <a:p>
            <a:pPr algn="l"/>
            <a:r>
              <a:rPr sz="1000" b="0" i="0">
                <a:solidFill>
                  <a:srgbClr val="CCD6E0"/>
                </a:solidFill>
              </a:rPr>
              <a:t>Built a comprehensive rule-based parser covering colors, counts,
spatial relations, actions, and existence checks with deduplication.</a:t>
            </a:r>
          </a:p>
        </p:txBody>
      </p:sp>
      <p:sp>
        <p:nvSpPr>
          <p:cNvPr id="24" name="Rectangle 23"/>
          <p:cNvSpPr/>
          <p:nvPr/>
        </p:nvSpPr>
        <p:spPr>
          <a:xfrm>
            <a:off x="320040" y="5193792"/>
            <a:ext cx="11521440" cy="118872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20040" y="5193792"/>
            <a:ext cx="54864" cy="11887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5248655"/>
            <a:ext cx="5303520" cy="347472"/>
          </a:xfrm>
          <a:prstGeom prst="rect">
            <a:avLst/>
          </a:prstGeom>
          <a:noFill/>
        </p:spPr>
        <p:txBody>
          <a:bodyPr wrap="square">
            <a:spAutoFit/>
          </a:bodyPr>
          <a:lstStyle/>
          <a:p>
            <a:pPr algn="l"/>
            <a:r>
              <a:rPr sz="1200" b="1" i="0">
                <a:solidFill>
                  <a:srgbClr val="E74C3C"/>
                </a:solidFill>
              </a:rPr>
              <a:t>Challenge 4: GT images scoring lower than generated</a:t>
            </a:r>
          </a:p>
        </p:txBody>
      </p:sp>
      <p:sp>
        <p:nvSpPr>
          <p:cNvPr id="27" name="TextBox 26"/>
          <p:cNvSpPr txBox="1"/>
          <p:nvPr/>
        </p:nvSpPr>
        <p:spPr>
          <a:xfrm>
            <a:off x="457200" y="5614416"/>
            <a:ext cx="5303520" cy="594360"/>
          </a:xfrm>
          <a:prstGeom prst="rect">
            <a:avLst/>
          </a:prstGeom>
          <a:noFill/>
        </p:spPr>
        <p:txBody>
          <a:bodyPr wrap="square">
            <a:spAutoFit/>
          </a:bodyPr>
          <a:lstStyle/>
          <a:p>
            <a:pPr algn="l"/>
            <a:r>
              <a:rPr sz="1000" b="0" i="1">
                <a:solidFill>
                  <a:srgbClr val="CCD6E0"/>
                </a:solidFill>
              </a:rPr>
              <a:t>Ground-truth images were not consistently outscoring generated ones,
undermining the benchmark's discriminative power.</a:t>
            </a:r>
          </a:p>
        </p:txBody>
      </p:sp>
      <p:sp>
        <p:nvSpPr>
          <p:cNvPr id="28" name="TextBox 27"/>
          <p:cNvSpPr txBox="1"/>
          <p:nvPr/>
        </p:nvSpPr>
        <p:spPr>
          <a:xfrm>
            <a:off x="5989320" y="5248655"/>
            <a:ext cx="1371600" cy="320040"/>
          </a:xfrm>
          <a:prstGeom prst="rect">
            <a:avLst/>
          </a:prstGeom>
          <a:noFill/>
        </p:spPr>
        <p:txBody>
          <a:bodyPr wrap="square">
            <a:spAutoFit/>
          </a:bodyPr>
          <a:lstStyle/>
          <a:p>
            <a:pPr algn="l"/>
            <a:r>
              <a:rPr sz="1100" b="1" i="0">
                <a:solidFill>
                  <a:srgbClr val="2ECC71"/>
                </a:solidFill>
              </a:rPr>
              <a:t>✅ Resolution:</a:t>
            </a:r>
          </a:p>
        </p:txBody>
      </p:sp>
      <p:sp>
        <p:nvSpPr>
          <p:cNvPr id="29" name="TextBox 28"/>
          <p:cNvSpPr txBox="1"/>
          <p:nvPr/>
        </p:nvSpPr>
        <p:spPr>
          <a:xfrm>
            <a:off x="5989320" y="5614416"/>
            <a:ext cx="5486400" cy="594360"/>
          </a:xfrm>
          <a:prstGeom prst="rect">
            <a:avLst/>
          </a:prstGeom>
          <a:noFill/>
        </p:spPr>
        <p:txBody>
          <a:bodyPr wrap="square">
            <a:spAutoFit/>
          </a:bodyPr>
          <a:lstStyle/>
          <a:p>
            <a:pPr algn="l"/>
            <a:r>
              <a:rPr sz="1000" b="0" i="0">
                <a:solidFill>
                  <a:srgbClr val="CCD6E0"/>
                </a:solidFill>
              </a:rPr>
              <a:t>Added image-grounded check extraction: use BLIP's own caption of the
GT image to anchor expected answers, making checks harder to pass trivially.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4572000" cy="320040"/>
          </a:xfrm>
          <a:prstGeom prst="rect">
            <a:avLst/>
          </a:prstGeom>
          <a:noFill/>
        </p:spPr>
        <p:txBody>
          <a:bodyPr wrap="square">
            <a:spAutoFit/>
          </a:bodyPr>
          <a:lstStyle/>
          <a:p>
            <a:pPr algn="l"/>
            <a:r>
              <a:rPr sz="1000" b="1" i="1">
                <a:solidFill>
                  <a:srgbClr val="00C2D1"/>
                </a:solidFill>
              </a:rPr>
              <a:t>PROJECT JOURNEY — LESSONS LEARNED</a:t>
            </a:r>
          </a:p>
        </p:txBody>
      </p:sp>
      <p:sp>
        <p:nvSpPr>
          <p:cNvPr id="4" name="TextBox 3"/>
          <p:cNvSpPr txBox="1"/>
          <p:nvPr/>
        </p:nvSpPr>
        <p:spPr>
          <a:xfrm>
            <a:off x="320040" y="502920"/>
            <a:ext cx="8229600" cy="640080"/>
          </a:xfrm>
          <a:prstGeom prst="rect">
            <a:avLst/>
          </a:prstGeom>
          <a:noFill/>
        </p:spPr>
        <p:txBody>
          <a:bodyPr wrap="square">
            <a:spAutoFit/>
          </a:bodyPr>
          <a:lstStyle/>
          <a:p>
            <a:pPr algn="l"/>
            <a:r>
              <a:rPr sz="3200" b="1" i="0">
                <a:solidFill>
                  <a:srgbClr val="FFFFFF"/>
                </a:solidFill>
              </a:rPr>
              <a:t>What I Learned</a:t>
            </a:r>
          </a:p>
        </p:txBody>
      </p:sp>
      <p:sp>
        <p:nvSpPr>
          <p:cNvPr id="5" name="Rectangle 4"/>
          <p:cNvSpPr/>
          <p:nvPr/>
        </p:nvSpPr>
        <p:spPr>
          <a:xfrm>
            <a:off x="0" y="1143000"/>
            <a:ext cx="5029200" cy="41148"/>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1261872"/>
            <a:ext cx="5486400" cy="347472"/>
          </a:xfrm>
          <a:prstGeom prst="rect">
            <a:avLst/>
          </a:prstGeom>
          <a:noFill/>
        </p:spPr>
        <p:txBody>
          <a:bodyPr wrap="square">
            <a:spAutoFit/>
          </a:bodyPr>
          <a:lstStyle/>
          <a:p>
            <a:pPr algn="l"/>
            <a:r>
              <a:rPr sz="1400" b="1" i="0">
                <a:solidFill>
                  <a:srgbClr val="00C2D1"/>
                </a:solidFill>
              </a:rPr>
              <a:t>Technical Lessons</a:t>
            </a:r>
          </a:p>
        </p:txBody>
      </p:sp>
      <p:sp>
        <p:nvSpPr>
          <p:cNvPr id="7" name="TextBox 6"/>
          <p:cNvSpPr txBox="1"/>
          <p:nvPr/>
        </p:nvSpPr>
        <p:spPr>
          <a:xfrm>
            <a:off x="320040" y="1627632"/>
            <a:ext cx="5760720" cy="521208"/>
          </a:xfrm>
          <a:prstGeom prst="rect">
            <a:avLst/>
          </a:prstGeom>
          <a:noFill/>
        </p:spPr>
        <p:txBody>
          <a:bodyPr wrap="square">
            <a:spAutoFit/>
          </a:bodyPr>
          <a:lstStyle/>
          <a:p>
            <a:pPr algn="l"/>
            <a:r>
              <a:rPr sz="1300" b="0" i="0">
                <a:solidFill>
                  <a:srgbClr val="CCD6E0"/>
                </a:solidFill>
              </a:rPr>
              <a:t>💡  Metric validation ≠ metric prediction — a non-random metric</a:t>
            </a:r>
          </a:p>
        </p:txBody>
      </p:sp>
      <p:sp>
        <p:nvSpPr>
          <p:cNvPr id="8" name="TextBox 7"/>
          <p:cNvSpPr txBox="1"/>
          <p:nvPr/>
        </p:nvSpPr>
        <p:spPr>
          <a:xfrm>
            <a:off x="320040" y="2103120"/>
            <a:ext cx="5760720" cy="521208"/>
          </a:xfrm>
          <a:prstGeom prst="rect">
            <a:avLst/>
          </a:prstGeom>
          <a:noFill/>
        </p:spPr>
        <p:txBody>
          <a:bodyPr wrap="square">
            <a:spAutoFit/>
          </a:bodyPr>
          <a:lstStyle/>
          <a:p>
            <a:pPr algn="l"/>
            <a:r>
              <a:rPr sz="1300" b="0" i="0">
                <a:solidFill>
                  <a:srgbClr val="CCD6E0"/>
                </a:solidFill>
              </a:rPr>
              <a:t>💡    still needs to be tested against ground-truth labels</a:t>
            </a:r>
          </a:p>
        </p:txBody>
      </p:sp>
      <p:sp>
        <p:nvSpPr>
          <p:cNvPr id="9" name="TextBox 8"/>
          <p:cNvSpPr txBox="1"/>
          <p:nvPr/>
        </p:nvSpPr>
        <p:spPr>
          <a:xfrm>
            <a:off x="320040" y="2578608"/>
            <a:ext cx="5760720" cy="521208"/>
          </a:xfrm>
          <a:prstGeom prst="rect">
            <a:avLst/>
          </a:prstGeom>
          <a:noFill/>
        </p:spPr>
        <p:txBody>
          <a:bodyPr wrap="square">
            <a:spAutoFit/>
          </a:bodyPr>
          <a:lstStyle/>
          <a:p>
            <a:pPr algn="l"/>
            <a:r>
              <a:rPr sz="1300" b="0" i="0">
                <a:solidFill>
                  <a:srgbClr val="CCD6E0"/>
                </a:solidFill>
              </a:rPr>
              <a:t>💡  Rule-based parsers outperform small LLMs for structured tasks</a:t>
            </a:r>
          </a:p>
        </p:txBody>
      </p:sp>
      <p:sp>
        <p:nvSpPr>
          <p:cNvPr id="10" name="TextBox 9"/>
          <p:cNvSpPr txBox="1"/>
          <p:nvPr/>
        </p:nvSpPr>
        <p:spPr>
          <a:xfrm>
            <a:off x="320040" y="3054096"/>
            <a:ext cx="5760720" cy="521208"/>
          </a:xfrm>
          <a:prstGeom prst="rect">
            <a:avLst/>
          </a:prstGeom>
          <a:noFill/>
        </p:spPr>
        <p:txBody>
          <a:bodyPr wrap="square">
            <a:spAutoFit/>
          </a:bodyPr>
          <a:lstStyle/>
          <a:p>
            <a:pPr algn="l"/>
            <a:r>
              <a:rPr sz="1300" b="0" i="0">
                <a:solidFill>
                  <a:srgbClr val="CCD6E0"/>
                </a:solidFill>
              </a:rPr>
              <a:t>💡  ROC-AUC is far more rigorous than mean comparison for classifiers</a:t>
            </a:r>
          </a:p>
        </p:txBody>
      </p:sp>
      <p:sp>
        <p:nvSpPr>
          <p:cNvPr id="11" name="TextBox 10"/>
          <p:cNvSpPr txBox="1"/>
          <p:nvPr/>
        </p:nvSpPr>
        <p:spPr>
          <a:xfrm>
            <a:off x="320040" y="3529584"/>
            <a:ext cx="5760720" cy="521208"/>
          </a:xfrm>
          <a:prstGeom prst="rect">
            <a:avLst/>
          </a:prstGeom>
          <a:noFill/>
        </p:spPr>
        <p:txBody>
          <a:bodyPr wrap="square">
            <a:spAutoFit/>
          </a:bodyPr>
          <a:lstStyle/>
          <a:p>
            <a:pPr algn="l"/>
            <a:r>
              <a:rPr sz="1300" b="0" i="0">
                <a:solidFill>
                  <a:srgbClr val="CCD6E0"/>
                </a:solidFill>
              </a:rPr>
              <a:t>💡  VQA errors propagate into faithfulness scores — calibrate VQA first</a:t>
            </a:r>
          </a:p>
        </p:txBody>
      </p:sp>
      <p:sp>
        <p:nvSpPr>
          <p:cNvPr id="12" name="TextBox 11"/>
          <p:cNvSpPr txBox="1"/>
          <p:nvPr/>
        </p:nvSpPr>
        <p:spPr>
          <a:xfrm>
            <a:off x="320040" y="4005072"/>
            <a:ext cx="5760720" cy="521208"/>
          </a:xfrm>
          <a:prstGeom prst="rect">
            <a:avLst/>
          </a:prstGeom>
          <a:noFill/>
        </p:spPr>
        <p:txBody>
          <a:bodyPr wrap="square">
            <a:spAutoFit/>
          </a:bodyPr>
          <a:lstStyle/>
          <a:p>
            <a:pPr algn="l"/>
            <a:r>
              <a:rPr sz="1300" b="0" i="0">
                <a:solidFill>
                  <a:srgbClr val="CCD6E0"/>
                </a:solidFill>
              </a:rPr>
              <a:t>💡  SDXL-Turbo generates better images at 4 steps vs SD v1.5 at 25</a:t>
            </a:r>
          </a:p>
        </p:txBody>
      </p:sp>
      <p:sp>
        <p:nvSpPr>
          <p:cNvPr id="13" name="Rectangle 12"/>
          <p:cNvSpPr/>
          <p:nvPr/>
        </p:nvSpPr>
        <p:spPr>
          <a:xfrm>
            <a:off x="6172200" y="1234440"/>
            <a:ext cx="36576" cy="502920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1261872"/>
            <a:ext cx="5486400" cy="347472"/>
          </a:xfrm>
          <a:prstGeom prst="rect">
            <a:avLst/>
          </a:prstGeom>
          <a:noFill/>
        </p:spPr>
        <p:txBody>
          <a:bodyPr wrap="square">
            <a:spAutoFit/>
          </a:bodyPr>
          <a:lstStyle/>
          <a:p>
            <a:pPr algn="l"/>
            <a:r>
              <a:rPr sz="1400" b="1" i="0">
                <a:solidFill>
                  <a:srgbClr val="00C2D1"/>
                </a:solidFill>
              </a:rPr>
              <a:t>Research &amp; Process Lessons</a:t>
            </a:r>
          </a:p>
        </p:txBody>
      </p:sp>
      <p:sp>
        <p:nvSpPr>
          <p:cNvPr id="15" name="TextBox 14"/>
          <p:cNvSpPr txBox="1"/>
          <p:nvPr/>
        </p:nvSpPr>
        <p:spPr>
          <a:xfrm>
            <a:off x="6400800" y="1627632"/>
            <a:ext cx="5486400" cy="521208"/>
          </a:xfrm>
          <a:prstGeom prst="rect">
            <a:avLst/>
          </a:prstGeom>
          <a:noFill/>
        </p:spPr>
        <p:txBody>
          <a:bodyPr wrap="square">
            <a:spAutoFit/>
          </a:bodyPr>
          <a:lstStyle/>
          <a:p>
            <a:pPr algn="l"/>
            <a:r>
              <a:rPr sz="1300" b="0" i="0">
                <a:solidFill>
                  <a:srgbClr val="CCD6E0"/>
                </a:solidFill>
              </a:rPr>
              <a:t>📌  Scope refinement mid-project is a sign of rigor, not failure</a:t>
            </a:r>
          </a:p>
        </p:txBody>
      </p:sp>
      <p:sp>
        <p:nvSpPr>
          <p:cNvPr id="16" name="TextBox 15"/>
          <p:cNvSpPr txBox="1"/>
          <p:nvPr/>
        </p:nvSpPr>
        <p:spPr>
          <a:xfrm>
            <a:off x="6400800" y="2103120"/>
            <a:ext cx="5486400" cy="521208"/>
          </a:xfrm>
          <a:prstGeom prst="rect">
            <a:avLst/>
          </a:prstGeom>
          <a:noFill/>
        </p:spPr>
        <p:txBody>
          <a:bodyPr wrap="square">
            <a:spAutoFit/>
          </a:bodyPr>
          <a:lstStyle/>
          <a:p>
            <a:pPr algn="l"/>
            <a:r>
              <a:rPr sz="1300" b="0" i="0">
                <a:solidFill>
                  <a:srgbClr val="CCD6E0"/>
                </a:solidFill>
              </a:rPr>
              <a:t>📌  Advisor challenges are opportunities — each one improved the system</a:t>
            </a:r>
          </a:p>
        </p:txBody>
      </p:sp>
      <p:sp>
        <p:nvSpPr>
          <p:cNvPr id="17" name="TextBox 16"/>
          <p:cNvSpPr txBox="1"/>
          <p:nvPr/>
        </p:nvSpPr>
        <p:spPr>
          <a:xfrm>
            <a:off x="6400800" y="2578608"/>
            <a:ext cx="5486400" cy="521208"/>
          </a:xfrm>
          <a:prstGeom prst="rect">
            <a:avLst/>
          </a:prstGeom>
          <a:noFill/>
        </p:spPr>
        <p:txBody>
          <a:bodyPr wrap="square">
            <a:spAutoFit/>
          </a:bodyPr>
          <a:lstStyle/>
          <a:p>
            <a:pPr algn="l"/>
            <a:r>
              <a:rPr sz="1300" b="0" i="0">
                <a:solidFill>
                  <a:srgbClr val="CCD6E0"/>
                </a:solidFill>
              </a:rPr>
              <a:t>📌  Dataset availability is a real constraint — always have a backup</a:t>
            </a:r>
          </a:p>
        </p:txBody>
      </p:sp>
      <p:sp>
        <p:nvSpPr>
          <p:cNvPr id="18" name="TextBox 17"/>
          <p:cNvSpPr txBox="1"/>
          <p:nvPr/>
        </p:nvSpPr>
        <p:spPr>
          <a:xfrm>
            <a:off x="6400800" y="3054096"/>
            <a:ext cx="5486400" cy="521208"/>
          </a:xfrm>
          <a:prstGeom prst="rect">
            <a:avLst/>
          </a:prstGeom>
          <a:noFill/>
        </p:spPr>
        <p:txBody>
          <a:bodyPr wrap="square">
            <a:spAutoFit/>
          </a:bodyPr>
          <a:lstStyle/>
          <a:p>
            <a:pPr algn="l"/>
            <a:r>
              <a:rPr sz="1300" b="0" i="0">
                <a:solidFill>
                  <a:srgbClr val="CCD6E0"/>
                </a:solidFill>
              </a:rPr>
              <a:t>📌  Building in public (Gradio/HF Spaces) forces you to make it work end-to-end</a:t>
            </a:r>
          </a:p>
        </p:txBody>
      </p:sp>
      <p:sp>
        <p:nvSpPr>
          <p:cNvPr id="19" name="TextBox 18"/>
          <p:cNvSpPr txBox="1"/>
          <p:nvPr/>
        </p:nvSpPr>
        <p:spPr>
          <a:xfrm>
            <a:off x="6400800" y="3529584"/>
            <a:ext cx="5486400" cy="521208"/>
          </a:xfrm>
          <a:prstGeom prst="rect">
            <a:avLst/>
          </a:prstGeom>
          <a:noFill/>
        </p:spPr>
        <p:txBody>
          <a:bodyPr wrap="square">
            <a:spAutoFit/>
          </a:bodyPr>
          <a:lstStyle/>
          <a:p>
            <a:pPr algn="l"/>
            <a:r>
              <a:rPr sz="1300" b="0" i="0">
                <a:solidFill>
                  <a:srgbClr val="CCD6E0"/>
                </a:solidFill>
              </a:rPr>
              <a:t>📌  The gap between an idea and a validated system is mostly about benchmarking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00C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4572000" cy="320040"/>
          </a:xfrm>
          <a:prstGeom prst="rect">
            <a:avLst/>
          </a:prstGeom>
          <a:noFill/>
        </p:spPr>
        <p:txBody>
          <a:bodyPr wrap="square">
            <a:spAutoFit/>
          </a:bodyPr>
          <a:lstStyle/>
          <a:p>
            <a:pPr algn="l"/>
            <a:r>
              <a:rPr sz="1000" b="1" i="1">
                <a:solidFill>
                  <a:srgbClr val="00C2D1"/>
                </a:solidFill>
              </a:rPr>
              <a:t>IMPACT &amp; SIGNIFICANCE</a:t>
            </a:r>
          </a:p>
        </p:txBody>
      </p:sp>
      <p:sp>
        <p:nvSpPr>
          <p:cNvPr id="4" name="TextBox 3"/>
          <p:cNvSpPr txBox="1"/>
          <p:nvPr/>
        </p:nvSpPr>
        <p:spPr>
          <a:xfrm>
            <a:off x="320040" y="502920"/>
            <a:ext cx="8229600" cy="640080"/>
          </a:xfrm>
          <a:prstGeom prst="rect">
            <a:avLst/>
          </a:prstGeom>
          <a:noFill/>
        </p:spPr>
        <p:txBody>
          <a:bodyPr wrap="square">
            <a:spAutoFit/>
          </a:bodyPr>
          <a:lstStyle/>
          <a:p>
            <a:pPr algn="l"/>
            <a:r>
              <a:rPr sz="3200" b="1" i="0">
                <a:solidFill>
                  <a:srgbClr val="FFFFFF"/>
                </a:solidFill>
              </a:rPr>
              <a:t>Why This Work Matters</a:t>
            </a:r>
          </a:p>
        </p:txBody>
      </p:sp>
      <p:sp>
        <p:nvSpPr>
          <p:cNvPr id="5" name="Rectangle 4"/>
          <p:cNvSpPr/>
          <p:nvPr/>
        </p:nvSpPr>
        <p:spPr>
          <a:xfrm>
            <a:off x="0" y="1143000"/>
            <a:ext cx="5486400" cy="41148"/>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1371600"/>
            <a:ext cx="3749039" cy="512064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371600"/>
            <a:ext cx="3749039" cy="73152"/>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481328"/>
            <a:ext cx="3474720" cy="384048"/>
          </a:xfrm>
          <a:prstGeom prst="rect">
            <a:avLst/>
          </a:prstGeom>
          <a:noFill/>
        </p:spPr>
        <p:txBody>
          <a:bodyPr wrap="square">
            <a:spAutoFit/>
          </a:bodyPr>
          <a:lstStyle/>
          <a:p>
            <a:pPr algn="ctr"/>
            <a:r>
              <a:rPr sz="1400" b="1" i="0">
                <a:solidFill>
                  <a:srgbClr val="FA4D00"/>
                </a:solidFill>
              </a:rPr>
              <a:t>Practical Value</a:t>
            </a:r>
          </a:p>
        </p:txBody>
      </p:sp>
      <p:sp>
        <p:nvSpPr>
          <p:cNvPr id="9" name="TextBox 8"/>
          <p:cNvSpPr txBox="1"/>
          <p:nvPr/>
        </p:nvSpPr>
        <p:spPr>
          <a:xfrm>
            <a:off x="484632" y="1993392"/>
            <a:ext cx="3474720" cy="594360"/>
          </a:xfrm>
          <a:prstGeom prst="rect">
            <a:avLst/>
          </a:prstGeom>
          <a:noFill/>
        </p:spPr>
        <p:txBody>
          <a:bodyPr wrap="square">
            <a:spAutoFit/>
          </a:bodyPr>
          <a:lstStyle/>
          <a:p>
            <a:pPr algn="l"/>
            <a:r>
              <a:rPr sz="1200" b="0" i="0">
                <a:solidFill>
                  <a:srgbClr val="CCD6E0"/>
                </a:solidFill>
              </a:rPr>
              <a:t>▸  Free, local, training-free — no API keys needed</a:t>
            </a:r>
          </a:p>
        </p:txBody>
      </p:sp>
      <p:sp>
        <p:nvSpPr>
          <p:cNvPr id="10" name="TextBox 9"/>
          <p:cNvSpPr txBox="1"/>
          <p:nvPr/>
        </p:nvSpPr>
        <p:spPr>
          <a:xfrm>
            <a:off x="484632" y="2651760"/>
            <a:ext cx="3474720" cy="594360"/>
          </a:xfrm>
          <a:prstGeom prst="rect">
            <a:avLst/>
          </a:prstGeom>
          <a:noFill/>
        </p:spPr>
        <p:txBody>
          <a:bodyPr wrap="square">
            <a:spAutoFit/>
          </a:bodyPr>
          <a:lstStyle/>
          <a:p>
            <a:pPr algn="l"/>
            <a:r>
              <a:rPr sz="1200" b="0" i="0">
                <a:solidFill>
                  <a:srgbClr val="CCD6E0"/>
                </a:solidFill>
              </a:rPr>
              <a:t>▸  Works on any diffusion model without modification</a:t>
            </a:r>
          </a:p>
        </p:txBody>
      </p:sp>
      <p:sp>
        <p:nvSpPr>
          <p:cNvPr id="11" name="TextBox 10"/>
          <p:cNvSpPr txBox="1"/>
          <p:nvPr/>
        </p:nvSpPr>
        <p:spPr>
          <a:xfrm>
            <a:off x="484632" y="3310128"/>
            <a:ext cx="3474720" cy="594360"/>
          </a:xfrm>
          <a:prstGeom prst="rect">
            <a:avLst/>
          </a:prstGeom>
          <a:noFill/>
        </p:spPr>
        <p:txBody>
          <a:bodyPr wrap="square">
            <a:spAutoFit/>
          </a:bodyPr>
          <a:lstStyle/>
          <a:p>
            <a:pPr algn="l"/>
            <a:r>
              <a:rPr sz="1200" b="0" i="0">
                <a:solidFill>
                  <a:srgbClr val="CCD6E0"/>
                </a:solidFill>
              </a:rPr>
              <a:t>▸  Deployable as a public web app via Gradio / HF Spaces</a:t>
            </a:r>
          </a:p>
        </p:txBody>
      </p:sp>
      <p:sp>
        <p:nvSpPr>
          <p:cNvPr id="12" name="TextBox 11"/>
          <p:cNvSpPr txBox="1"/>
          <p:nvPr/>
        </p:nvSpPr>
        <p:spPr>
          <a:xfrm>
            <a:off x="484632" y="3968496"/>
            <a:ext cx="3474720" cy="594360"/>
          </a:xfrm>
          <a:prstGeom prst="rect">
            <a:avLst/>
          </a:prstGeom>
          <a:noFill/>
        </p:spPr>
        <p:txBody>
          <a:bodyPr wrap="square">
            <a:spAutoFit/>
          </a:bodyPr>
          <a:lstStyle/>
          <a:p>
            <a:pPr algn="l"/>
            <a:r>
              <a:rPr sz="1200" b="0" i="0">
                <a:solidFill>
                  <a:srgbClr val="CCD6E0"/>
                </a:solidFill>
              </a:rPr>
              <a:t>▸  Generates interpretable per-check pass/fail breakdown</a:t>
            </a:r>
          </a:p>
        </p:txBody>
      </p:sp>
      <p:sp>
        <p:nvSpPr>
          <p:cNvPr id="13" name="Rectangle 12"/>
          <p:cNvSpPr/>
          <p:nvPr/>
        </p:nvSpPr>
        <p:spPr>
          <a:xfrm>
            <a:off x="4233672" y="1371600"/>
            <a:ext cx="3749039" cy="512064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233672" y="1371600"/>
            <a:ext cx="3749039" cy="73152"/>
          </a:xfrm>
          <a:prstGeom prst="rect">
            <a:avLst/>
          </a:prstGeom>
          <a:solidFill>
            <a:srgbClr val="00C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70832" y="1481328"/>
            <a:ext cx="3474720" cy="384048"/>
          </a:xfrm>
          <a:prstGeom prst="rect">
            <a:avLst/>
          </a:prstGeom>
          <a:noFill/>
        </p:spPr>
        <p:txBody>
          <a:bodyPr wrap="square">
            <a:spAutoFit/>
          </a:bodyPr>
          <a:lstStyle/>
          <a:p>
            <a:pPr algn="ctr"/>
            <a:r>
              <a:rPr sz="1400" b="1" i="0">
                <a:solidFill>
                  <a:srgbClr val="00C2D1"/>
                </a:solidFill>
              </a:rPr>
              <a:t>Scientific Contribution</a:t>
            </a:r>
          </a:p>
        </p:txBody>
      </p:sp>
      <p:sp>
        <p:nvSpPr>
          <p:cNvPr id="16" name="TextBox 15"/>
          <p:cNvSpPr txBox="1"/>
          <p:nvPr/>
        </p:nvSpPr>
        <p:spPr>
          <a:xfrm>
            <a:off x="4398264" y="1993392"/>
            <a:ext cx="3474720" cy="594360"/>
          </a:xfrm>
          <a:prstGeom prst="rect">
            <a:avLst/>
          </a:prstGeom>
          <a:noFill/>
        </p:spPr>
        <p:txBody>
          <a:bodyPr wrap="square">
            <a:spAutoFit/>
          </a:bodyPr>
          <a:lstStyle/>
          <a:p>
            <a:pPr algn="l"/>
            <a:r>
              <a:rPr sz="1200" b="0" i="0">
                <a:solidFill>
                  <a:srgbClr val="CCD6E0"/>
                </a:solidFill>
              </a:rPr>
              <a:t>▸  Validates faithfulness metric against human hallucination labels</a:t>
            </a:r>
          </a:p>
        </p:txBody>
      </p:sp>
      <p:sp>
        <p:nvSpPr>
          <p:cNvPr id="17" name="TextBox 16"/>
          <p:cNvSpPr txBox="1"/>
          <p:nvPr/>
        </p:nvSpPr>
        <p:spPr>
          <a:xfrm>
            <a:off x="4398264" y="2651760"/>
            <a:ext cx="3474720" cy="594360"/>
          </a:xfrm>
          <a:prstGeom prst="rect">
            <a:avLst/>
          </a:prstGeom>
          <a:noFill/>
        </p:spPr>
        <p:txBody>
          <a:bodyPr wrap="square">
            <a:spAutoFit/>
          </a:bodyPr>
          <a:lstStyle/>
          <a:p>
            <a:pPr algn="l"/>
            <a:r>
              <a:rPr sz="1200" b="0" i="0">
                <a:solidFill>
                  <a:srgbClr val="CCD6E0"/>
                </a:solidFill>
              </a:rPr>
              <a:t>▸  Extends TIFA-style evaluation without GPT API dependency</a:t>
            </a:r>
          </a:p>
        </p:txBody>
      </p:sp>
      <p:sp>
        <p:nvSpPr>
          <p:cNvPr id="18" name="TextBox 17"/>
          <p:cNvSpPr txBox="1"/>
          <p:nvPr/>
        </p:nvSpPr>
        <p:spPr>
          <a:xfrm>
            <a:off x="4398264" y="3310128"/>
            <a:ext cx="3474720" cy="594360"/>
          </a:xfrm>
          <a:prstGeom prst="rect">
            <a:avLst/>
          </a:prstGeom>
          <a:noFill/>
        </p:spPr>
        <p:txBody>
          <a:bodyPr wrap="square">
            <a:spAutoFit/>
          </a:bodyPr>
          <a:lstStyle/>
          <a:p>
            <a:pPr algn="l"/>
            <a:r>
              <a:rPr sz="1200" b="0" i="0">
                <a:solidFill>
                  <a:srgbClr val="CCD6E0"/>
                </a:solidFill>
              </a:rPr>
              <a:t>▸  Self-consistency variance operationalizes uncertainty quantification</a:t>
            </a:r>
          </a:p>
        </p:txBody>
      </p:sp>
      <p:sp>
        <p:nvSpPr>
          <p:cNvPr id="19" name="TextBox 18"/>
          <p:cNvSpPr txBox="1"/>
          <p:nvPr/>
        </p:nvSpPr>
        <p:spPr>
          <a:xfrm>
            <a:off x="4398264" y="3968496"/>
            <a:ext cx="3474720" cy="594360"/>
          </a:xfrm>
          <a:prstGeom prst="rect">
            <a:avLst/>
          </a:prstGeom>
          <a:noFill/>
        </p:spPr>
        <p:txBody>
          <a:bodyPr wrap="square">
            <a:spAutoFit/>
          </a:bodyPr>
          <a:lstStyle/>
          <a:p>
            <a:pPr algn="l"/>
            <a:r>
              <a:rPr sz="1200" b="0" i="0">
                <a:solidFill>
                  <a:srgbClr val="CCD6E0"/>
                </a:solidFill>
              </a:rPr>
              <a:t>▸  ROC-AUC framing enables rigorous hallucination classifier evaluation</a:t>
            </a:r>
          </a:p>
        </p:txBody>
      </p:sp>
      <p:sp>
        <p:nvSpPr>
          <p:cNvPr id="20" name="Rectangle 19"/>
          <p:cNvSpPr/>
          <p:nvPr/>
        </p:nvSpPr>
        <p:spPr>
          <a:xfrm>
            <a:off x="8147304" y="1371600"/>
            <a:ext cx="3749039" cy="512064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147304" y="1371600"/>
            <a:ext cx="3749039" cy="73152"/>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84464" y="1481328"/>
            <a:ext cx="3474720" cy="384048"/>
          </a:xfrm>
          <a:prstGeom prst="rect">
            <a:avLst/>
          </a:prstGeom>
          <a:noFill/>
        </p:spPr>
        <p:txBody>
          <a:bodyPr wrap="square">
            <a:spAutoFit/>
          </a:bodyPr>
          <a:lstStyle/>
          <a:p>
            <a:pPr algn="ctr"/>
            <a:r>
              <a:rPr sz="1400" b="1" i="0">
                <a:solidFill>
                  <a:srgbClr val="2ECC71"/>
                </a:solidFill>
              </a:rPr>
              <a:t>Significance for the Field</a:t>
            </a:r>
          </a:p>
        </p:txBody>
      </p:sp>
      <p:sp>
        <p:nvSpPr>
          <p:cNvPr id="23" name="TextBox 22"/>
          <p:cNvSpPr txBox="1"/>
          <p:nvPr/>
        </p:nvSpPr>
        <p:spPr>
          <a:xfrm>
            <a:off x="8311896" y="1993392"/>
            <a:ext cx="3474720" cy="594360"/>
          </a:xfrm>
          <a:prstGeom prst="rect">
            <a:avLst/>
          </a:prstGeom>
          <a:noFill/>
        </p:spPr>
        <p:txBody>
          <a:bodyPr wrap="square">
            <a:spAutoFit/>
          </a:bodyPr>
          <a:lstStyle/>
          <a:p>
            <a:pPr algn="l"/>
            <a:r>
              <a:rPr sz="1200" b="0" i="0">
                <a:solidFill>
                  <a:srgbClr val="CCD6E0"/>
                </a:solidFill>
              </a:rPr>
              <a:t>▸  T2I models are deployed in real creative and commercial tools</a:t>
            </a:r>
          </a:p>
        </p:txBody>
      </p:sp>
      <p:sp>
        <p:nvSpPr>
          <p:cNvPr id="24" name="TextBox 23"/>
          <p:cNvSpPr txBox="1"/>
          <p:nvPr/>
        </p:nvSpPr>
        <p:spPr>
          <a:xfrm>
            <a:off x="8311896" y="2651760"/>
            <a:ext cx="3474720" cy="594360"/>
          </a:xfrm>
          <a:prstGeom prst="rect">
            <a:avLst/>
          </a:prstGeom>
          <a:noFill/>
        </p:spPr>
        <p:txBody>
          <a:bodyPr wrap="square">
            <a:spAutoFit/>
          </a:bodyPr>
          <a:lstStyle/>
          <a:p>
            <a:pPr algn="l"/>
            <a:r>
              <a:rPr sz="1200" b="0" i="0">
                <a:solidFill>
                  <a:srgbClr val="CCD6E0"/>
                </a:solidFill>
              </a:rPr>
              <a:t>▸  Hallucination detection is an open, unsolved evaluation problem</a:t>
            </a:r>
          </a:p>
        </p:txBody>
      </p:sp>
      <p:sp>
        <p:nvSpPr>
          <p:cNvPr id="25" name="TextBox 24"/>
          <p:cNvSpPr txBox="1"/>
          <p:nvPr/>
        </p:nvSpPr>
        <p:spPr>
          <a:xfrm>
            <a:off x="8311896" y="3310128"/>
            <a:ext cx="3474720" cy="594360"/>
          </a:xfrm>
          <a:prstGeom prst="rect">
            <a:avLst/>
          </a:prstGeom>
          <a:noFill/>
        </p:spPr>
        <p:txBody>
          <a:bodyPr wrap="square">
            <a:spAutoFit/>
          </a:bodyPr>
          <a:lstStyle/>
          <a:p>
            <a:pPr algn="l"/>
            <a:r>
              <a:rPr sz="1200" b="0" i="0">
                <a:solidFill>
                  <a:srgbClr val="CCD6E0"/>
                </a:solidFill>
              </a:rPr>
              <a:t>▸  This work provides a replicable, open-source evaluation framework</a:t>
            </a:r>
          </a:p>
        </p:txBody>
      </p:sp>
      <p:sp>
        <p:nvSpPr>
          <p:cNvPr id="26" name="TextBox 25"/>
          <p:cNvSpPr txBox="1"/>
          <p:nvPr/>
        </p:nvSpPr>
        <p:spPr>
          <a:xfrm>
            <a:off x="8311896" y="3968496"/>
            <a:ext cx="3474720" cy="594360"/>
          </a:xfrm>
          <a:prstGeom prst="rect">
            <a:avLst/>
          </a:prstGeom>
          <a:noFill/>
        </p:spPr>
        <p:txBody>
          <a:bodyPr wrap="square">
            <a:spAutoFit/>
          </a:bodyPr>
          <a:lstStyle/>
          <a:p>
            <a:pPr algn="l"/>
            <a:r>
              <a:rPr sz="1200" b="0" i="0">
                <a:solidFill>
                  <a:srgbClr val="CCD6E0"/>
                </a:solidFill>
              </a:rPr>
              <a:t>▸  Bridges the gap between metric design and benchmark validation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4572000" cy="320040"/>
          </a:xfrm>
          <a:prstGeom prst="rect">
            <a:avLst/>
          </a:prstGeom>
          <a:noFill/>
        </p:spPr>
        <p:txBody>
          <a:bodyPr wrap="square">
            <a:spAutoFit/>
          </a:bodyPr>
          <a:lstStyle/>
          <a:p>
            <a:pPr algn="l"/>
            <a:r>
              <a:rPr sz="1000" b="1" i="1">
                <a:solidFill>
                  <a:srgbClr val="00C2D1"/>
                </a:solidFill>
              </a:rPr>
              <a:t>FUTURE DIRECTIONS</a:t>
            </a:r>
          </a:p>
        </p:txBody>
      </p:sp>
      <p:sp>
        <p:nvSpPr>
          <p:cNvPr id="4" name="TextBox 3"/>
          <p:cNvSpPr txBox="1"/>
          <p:nvPr/>
        </p:nvSpPr>
        <p:spPr>
          <a:xfrm>
            <a:off x="320040" y="502920"/>
            <a:ext cx="10058400" cy="640080"/>
          </a:xfrm>
          <a:prstGeom prst="rect">
            <a:avLst/>
          </a:prstGeom>
          <a:noFill/>
        </p:spPr>
        <p:txBody>
          <a:bodyPr wrap="square">
            <a:spAutoFit/>
          </a:bodyPr>
          <a:lstStyle/>
          <a:p>
            <a:pPr algn="l"/>
            <a:r>
              <a:rPr sz="3200" b="1" i="0">
                <a:solidFill>
                  <a:srgbClr val="FFFFFF"/>
                </a:solidFill>
              </a:rPr>
              <a:t>Potential Extensions &amp; Improvements</a:t>
            </a:r>
          </a:p>
        </p:txBody>
      </p:sp>
      <p:sp>
        <p:nvSpPr>
          <p:cNvPr id="5" name="Rectangle 4"/>
          <p:cNvSpPr/>
          <p:nvPr/>
        </p:nvSpPr>
        <p:spPr>
          <a:xfrm>
            <a:off x="0" y="1143000"/>
            <a:ext cx="7315200" cy="41148"/>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1371600"/>
            <a:ext cx="3749039" cy="224028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371600"/>
            <a:ext cx="54864" cy="224028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463040"/>
            <a:ext cx="3520439" cy="320040"/>
          </a:xfrm>
          <a:prstGeom prst="rect">
            <a:avLst/>
          </a:prstGeom>
          <a:noFill/>
        </p:spPr>
        <p:txBody>
          <a:bodyPr wrap="square">
            <a:spAutoFit/>
          </a:bodyPr>
          <a:lstStyle/>
          <a:p>
            <a:pPr algn="l"/>
            <a:r>
              <a:rPr sz="1300" b="1" i="0">
                <a:solidFill>
                  <a:srgbClr val="00C2D1"/>
                </a:solidFill>
              </a:rPr>
              <a:t>LLM Question Generation</a:t>
            </a:r>
          </a:p>
        </p:txBody>
      </p:sp>
      <p:sp>
        <p:nvSpPr>
          <p:cNvPr id="9" name="TextBox 8"/>
          <p:cNvSpPr txBox="1"/>
          <p:nvPr/>
        </p:nvSpPr>
        <p:spPr>
          <a:xfrm>
            <a:off x="502920" y="1755648"/>
            <a:ext cx="3428999" cy="320040"/>
          </a:xfrm>
          <a:prstGeom prst="rect">
            <a:avLst/>
          </a:prstGeom>
          <a:noFill/>
        </p:spPr>
        <p:txBody>
          <a:bodyPr wrap="square">
            <a:spAutoFit/>
          </a:bodyPr>
          <a:lstStyle/>
          <a:p>
            <a:pPr algn="l"/>
            <a:r>
              <a:rPr sz="1100" b="0" i="0">
                <a:solidFill>
                  <a:srgbClr val="CCD6E0"/>
                </a:solidFill>
              </a:rPr>
              <a:t>Replace rule-based parser with GPT-3.5 / GPT-4o-mini</a:t>
            </a:r>
          </a:p>
        </p:txBody>
      </p:sp>
      <p:sp>
        <p:nvSpPr>
          <p:cNvPr id="10" name="TextBox 9"/>
          <p:cNvSpPr txBox="1"/>
          <p:nvPr/>
        </p:nvSpPr>
        <p:spPr>
          <a:xfrm>
            <a:off x="502920" y="2048255"/>
            <a:ext cx="3428999" cy="320040"/>
          </a:xfrm>
          <a:prstGeom prst="rect">
            <a:avLst/>
          </a:prstGeom>
          <a:noFill/>
        </p:spPr>
        <p:txBody>
          <a:bodyPr wrap="square">
            <a:spAutoFit/>
          </a:bodyPr>
          <a:lstStyle/>
          <a:p>
            <a:pPr algn="l"/>
            <a:r>
              <a:rPr sz="1100" b="0" i="0">
                <a:solidFill>
                  <a:srgbClr val="CCD6E0"/>
                </a:solidFill>
              </a:rPr>
              <a:t>Same approach as TIFA paper — better coverage of complex scenes</a:t>
            </a:r>
          </a:p>
        </p:txBody>
      </p:sp>
      <p:sp>
        <p:nvSpPr>
          <p:cNvPr id="11" name="TextBox 10"/>
          <p:cNvSpPr txBox="1"/>
          <p:nvPr/>
        </p:nvSpPr>
        <p:spPr>
          <a:xfrm>
            <a:off x="502920" y="2340864"/>
            <a:ext cx="3428999" cy="320040"/>
          </a:xfrm>
          <a:prstGeom prst="rect">
            <a:avLst/>
          </a:prstGeom>
          <a:noFill/>
        </p:spPr>
        <p:txBody>
          <a:bodyPr wrap="square">
            <a:spAutoFit/>
          </a:bodyPr>
          <a:lstStyle/>
          <a:p>
            <a:pPr algn="l"/>
            <a:r>
              <a:rPr sz="1100" b="0" i="0">
                <a:solidFill>
                  <a:srgbClr val="CCD6E0"/>
                </a:solidFill>
              </a:rPr>
              <a:t>Could run locally with Phi-2 or Mistral-7B for zero-cost version</a:t>
            </a:r>
          </a:p>
        </p:txBody>
      </p:sp>
      <p:sp>
        <p:nvSpPr>
          <p:cNvPr id="12" name="Rectangle 11"/>
          <p:cNvSpPr/>
          <p:nvPr/>
        </p:nvSpPr>
        <p:spPr>
          <a:xfrm>
            <a:off x="4233672" y="1371600"/>
            <a:ext cx="3749039" cy="224028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33672" y="1371600"/>
            <a:ext cx="54864" cy="224028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70832" y="1463040"/>
            <a:ext cx="3520439" cy="320040"/>
          </a:xfrm>
          <a:prstGeom prst="rect">
            <a:avLst/>
          </a:prstGeom>
          <a:noFill/>
        </p:spPr>
        <p:txBody>
          <a:bodyPr wrap="square">
            <a:spAutoFit/>
          </a:bodyPr>
          <a:lstStyle/>
          <a:p>
            <a:pPr algn="l"/>
            <a:r>
              <a:rPr sz="1300" b="1" i="0">
                <a:solidFill>
                  <a:srgbClr val="00C2D1"/>
                </a:solidFill>
              </a:rPr>
              <a:t>Stronger VQA Model</a:t>
            </a:r>
          </a:p>
        </p:txBody>
      </p:sp>
      <p:sp>
        <p:nvSpPr>
          <p:cNvPr id="15" name="TextBox 14"/>
          <p:cNvSpPr txBox="1"/>
          <p:nvPr/>
        </p:nvSpPr>
        <p:spPr>
          <a:xfrm>
            <a:off x="4416552" y="1755648"/>
            <a:ext cx="3428999" cy="320040"/>
          </a:xfrm>
          <a:prstGeom prst="rect">
            <a:avLst/>
          </a:prstGeom>
          <a:noFill/>
        </p:spPr>
        <p:txBody>
          <a:bodyPr wrap="square">
            <a:spAutoFit/>
          </a:bodyPr>
          <a:lstStyle/>
          <a:p>
            <a:pPr algn="l"/>
            <a:r>
              <a:rPr sz="1100" b="0" i="0">
                <a:solidFill>
                  <a:srgbClr val="CCD6E0"/>
                </a:solidFill>
              </a:rPr>
              <a:t>Upgrade from BLIP-VQA-base to BLIP-2 or InstructBLIP</a:t>
            </a:r>
          </a:p>
        </p:txBody>
      </p:sp>
      <p:sp>
        <p:nvSpPr>
          <p:cNvPr id="16" name="TextBox 15"/>
          <p:cNvSpPr txBox="1"/>
          <p:nvPr/>
        </p:nvSpPr>
        <p:spPr>
          <a:xfrm>
            <a:off x="4416552" y="2048255"/>
            <a:ext cx="3428999" cy="320040"/>
          </a:xfrm>
          <a:prstGeom prst="rect">
            <a:avLst/>
          </a:prstGeom>
          <a:noFill/>
        </p:spPr>
        <p:txBody>
          <a:bodyPr wrap="square">
            <a:spAutoFit/>
          </a:bodyPr>
          <a:lstStyle/>
          <a:p>
            <a:pPr algn="l"/>
            <a:r>
              <a:rPr sz="1100" b="0" i="0">
                <a:solidFill>
                  <a:srgbClr val="CCD6E0"/>
                </a:solidFill>
              </a:rPr>
              <a:t>Better accuracy on spatial, counting, and attribute questions</a:t>
            </a:r>
          </a:p>
        </p:txBody>
      </p:sp>
      <p:sp>
        <p:nvSpPr>
          <p:cNvPr id="17" name="TextBox 16"/>
          <p:cNvSpPr txBox="1"/>
          <p:nvPr/>
        </p:nvSpPr>
        <p:spPr>
          <a:xfrm>
            <a:off x="4416552" y="2340864"/>
            <a:ext cx="3428999" cy="320040"/>
          </a:xfrm>
          <a:prstGeom prst="rect">
            <a:avLst/>
          </a:prstGeom>
          <a:noFill/>
        </p:spPr>
        <p:txBody>
          <a:bodyPr wrap="square">
            <a:spAutoFit/>
          </a:bodyPr>
          <a:lstStyle/>
          <a:p>
            <a:pPr algn="l"/>
            <a:r>
              <a:rPr sz="1100" b="0" i="0">
                <a:solidFill>
                  <a:srgbClr val="CCD6E0"/>
                </a:solidFill>
              </a:rPr>
              <a:t>Would reduce error propagation into faithfulness scores</a:t>
            </a:r>
          </a:p>
        </p:txBody>
      </p:sp>
      <p:sp>
        <p:nvSpPr>
          <p:cNvPr id="18" name="Rectangle 17"/>
          <p:cNvSpPr/>
          <p:nvPr/>
        </p:nvSpPr>
        <p:spPr>
          <a:xfrm>
            <a:off x="8147304" y="1371600"/>
            <a:ext cx="3749039" cy="224028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47304" y="1371600"/>
            <a:ext cx="54864" cy="224028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84464" y="1463040"/>
            <a:ext cx="3520439" cy="320040"/>
          </a:xfrm>
          <a:prstGeom prst="rect">
            <a:avLst/>
          </a:prstGeom>
          <a:noFill/>
        </p:spPr>
        <p:txBody>
          <a:bodyPr wrap="square">
            <a:spAutoFit/>
          </a:bodyPr>
          <a:lstStyle/>
          <a:p>
            <a:pPr algn="l"/>
            <a:r>
              <a:rPr sz="1300" b="1" i="0">
                <a:solidFill>
                  <a:srgbClr val="00C2D1"/>
                </a:solidFill>
              </a:rPr>
              <a:t>Failure Case Taxonomy</a:t>
            </a:r>
          </a:p>
        </p:txBody>
      </p:sp>
      <p:sp>
        <p:nvSpPr>
          <p:cNvPr id="21" name="TextBox 20"/>
          <p:cNvSpPr txBox="1"/>
          <p:nvPr/>
        </p:nvSpPr>
        <p:spPr>
          <a:xfrm>
            <a:off x="8330183" y="1755648"/>
            <a:ext cx="3428999" cy="320040"/>
          </a:xfrm>
          <a:prstGeom prst="rect">
            <a:avLst/>
          </a:prstGeom>
          <a:noFill/>
        </p:spPr>
        <p:txBody>
          <a:bodyPr wrap="square">
            <a:spAutoFit/>
          </a:bodyPr>
          <a:lstStyle/>
          <a:p>
            <a:pPr algn="l"/>
            <a:r>
              <a:rPr sz="1100" b="0" i="0">
                <a:solidFill>
                  <a:srgbClr val="CCD6E0"/>
                </a:solidFill>
              </a:rPr>
              <a:t>Categorise hallucination types: color, count, spatial, existence</a:t>
            </a:r>
          </a:p>
        </p:txBody>
      </p:sp>
      <p:sp>
        <p:nvSpPr>
          <p:cNvPr id="22" name="TextBox 21"/>
          <p:cNvSpPr txBox="1"/>
          <p:nvPr/>
        </p:nvSpPr>
        <p:spPr>
          <a:xfrm>
            <a:off x="8330183" y="2048255"/>
            <a:ext cx="3428999" cy="320040"/>
          </a:xfrm>
          <a:prstGeom prst="rect">
            <a:avLst/>
          </a:prstGeom>
          <a:noFill/>
        </p:spPr>
        <p:txBody>
          <a:bodyPr wrap="square">
            <a:spAutoFit/>
          </a:bodyPr>
          <a:lstStyle/>
          <a:p>
            <a:pPr algn="l"/>
            <a:r>
              <a:rPr sz="1100" b="0" i="0">
                <a:solidFill>
                  <a:srgbClr val="CCD6E0"/>
                </a:solidFill>
              </a:rPr>
              <a:t>Understand which prompt types are hardest for SD v1.5</a:t>
            </a:r>
          </a:p>
        </p:txBody>
      </p:sp>
      <p:sp>
        <p:nvSpPr>
          <p:cNvPr id="23" name="TextBox 22"/>
          <p:cNvSpPr txBox="1"/>
          <p:nvPr/>
        </p:nvSpPr>
        <p:spPr>
          <a:xfrm>
            <a:off x="8330183" y="2340864"/>
            <a:ext cx="3428999" cy="320040"/>
          </a:xfrm>
          <a:prstGeom prst="rect">
            <a:avLst/>
          </a:prstGeom>
          <a:noFill/>
        </p:spPr>
        <p:txBody>
          <a:bodyPr wrap="square">
            <a:spAutoFit/>
          </a:bodyPr>
          <a:lstStyle/>
          <a:p>
            <a:pPr algn="l"/>
            <a:r>
              <a:rPr sz="1100" b="0" i="0">
                <a:solidFill>
                  <a:srgbClr val="CCD6E0"/>
                </a:solidFill>
              </a:rPr>
              <a:t>Guide targeted improvements to the parser and VQA module</a:t>
            </a:r>
          </a:p>
        </p:txBody>
      </p:sp>
      <p:sp>
        <p:nvSpPr>
          <p:cNvPr id="24" name="Rectangle 23"/>
          <p:cNvSpPr/>
          <p:nvPr/>
        </p:nvSpPr>
        <p:spPr>
          <a:xfrm>
            <a:off x="320040" y="3794760"/>
            <a:ext cx="3749039" cy="224028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20040" y="3794760"/>
            <a:ext cx="54864" cy="224028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3886200"/>
            <a:ext cx="3520439" cy="320040"/>
          </a:xfrm>
          <a:prstGeom prst="rect">
            <a:avLst/>
          </a:prstGeom>
          <a:noFill/>
        </p:spPr>
        <p:txBody>
          <a:bodyPr wrap="square">
            <a:spAutoFit/>
          </a:bodyPr>
          <a:lstStyle/>
          <a:p>
            <a:pPr algn="l"/>
            <a:r>
              <a:rPr sz="1300" b="1" i="0">
                <a:solidFill>
                  <a:srgbClr val="00C2D1"/>
                </a:solidFill>
              </a:rPr>
              <a:t>Combined Metric</a:t>
            </a:r>
          </a:p>
        </p:txBody>
      </p:sp>
      <p:sp>
        <p:nvSpPr>
          <p:cNvPr id="27" name="TextBox 26"/>
          <p:cNvSpPr txBox="1"/>
          <p:nvPr/>
        </p:nvSpPr>
        <p:spPr>
          <a:xfrm>
            <a:off x="502920" y="4178808"/>
            <a:ext cx="3428999" cy="320040"/>
          </a:xfrm>
          <a:prstGeom prst="rect">
            <a:avLst/>
          </a:prstGeom>
          <a:noFill/>
        </p:spPr>
        <p:txBody>
          <a:bodyPr wrap="square">
            <a:spAutoFit/>
          </a:bodyPr>
          <a:lstStyle/>
          <a:p>
            <a:pPr algn="l"/>
            <a:r>
              <a:rPr sz="1100" b="0" i="0">
                <a:solidFill>
                  <a:srgbClr val="CCD6E0"/>
                </a:solidFill>
              </a:rPr>
              <a:t>Merge per-image faithfulness score + cross-image variance</a:t>
            </a:r>
          </a:p>
        </p:txBody>
      </p:sp>
      <p:sp>
        <p:nvSpPr>
          <p:cNvPr id="28" name="TextBox 27"/>
          <p:cNvSpPr txBox="1"/>
          <p:nvPr/>
        </p:nvSpPr>
        <p:spPr>
          <a:xfrm>
            <a:off x="502920" y="4471416"/>
            <a:ext cx="3428999" cy="320040"/>
          </a:xfrm>
          <a:prstGeom prst="rect">
            <a:avLst/>
          </a:prstGeom>
          <a:noFill/>
        </p:spPr>
        <p:txBody>
          <a:bodyPr wrap="square">
            <a:spAutoFit/>
          </a:bodyPr>
          <a:lstStyle/>
          <a:p>
            <a:pPr algn="l"/>
            <a:r>
              <a:rPr sz="1100" b="0" i="0">
                <a:solidFill>
                  <a:srgbClr val="CCD6E0"/>
                </a:solidFill>
              </a:rPr>
              <a:t>Single unified hallucination risk score per prompt</a:t>
            </a:r>
          </a:p>
        </p:txBody>
      </p:sp>
      <p:sp>
        <p:nvSpPr>
          <p:cNvPr id="29" name="TextBox 28"/>
          <p:cNvSpPr txBox="1"/>
          <p:nvPr/>
        </p:nvSpPr>
        <p:spPr>
          <a:xfrm>
            <a:off x="502920" y="4764024"/>
            <a:ext cx="3428999" cy="320040"/>
          </a:xfrm>
          <a:prstGeom prst="rect">
            <a:avLst/>
          </a:prstGeom>
          <a:noFill/>
        </p:spPr>
        <p:txBody>
          <a:bodyPr wrap="square">
            <a:spAutoFit/>
          </a:bodyPr>
          <a:lstStyle/>
          <a:p>
            <a:pPr algn="l"/>
            <a:r>
              <a:rPr sz="1100" b="0" i="0">
                <a:solidFill>
                  <a:srgbClr val="CCD6E0"/>
                </a:solidFill>
              </a:rPr>
              <a:t>Potentially trainable as a lightweight classifier</a:t>
            </a:r>
          </a:p>
        </p:txBody>
      </p:sp>
      <p:sp>
        <p:nvSpPr>
          <p:cNvPr id="30" name="Rectangle 29"/>
          <p:cNvSpPr/>
          <p:nvPr/>
        </p:nvSpPr>
        <p:spPr>
          <a:xfrm>
            <a:off x="4233672" y="3794760"/>
            <a:ext cx="3749039" cy="224028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233672" y="3794760"/>
            <a:ext cx="54864" cy="224028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370832" y="3886200"/>
            <a:ext cx="3520439" cy="320040"/>
          </a:xfrm>
          <a:prstGeom prst="rect">
            <a:avLst/>
          </a:prstGeom>
          <a:noFill/>
        </p:spPr>
        <p:txBody>
          <a:bodyPr wrap="square">
            <a:spAutoFit/>
          </a:bodyPr>
          <a:lstStyle/>
          <a:p>
            <a:pPr algn="l"/>
            <a:r>
              <a:rPr sz="1300" b="1" i="0">
                <a:solidFill>
                  <a:srgbClr val="00C2D1"/>
                </a:solidFill>
              </a:rPr>
              <a:t>T2I-CompBench Integration</a:t>
            </a:r>
          </a:p>
        </p:txBody>
      </p:sp>
      <p:sp>
        <p:nvSpPr>
          <p:cNvPr id="33" name="TextBox 32"/>
          <p:cNvSpPr txBox="1"/>
          <p:nvPr/>
        </p:nvSpPr>
        <p:spPr>
          <a:xfrm>
            <a:off x="4416552" y="4178808"/>
            <a:ext cx="3428999" cy="320040"/>
          </a:xfrm>
          <a:prstGeom prst="rect">
            <a:avLst/>
          </a:prstGeom>
          <a:noFill/>
        </p:spPr>
        <p:txBody>
          <a:bodyPr wrap="square">
            <a:spAutoFit/>
          </a:bodyPr>
          <a:lstStyle/>
          <a:p>
            <a:pPr algn="l"/>
            <a:r>
              <a:rPr sz="1100" b="0" i="0">
                <a:solidFill>
                  <a:srgbClr val="CCD6E0"/>
                </a:solidFill>
              </a:rPr>
              <a:t>Access dataset locally via parquet download</a:t>
            </a:r>
          </a:p>
        </p:txBody>
      </p:sp>
      <p:sp>
        <p:nvSpPr>
          <p:cNvPr id="34" name="TextBox 33"/>
          <p:cNvSpPr txBox="1"/>
          <p:nvPr/>
        </p:nvSpPr>
        <p:spPr>
          <a:xfrm>
            <a:off x="4416552" y="4471416"/>
            <a:ext cx="3428999" cy="320040"/>
          </a:xfrm>
          <a:prstGeom prst="rect">
            <a:avLst/>
          </a:prstGeom>
          <a:noFill/>
        </p:spPr>
        <p:txBody>
          <a:bodyPr wrap="square">
            <a:spAutoFit/>
          </a:bodyPr>
          <a:lstStyle/>
          <a:p>
            <a:pPr algn="l"/>
            <a:r>
              <a:rPr sz="1100" b="0" i="0">
                <a:solidFill>
                  <a:srgbClr val="CCD6E0"/>
                </a:solidFill>
              </a:rPr>
              <a:t>Provides continuous human ratings across 6 compositional categories</a:t>
            </a:r>
          </a:p>
        </p:txBody>
      </p:sp>
      <p:sp>
        <p:nvSpPr>
          <p:cNvPr id="35" name="TextBox 34"/>
          <p:cNvSpPr txBox="1"/>
          <p:nvPr/>
        </p:nvSpPr>
        <p:spPr>
          <a:xfrm>
            <a:off x="4416552" y="4764024"/>
            <a:ext cx="3428999" cy="320040"/>
          </a:xfrm>
          <a:prstGeom prst="rect">
            <a:avLst/>
          </a:prstGeom>
          <a:noFill/>
        </p:spPr>
        <p:txBody>
          <a:bodyPr wrap="square">
            <a:spAutoFit/>
          </a:bodyPr>
          <a:lstStyle/>
          <a:p>
            <a:pPr algn="l"/>
            <a:r>
              <a:rPr sz="1100" b="0" i="0">
                <a:solidFill>
                  <a:srgbClr val="CCD6E0"/>
                </a:solidFill>
              </a:rPr>
              <a:t>Enables Pearson/Spearman correlation analysis at scale</a:t>
            </a:r>
          </a:p>
        </p:txBody>
      </p:sp>
      <p:sp>
        <p:nvSpPr>
          <p:cNvPr id="36" name="Rectangle 35"/>
          <p:cNvSpPr/>
          <p:nvPr/>
        </p:nvSpPr>
        <p:spPr>
          <a:xfrm>
            <a:off x="8147304" y="3794760"/>
            <a:ext cx="3749039" cy="224028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8147304" y="3794760"/>
            <a:ext cx="54864" cy="224028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284464" y="3886200"/>
            <a:ext cx="3520439" cy="320040"/>
          </a:xfrm>
          <a:prstGeom prst="rect">
            <a:avLst/>
          </a:prstGeom>
          <a:noFill/>
        </p:spPr>
        <p:txBody>
          <a:bodyPr wrap="square">
            <a:spAutoFit/>
          </a:bodyPr>
          <a:lstStyle/>
          <a:p>
            <a:pPr algn="l"/>
            <a:r>
              <a:rPr sz="1300" b="1" i="0">
                <a:solidFill>
                  <a:srgbClr val="00C2D1"/>
                </a:solidFill>
              </a:rPr>
              <a:t>Model Comparison Study</a:t>
            </a:r>
          </a:p>
        </p:txBody>
      </p:sp>
      <p:sp>
        <p:nvSpPr>
          <p:cNvPr id="39" name="TextBox 38"/>
          <p:cNvSpPr txBox="1"/>
          <p:nvPr/>
        </p:nvSpPr>
        <p:spPr>
          <a:xfrm>
            <a:off x="8330183" y="4178808"/>
            <a:ext cx="3428999" cy="320040"/>
          </a:xfrm>
          <a:prstGeom prst="rect">
            <a:avLst/>
          </a:prstGeom>
          <a:noFill/>
        </p:spPr>
        <p:txBody>
          <a:bodyPr wrap="square">
            <a:spAutoFit/>
          </a:bodyPr>
          <a:lstStyle/>
          <a:p>
            <a:pPr algn="l"/>
            <a:r>
              <a:rPr sz="1100" b="0" i="0">
                <a:solidFill>
                  <a:srgbClr val="CCD6E0"/>
                </a:solidFill>
              </a:rPr>
              <a:t>Run full benchmark on SD v1.5, SDXL-Turbo, SD 3.0</a:t>
            </a:r>
          </a:p>
        </p:txBody>
      </p:sp>
      <p:sp>
        <p:nvSpPr>
          <p:cNvPr id="40" name="TextBox 39"/>
          <p:cNvSpPr txBox="1"/>
          <p:nvPr/>
        </p:nvSpPr>
        <p:spPr>
          <a:xfrm>
            <a:off x="8330183" y="4471416"/>
            <a:ext cx="3428999" cy="320040"/>
          </a:xfrm>
          <a:prstGeom prst="rect">
            <a:avLst/>
          </a:prstGeom>
          <a:noFill/>
        </p:spPr>
        <p:txBody>
          <a:bodyPr wrap="square">
            <a:spAutoFit/>
          </a:bodyPr>
          <a:lstStyle/>
          <a:p>
            <a:pPr algn="l"/>
            <a:r>
              <a:rPr sz="1100" b="0" i="0">
                <a:solidFill>
                  <a:srgbClr val="CCD6E0"/>
                </a:solidFill>
              </a:rPr>
              <a:t>Compare hallucination rates across model generations</a:t>
            </a:r>
          </a:p>
        </p:txBody>
      </p:sp>
      <p:sp>
        <p:nvSpPr>
          <p:cNvPr id="41" name="TextBox 40"/>
          <p:cNvSpPr txBox="1"/>
          <p:nvPr/>
        </p:nvSpPr>
        <p:spPr>
          <a:xfrm>
            <a:off x="8330183" y="4764024"/>
            <a:ext cx="3428999" cy="320040"/>
          </a:xfrm>
          <a:prstGeom prst="rect">
            <a:avLst/>
          </a:prstGeom>
          <a:noFill/>
        </p:spPr>
        <p:txBody>
          <a:bodyPr wrap="square">
            <a:spAutoFit/>
          </a:bodyPr>
          <a:lstStyle/>
          <a:p>
            <a:pPr algn="l"/>
            <a:r>
              <a:rPr sz="1100" b="0" i="0">
                <a:solidFill>
                  <a:srgbClr val="CCD6E0"/>
                </a:solidFill>
              </a:rPr>
              <a:t>Publish findings as an open benchmark report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11704320" y="0"/>
            <a:ext cx="484632" cy="685800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4572000" cy="320040"/>
          </a:xfrm>
          <a:prstGeom prst="rect">
            <a:avLst/>
          </a:prstGeom>
          <a:noFill/>
        </p:spPr>
        <p:txBody>
          <a:bodyPr wrap="square">
            <a:spAutoFit/>
          </a:bodyPr>
          <a:lstStyle/>
          <a:p>
            <a:pPr algn="l"/>
            <a:r>
              <a:rPr sz="1000" b="1" i="1">
                <a:solidFill>
                  <a:srgbClr val="00C2D1"/>
                </a:solidFill>
              </a:rPr>
              <a:t>SUMMARY</a:t>
            </a:r>
          </a:p>
        </p:txBody>
      </p:sp>
      <p:sp>
        <p:nvSpPr>
          <p:cNvPr id="4" name="TextBox 3"/>
          <p:cNvSpPr txBox="1"/>
          <p:nvPr/>
        </p:nvSpPr>
        <p:spPr>
          <a:xfrm>
            <a:off x="320040" y="502920"/>
            <a:ext cx="10972800" cy="640080"/>
          </a:xfrm>
          <a:prstGeom prst="rect">
            <a:avLst/>
          </a:prstGeom>
          <a:noFill/>
        </p:spPr>
        <p:txBody>
          <a:bodyPr wrap="square">
            <a:spAutoFit/>
          </a:bodyPr>
          <a:lstStyle/>
          <a:p>
            <a:pPr algn="l"/>
            <a:r>
              <a:rPr sz="3000" b="1" i="0">
                <a:solidFill>
                  <a:srgbClr val="FFFFFF"/>
                </a:solidFill>
              </a:rPr>
              <a:t>Project Complete — What Was Built &amp; Proven</a:t>
            </a:r>
          </a:p>
        </p:txBody>
      </p:sp>
      <p:sp>
        <p:nvSpPr>
          <p:cNvPr id="5" name="Rectangle 4"/>
          <p:cNvSpPr/>
          <p:nvPr/>
        </p:nvSpPr>
        <p:spPr>
          <a:xfrm>
            <a:off x="0" y="1143000"/>
            <a:ext cx="6400800" cy="41148"/>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1371600"/>
            <a:ext cx="3749039" cy="516636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371600"/>
            <a:ext cx="3749039" cy="73152"/>
          </a:xfrm>
          <a:prstGeom prst="rect">
            <a:avLst/>
          </a:prstGeom>
          <a:solidFill>
            <a:srgbClr val="00C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481328"/>
            <a:ext cx="3474720" cy="384048"/>
          </a:xfrm>
          <a:prstGeom prst="rect">
            <a:avLst/>
          </a:prstGeom>
          <a:noFill/>
        </p:spPr>
        <p:txBody>
          <a:bodyPr wrap="square">
            <a:spAutoFit/>
          </a:bodyPr>
          <a:lstStyle/>
          <a:p>
            <a:pPr algn="l"/>
            <a:r>
              <a:rPr sz="1400" b="1" i="0">
                <a:solidFill>
                  <a:srgbClr val="00C2D1"/>
                </a:solidFill>
              </a:rPr>
              <a:t>✅  DELIVERED</a:t>
            </a:r>
          </a:p>
        </p:txBody>
      </p:sp>
      <p:sp>
        <p:nvSpPr>
          <p:cNvPr id="9" name="TextBox 8"/>
          <p:cNvSpPr txBox="1"/>
          <p:nvPr/>
        </p:nvSpPr>
        <p:spPr>
          <a:xfrm>
            <a:off x="502920" y="1938528"/>
            <a:ext cx="3429000" cy="411480"/>
          </a:xfrm>
          <a:prstGeom prst="rect">
            <a:avLst/>
          </a:prstGeom>
          <a:noFill/>
        </p:spPr>
        <p:txBody>
          <a:bodyPr wrap="square">
            <a:spAutoFit/>
          </a:bodyPr>
          <a:lstStyle/>
          <a:p>
            <a:pPr algn="l"/>
            <a:r>
              <a:rPr sz="1200" b="0" i="0">
                <a:solidFill>
                  <a:srgbClr val="CCD6E0"/>
                </a:solidFill>
              </a:rPr>
              <a:t>5-tab Gradio web application</a:t>
            </a:r>
          </a:p>
        </p:txBody>
      </p:sp>
      <p:sp>
        <p:nvSpPr>
          <p:cNvPr id="10" name="TextBox 9"/>
          <p:cNvSpPr txBox="1"/>
          <p:nvPr/>
        </p:nvSpPr>
        <p:spPr>
          <a:xfrm>
            <a:off x="502920" y="2395728"/>
            <a:ext cx="3429000" cy="411480"/>
          </a:xfrm>
          <a:prstGeom prst="rect">
            <a:avLst/>
          </a:prstGeom>
          <a:noFill/>
        </p:spPr>
        <p:txBody>
          <a:bodyPr wrap="square">
            <a:spAutoFit/>
          </a:bodyPr>
          <a:lstStyle/>
          <a:p>
            <a:pPr algn="l"/>
            <a:r>
              <a:rPr sz="1200" b="0" i="0">
                <a:solidFill>
                  <a:srgbClr val="CCD6E0"/>
                </a:solidFill>
              </a:rPr>
              <a:t>SD v1.5 + SDXL-Turbo generation</a:t>
            </a:r>
          </a:p>
        </p:txBody>
      </p:sp>
      <p:sp>
        <p:nvSpPr>
          <p:cNvPr id="11" name="TextBox 10"/>
          <p:cNvSpPr txBox="1"/>
          <p:nvPr/>
        </p:nvSpPr>
        <p:spPr>
          <a:xfrm>
            <a:off x="502920" y="2852928"/>
            <a:ext cx="3429000" cy="411480"/>
          </a:xfrm>
          <a:prstGeom prst="rect">
            <a:avLst/>
          </a:prstGeom>
          <a:noFill/>
        </p:spPr>
        <p:txBody>
          <a:bodyPr wrap="square">
            <a:spAutoFit/>
          </a:bodyPr>
          <a:lstStyle/>
          <a:p>
            <a:pPr algn="l"/>
            <a:r>
              <a:rPr sz="1200" b="0" i="0">
                <a:solidFill>
                  <a:srgbClr val="CCD6E0"/>
                </a:solidFill>
              </a:rPr>
              <a:t>Smart VQA faithfulness checker</a:t>
            </a:r>
          </a:p>
        </p:txBody>
      </p:sp>
      <p:sp>
        <p:nvSpPr>
          <p:cNvPr id="12" name="TextBox 11"/>
          <p:cNvSpPr txBox="1"/>
          <p:nvPr/>
        </p:nvSpPr>
        <p:spPr>
          <a:xfrm>
            <a:off x="502920" y="3310128"/>
            <a:ext cx="3429000" cy="411480"/>
          </a:xfrm>
          <a:prstGeom prst="rect">
            <a:avLst/>
          </a:prstGeom>
          <a:noFill/>
        </p:spPr>
        <p:txBody>
          <a:bodyPr wrap="square">
            <a:spAutoFit/>
          </a:bodyPr>
          <a:lstStyle/>
          <a:p>
            <a:pPr algn="l"/>
            <a:r>
              <a:rPr sz="1200" b="0" i="0">
                <a:solidFill>
                  <a:srgbClr val="CCD6E0"/>
                </a:solidFill>
              </a:rPr>
              <a:t>CLIP semantic similarity</a:t>
            </a:r>
          </a:p>
        </p:txBody>
      </p:sp>
      <p:sp>
        <p:nvSpPr>
          <p:cNvPr id="13" name="TextBox 12"/>
          <p:cNvSpPr txBox="1"/>
          <p:nvPr/>
        </p:nvSpPr>
        <p:spPr>
          <a:xfrm>
            <a:off x="502920" y="3767328"/>
            <a:ext cx="3429000" cy="411480"/>
          </a:xfrm>
          <a:prstGeom prst="rect">
            <a:avLst/>
          </a:prstGeom>
          <a:noFill/>
        </p:spPr>
        <p:txBody>
          <a:bodyPr wrap="square">
            <a:spAutoFit/>
          </a:bodyPr>
          <a:lstStyle/>
          <a:p>
            <a:pPr algn="l"/>
            <a:r>
              <a:rPr sz="1200" b="0" i="0">
                <a:solidFill>
                  <a:srgbClr val="CCD6E0"/>
                </a:solidFill>
              </a:rPr>
              <a:t>Multi-image self-consistency tab</a:t>
            </a:r>
          </a:p>
        </p:txBody>
      </p:sp>
      <p:sp>
        <p:nvSpPr>
          <p:cNvPr id="14" name="TextBox 13"/>
          <p:cNvSpPr txBox="1"/>
          <p:nvPr/>
        </p:nvSpPr>
        <p:spPr>
          <a:xfrm>
            <a:off x="502920" y="4224528"/>
            <a:ext cx="3429000" cy="411480"/>
          </a:xfrm>
          <a:prstGeom prst="rect">
            <a:avLst/>
          </a:prstGeom>
          <a:noFill/>
        </p:spPr>
        <p:txBody>
          <a:bodyPr wrap="square">
            <a:spAutoFit/>
          </a:bodyPr>
          <a:lstStyle/>
          <a:p>
            <a:pPr algn="l"/>
            <a:r>
              <a:rPr sz="1200" b="0" i="0">
                <a:solidFill>
                  <a:srgbClr val="CCD6E0"/>
                </a:solidFill>
              </a:rPr>
              <a:t>POPE benchmark (9,000 labels)</a:t>
            </a:r>
          </a:p>
        </p:txBody>
      </p:sp>
      <p:sp>
        <p:nvSpPr>
          <p:cNvPr id="15" name="TextBox 14"/>
          <p:cNvSpPr txBox="1"/>
          <p:nvPr/>
        </p:nvSpPr>
        <p:spPr>
          <a:xfrm>
            <a:off x="502920" y="4681728"/>
            <a:ext cx="3429000" cy="411480"/>
          </a:xfrm>
          <a:prstGeom prst="rect">
            <a:avLst/>
          </a:prstGeom>
          <a:noFill/>
        </p:spPr>
        <p:txBody>
          <a:bodyPr wrap="square">
            <a:spAutoFit/>
          </a:bodyPr>
          <a:lstStyle/>
          <a:p>
            <a:pPr algn="l"/>
            <a:r>
              <a:rPr sz="1200" b="0" i="0">
                <a:solidFill>
                  <a:srgbClr val="CCD6E0"/>
                </a:solidFill>
              </a:rPr>
              <a:t>OK-VQA benchmark (9,009 examples)</a:t>
            </a:r>
          </a:p>
        </p:txBody>
      </p:sp>
      <p:sp>
        <p:nvSpPr>
          <p:cNvPr id="16" name="TextBox 15"/>
          <p:cNvSpPr txBox="1"/>
          <p:nvPr/>
        </p:nvSpPr>
        <p:spPr>
          <a:xfrm>
            <a:off x="502920" y="5138928"/>
            <a:ext cx="3429000" cy="411480"/>
          </a:xfrm>
          <a:prstGeom prst="rect">
            <a:avLst/>
          </a:prstGeom>
          <a:noFill/>
        </p:spPr>
        <p:txBody>
          <a:bodyPr wrap="square">
            <a:spAutoFit/>
          </a:bodyPr>
          <a:lstStyle/>
          <a:p>
            <a:pPr algn="l"/>
            <a:r>
              <a:rPr sz="1200" b="0" i="0">
                <a:solidFill>
                  <a:srgbClr val="CCD6E0"/>
                </a:solidFill>
              </a:rPr>
              <a:t>Large-scale Flickr30k pipeline</a:t>
            </a:r>
          </a:p>
        </p:txBody>
      </p:sp>
      <p:sp>
        <p:nvSpPr>
          <p:cNvPr id="17" name="TextBox 16"/>
          <p:cNvSpPr txBox="1"/>
          <p:nvPr/>
        </p:nvSpPr>
        <p:spPr>
          <a:xfrm>
            <a:off x="502920" y="5596128"/>
            <a:ext cx="3429000" cy="411480"/>
          </a:xfrm>
          <a:prstGeom prst="rect">
            <a:avLst/>
          </a:prstGeom>
          <a:noFill/>
        </p:spPr>
        <p:txBody>
          <a:bodyPr wrap="square">
            <a:spAutoFit/>
          </a:bodyPr>
          <a:lstStyle/>
          <a:p>
            <a:pPr algn="l"/>
            <a:r>
              <a:rPr sz="1200" b="0" i="0">
                <a:solidFill>
                  <a:srgbClr val="CCD6E0"/>
                </a:solidFill>
              </a:rPr>
              <a:t>ROC-AUC metric validation</a:t>
            </a:r>
          </a:p>
        </p:txBody>
      </p:sp>
      <p:sp>
        <p:nvSpPr>
          <p:cNvPr id="18" name="TextBox 17"/>
          <p:cNvSpPr txBox="1"/>
          <p:nvPr/>
        </p:nvSpPr>
        <p:spPr>
          <a:xfrm>
            <a:off x="502920" y="6053328"/>
            <a:ext cx="3429000" cy="411480"/>
          </a:xfrm>
          <a:prstGeom prst="rect">
            <a:avLst/>
          </a:prstGeom>
          <a:noFill/>
        </p:spPr>
        <p:txBody>
          <a:bodyPr wrap="square">
            <a:spAutoFit/>
          </a:bodyPr>
          <a:lstStyle/>
          <a:p>
            <a:pPr algn="l"/>
            <a:r>
              <a:rPr sz="1200" b="0" i="0">
                <a:solidFill>
                  <a:srgbClr val="CCD6E0"/>
                </a:solidFill>
              </a:rPr>
              <a:t>Public deployment (HF Spaces)</a:t>
            </a:r>
          </a:p>
        </p:txBody>
      </p:sp>
      <p:sp>
        <p:nvSpPr>
          <p:cNvPr id="19" name="Rectangle 18"/>
          <p:cNvSpPr/>
          <p:nvPr/>
        </p:nvSpPr>
        <p:spPr>
          <a:xfrm>
            <a:off x="4233672" y="1371600"/>
            <a:ext cx="3749039" cy="516636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233672" y="1371600"/>
            <a:ext cx="3749039" cy="73152"/>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370832" y="1481328"/>
            <a:ext cx="3474720" cy="384048"/>
          </a:xfrm>
          <a:prstGeom prst="rect">
            <a:avLst/>
          </a:prstGeom>
          <a:noFill/>
        </p:spPr>
        <p:txBody>
          <a:bodyPr wrap="square">
            <a:spAutoFit/>
          </a:bodyPr>
          <a:lstStyle/>
          <a:p>
            <a:pPr algn="l"/>
            <a:r>
              <a:rPr sz="1400" b="1" i="0">
                <a:solidFill>
                  <a:srgbClr val="FA4D00"/>
                </a:solidFill>
              </a:rPr>
              <a:t>📊  PROVEN</a:t>
            </a:r>
          </a:p>
        </p:txBody>
      </p:sp>
      <p:sp>
        <p:nvSpPr>
          <p:cNvPr id="22" name="TextBox 21"/>
          <p:cNvSpPr txBox="1"/>
          <p:nvPr/>
        </p:nvSpPr>
        <p:spPr>
          <a:xfrm>
            <a:off x="4416552" y="1938528"/>
            <a:ext cx="3429000" cy="411480"/>
          </a:xfrm>
          <a:prstGeom prst="rect">
            <a:avLst/>
          </a:prstGeom>
          <a:noFill/>
        </p:spPr>
        <p:txBody>
          <a:bodyPr wrap="square">
            <a:spAutoFit/>
          </a:bodyPr>
          <a:lstStyle/>
          <a:p>
            <a:pPr algn="l"/>
            <a:r>
              <a:rPr sz="1200" b="0" i="0">
                <a:solidFill>
                  <a:srgbClr val="CCD6E0"/>
                </a:solidFill>
              </a:rPr>
              <a:t>Metric is non-random (ROC-AUC)</a:t>
            </a:r>
          </a:p>
        </p:txBody>
      </p:sp>
      <p:sp>
        <p:nvSpPr>
          <p:cNvPr id="23" name="TextBox 22"/>
          <p:cNvSpPr txBox="1"/>
          <p:nvPr/>
        </p:nvSpPr>
        <p:spPr>
          <a:xfrm>
            <a:off x="4416552" y="2395728"/>
            <a:ext cx="3429000" cy="411480"/>
          </a:xfrm>
          <a:prstGeom prst="rect">
            <a:avLst/>
          </a:prstGeom>
          <a:noFill/>
        </p:spPr>
        <p:txBody>
          <a:bodyPr wrap="square">
            <a:spAutoFit/>
          </a:bodyPr>
          <a:lstStyle/>
          <a:p>
            <a:pPr algn="l"/>
            <a:r>
              <a:rPr sz="1200" b="0" i="0">
                <a:solidFill>
                  <a:srgbClr val="CCD6E0"/>
                </a:solidFill>
              </a:rPr>
              <a:t>GT images score higher than Gen</a:t>
            </a:r>
          </a:p>
        </p:txBody>
      </p:sp>
      <p:sp>
        <p:nvSpPr>
          <p:cNvPr id="24" name="TextBox 23"/>
          <p:cNvSpPr txBox="1"/>
          <p:nvPr/>
        </p:nvSpPr>
        <p:spPr>
          <a:xfrm>
            <a:off x="4416552" y="2852928"/>
            <a:ext cx="3429000" cy="411480"/>
          </a:xfrm>
          <a:prstGeom prst="rect">
            <a:avLst/>
          </a:prstGeom>
          <a:noFill/>
        </p:spPr>
        <p:txBody>
          <a:bodyPr wrap="square">
            <a:spAutoFit/>
          </a:bodyPr>
          <a:lstStyle/>
          <a:p>
            <a:pPr algn="l"/>
            <a:r>
              <a:rPr sz="1200" b="0" i="0">
                <a:solidFill>
                  <a:srgbClr val="CCD6E0"/>
                </a:solidFill>
              </a:rPr>
              <a:t>Score predicts POPE labels</a:t>
            </a:r>
          </a:p>
        </p:txBody>
      </p:sp>
      <p:sp>
        <p:nvSpPr>
          <p:cNvPr id="25" name="TextBox 24"/>
          <p:cNvSpPr txBox="1"/>
          <p:nvPr/>
        </p:nvSpPr>
        <p:spPr>
          <a:xfrm>
            <a:off x="4416552" y="3310128"/>
            <a:ext cx="3429000" cy="411480"/>
          </a:xfrm>
          <a:prstGeom prst="rect">
            <a:avLst/>
          </a:prstGeom>
          <a:noFill/>
        </p:spPr>
        <p:txBody>
          <a:bodyPr wrap="square">
            <a:spAutoFit/>
          </a:bodyPr>
          <a:lstStyle/>
          <a:p>
            <a:pPr algn="l"/>
            <a:r>
              <a:rPr sz="1200" b="0" i="0">
                <a:solidFill>
                  <a:srgbClr val="CCD6E0"/>
                </a:solidFill>
              </a:rPr>
              <a:t>VQA pipeline works on real images</a:t>
            </a:r>
          </a:p>
        </p:txBody>
      </p:sp>
      <p:sp>
        <p:nvSpPr>
          <p:cNvPr id="26" name="TextBox 25"/>
          <p:cNvSpPr txBox="1"/>
          <p:nvPr/>
        </p:nvSpPr>
        <p:spPr>
          <a:xfrm>
            <a:off x="4416552" y="3767328"/>
            <a:ext cx="3429000" cy="411480"/>
          </a:xfrm>
          <a:prstGeom prst="rect">
            <a:avLst/>
          </a:prstGeom>
          <a:noFill/>
        </p:spPr>
        <p:txBody>
          <a:bodyPr wrap="square">
            <a:spAutoFit/>
          </a:bodyPr>
          <a:lstStyle/>
          <a:p>
            <a:pPr algn="l"/>
            <a:r>
              <a:rPr sz="1200" b="0" i="0">
                <a:solidFill>
                  <a:srgbClr val="CCD6E0"/>
                </a:solidFill>
              </a:rPr>
              <a:t>Variance = uncertainty signal</a:t>
            </a:r>
          </a:p>
        </p:txBody>
      </p:sp>
      <p:sp>
        <p:nvSpPr>
          <p:cNvPr id="27" name="TextBox 26"/>
          <p:cNvSpPr txBox="1"/>
          <p:nvPr/>
        </p:nvSpPr>
        <p:spPr>
          <a:xfrm>
            <a:off x="4416552" y="4224528"/>
            <a:ext cx="3429000" cy="411480"/>
          </a:xfrm>
          <a:prstGeom prst="rect">
            <a:avLst/>
          </a:prstGeom>
          <a:noFill/>
        </p:spPr>
        <p:txBody>
          <a:bodyPr wrap="square">
            <a:spAutoFit/>
          </a:bodyPr>
          <a:lstStyle/>
          <a:p>
            <a:pPr algn="l"/>
            <a:r>
              <a:rPr sz="1200" b="0" i="0">
                <a:solidFill>
                  <a:srgbClr val="CCD6E0"/>
                </a:solidFill>
              </a:rPr>
              <a:t>SDXL-Turbo outperforms SD v1.5</a:t>
            </a:r>
          </a:p>
        </p:txBody>
      </p:sp>
      <p:sp>
        <p:nvSpPr>
          <p:cNvPr id="28" name="Rectangle 27"/>
          <p:cNvSpPr/>
          <p:nvPr/>
        </p:nvSpPr>
        <p:spPr>
          <a:xfrm>
            <a:off x="8147304" y="1371600"/>
            <a:ext cx="3749039" cy="516636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147304" y="1371600"/>
            <a:ext cx="3749039" cy="73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84464" y="1481328"/>
            <a:ext cx="3474720" cy="384048"/>
          </a:xfrm>
          <a:prstGeom prst="rect">
            <a:avLst/>
          </a:prstGeom>
          <a:noFill/>
        </p:spPr>
        <p:txBody>
          <a:bodyPr wrap="square">
            <a:spAutoFit/>
          </a:bodyPr>
          <a:lstStyle/>
          <a:p>
            <a:pPr algn="l"/>
            <a:r>
              <a:rPr sz="1400" b="1" i="0">
                <a:solidFill>
                  <a:srgbClr val="FFFFFF"/>
                </a:solidFill>
              </a:rPr>
              <a:t>🚀  NEXT</a:t>
            </a:r>
          </a:p>
        </p:txBody>
      </p:sp>
      <p:sp>
        <p:nvSpPr>
          <p:cNvPr id="31" name="TextBox 30"/>
          <p:cNvSpPr txBox="1"/>
          <p:nvPr/>
        </p:nvSpPr>
        <p:spPr>
          <a:xfrm>
            <a:off x="8330183" y="1938528"/>
            <a:ext cx="3429000" cy="411480"/>
          </a:xfrm>
          <a:prstGeom prst="rect">
            <a:avLst/>
          </a:prstGeom>
          <a:noFill/>
        </p:spPr>
        <p:txBody>
          <a:bodyPr wrap="square">
            <a:spAutoFit/>
          </a:bodyPr>
          <a:lstStyle/>
          <a:p>
            <a:pPr algn="l"/>
            <a:r>
              <a:rPr sz="1200" b="0" i="0">
                <a:solidFill>
                  <a:srgbClr val="CCD6E0"/>
                </a:solidFill>
              </a:rPr>
              <a:t>LLM question generation</a:t>
            </a:r>
          </a:p>
        </p:txBody>
      </p:sp>
      <p:sp>
        <p:nvSpPr>
          <p:cNvPr id="32" name="TextBox 31"/>
          <p:cNvSpPr txBox="1"/>
          <p:nvPr/>
        </p:nvSpPr>
        <p:spPr>
          <a:xfrm>
            <a:off x="8330183" y="2395728"/>
            <a:ext cx="3429000" cy="411480"/>
          </a:xfrm>
          <a:prstGeom prst="rect">
            <a:avLst/>
          </a:prstGeom>
          <a:noFill/>
        </p:spPr>
        <p:txBody>
          <a:bodyPr wrap="square">
            <a:spAutoFit/>
          </a:bodyPr>
          <a:lstStyle/>
          <a:p>
            <a:pPr algn="l"/>
            <a:r>
              <a:rPr sz="1200" b="0" i="0">
                <a:solidFill>
                  <a:srgbClr val="CCD6E0"/>
                </a:solidFill>
              </a:rPr>
              <a:t>BLIP-2 VQA upgrade</a:t>
            </a:r>
          </a:p>
        </p:txBody>
      </p:sp>
      <p:sp>
        <p:nvSpPr>
          <p:cNvPr id="33" name="TextBox 32"/>
          <p:cNvSpPr txBox="1"/>
          <p:nvPr/>
        </p:nvSpPr>
        <p:spPr>
          <a:xfrm>
            <a:off x="8330183" y="2852928"/>
            <a:ext cx="3429000" cy="411480"/>
          </a:xfrm>
          <a:prstGeom prst="rect">
            <a:avLst/>
          </a:prstGeom>
          <a:noFill/>
        </p:spPr>
        <p:txBody>
          <a:bodyPr wrap="square">
            <a:spAutoFit/>
          </a:bodyPr>
          <a:lstStyle/>
          <a:p>
            <a:pPr algn="l"/>
            <a:r>
              <a:rPr sz="1200" b="0" i="0">
                <a:solidFill>
                  <a:srgbClr val="CCD6E0"/>
                </a:solidFill>
              </a:rPr>
              <a:t>Failure case taxonomy</a:t>
            </a:r>
          </a:p>
        </p:txBody>
      </p:sp>
      <p:sp>
        <p:nvSpPr>
          <p:cNvPr id="34" name="TextBox 33"/>
          <p:cNvSpPr txBox="1"/>
          <p:nvPr/>
        </p:nvSpPr>
        <p:spPr>
          <a:xfrm>
            <a:off x="8330183" y="3310128"/>
            <a:ext cx="3429000" cy="411480"/>
          </a:xfrm>
          <a:prstGeom prst="rect">
            <a:avLst/>
          </a:prstGeom>
          <a:noFill/>
        </p:spPr>
        <p:txBody>
          <a:bodyPr wrap="square">
            <a:spAutoFit/>
          </a:bodyPr>
          <a:lstStyle/>
          <a:p>
            <a:pPr algn="l"/>
            <a:r>
              <a:rPr sz="1200" b="0" i="0">
                <a:solidFill>
                  <a:srgbClr val="CCD6E0"/>
                </a:solidFill>
              </a:rPr>
              <a:t>Combined metric score</a:t>
            </a:r>
          </a:p>
        </p:txBody>
      </p:sp>
      <p:sp>
        <p:nvSpPr>
          <p:cNvPr id="35" name="TextBox 34"/>
          <p:cNvSpPr txBox="1"/>
          <p:nvPr/>
        </p:nvSpPr>
        <p:spPr>
          <a:xfrm>
            <a:off x="8330183" y="3767328"/>
            <a:ext cx="3429000" cy="411480"/>
          </a:xfrm>
          <a:prstGeom prst="rect">
            <a:avLst/>
          </a:prstGeom>
          <a:noFill/>
        </p:spPr>
        <p:txBody>
          <a:bodyPr wrap="square">
            <a:spAutoFit/>
          </a:bodyPr>
          <a:lstStyle/>
          <a:p>
            <a:pPr algn="l"/>
            <a:r>
              <a:rPr sz="1200" b="0" i="0">
                <a:solidFill>
                  <a:srgbClr val="CCD6E0"/>
                </a:solidFill>
              </a:rPr>
              <a:t>T2I-CompBench via parquet</a:t>
            </a:r>
          </a:p>
        </p:txBody>
      </p:sp>
      <p:sp>
        <p:nvSpPr>
          <p:cNvPr id="36" name="TextBox 35"/>
          <p:cNvSpPr txBox="1"/>
          <p:nvPr/>
        </p:nvSpPr>
        <p:spPr>
          <a:xfrm>
            <a:off x="8330183" y="4224528"/>
            <a:ext cx="3429000" cy="411480"/>
          </a:xfrm>
          <a:prstGeom prst="rect">
            <a:avLst/>
          </a:prstGeom>
          <a:noFill/>
        </p:spPr>
        <p:txBody>
          <a:bodyPr wrap="square">
            <a:spAutoFit/>
          </a:bodyPr>
          <a:lstStyle/>
          <a:p>
            <a:pPr algn="l"/>
            <a:r>
              <a:rPr sz="1200" b="0" i="0">
                <a:solidFill>
                  <a:srgbClr val="CCD6E0"/>
                </a:solidFill>
              </a:rPr>
              <a:t>Multi-model comparison study</a:t>
            </a:r>
          </a:p>
        </p:txBody>
      </p:sp>
      <p:sp>
        <p:nvSpPr>
          <p:cNvPr id="37" name="TextBox 36"/>
          <p:cNvSpPr txBox="1"/>
          <p:nvPr/>
        </p:nvSpPr>
        <p:spPr>
          <a:xfrm>
            <a:off x="320040" y="6446520"/>
            <a:ext cx="11338560" cy="365760"/>
          </a:xfrm>
          <a:prstGeom prst="rect">
            <a:avLst/>
          </a:prstGeom>
          <a:noFill/>
        </p:spPr>
        <p:txBody>
          <a:bodyPr wrap="square">
            <a:spAutoFit/>
          </a:bodyPr>
          <a:lstStyle/>
          <a:p>
            <a:pPr algn="ctr"/>
            <a:r>
              <a:rPr sz="1300" b="0" i="1">
                <a:solidFill>
                  <a:srgbClr val="00C2D1"/>
                </a:solidFill>
              </a:rPr>
              <a:t>A free · local · training-free hallucination evaluation system, validated against ground-truth labels, deployed publicly.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Custom</PresentationFormat>
  <Paragraphs>0</Paragraphs>
  <Slides>13</Slides>
  <Notes>13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93</cp:revision>
  <dcterms:created xsi:type="dcterms:W3CDTF">2013-01-27T09:14:16Z</dcterms:created>
  <dcterms:modified xsi:type="dcterms:W3CDTF">2026-04-18T00:03:06Z</dcterms:modified>
  <cp:category/>
</cp:coreProperties>
</file>