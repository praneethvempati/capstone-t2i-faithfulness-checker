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3774400" cy="178308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1415136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2830272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4245407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5660542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7075678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8490815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9905951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11321085" algn="l" defTabSz="283027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5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AF1F9"/>
          </a:solidFill>
        </a:fill>
      </a:tcStyle>
    </a:wholeTbl>
    <a:band2H>
      <a:tcTxStyle b="def" i="def"/>
      <a:tcStyle>
        <a:tcBdr/>
        <a:fill>
          <a:solidFill>
            <a:srgbClr val="F5F8F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8E8E8"/>
          </a:solidFill>
        </a:fill>
      </a:tcStyle>
    </a:wholeTbl>
    <a:band2H>
      <a:tcTxStyle b="def" i="def"/>
      <a:tcStyle>
        <a:tcBdr/>
        <a:fill>
          <a:solidFill>
            <a:srgbClr val="F4F4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CD"/>
          </a:solidFill>
        </a:fill>
      </a:tcStyle>
    </a:wholeTbl>
    <a:band2H>
      <a:tcTxStyle b="def" i="def"/>
      <a:tcStyle>
        <a:tcBdr/>
        <a:fill>
          <a:solidFill>
            <a:srgbClr val="EBEE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38371" latinLnBrk="0">
      <a:defRPr sz="600">
        <a:latin typeface="+mn-lt"/>
        <a:ea typeface="+mn-ea"/>
        <a:cs typeface="+mn-cs"/>
        <a:sym typeface="Calibri"/>
      </a:defRPr>
    </a:lvl1pPr>
    <a:lvl2pPr indent="228600" defTabSz="538371" latinLnBrk="0">
      <a:defRPr sz="600">
        <a:latin typeface="+mn-lt"/>
        <a:ea typeface="+mn-ea"/>
        <a:cs typeface="+mn-cs"/>
        <a:sym typeface="Calibri"/>
      </a:defRPr>
    </a:lvl2pPr>
    <a:lvl3pPr indent="457200" defTabSz="538371" latinLnBrk="0">
      <a:defRPr sz="600">
        <a:latin typeface="+mn-lt"/>
        <a:ea typeface="+mn-ea"/>
        <a:cs typeface="+mn-cs"/>
        <a:sym typeface="Calibri"/>
      </a:defRPr>
    </a:lvl3pPr>
    <a:lvl4pPr indent="685800" defTabSz="538371" latinLnBrk="0">
      <a:defRPr sz="600">
        <a:latin typeface="+mn-lt"/>
        <a:ea typeface="+mn-ea"/>
        <a:cs typeface="+mn-cs"/>
        <a:sym typeface="Calibri"/>
      </a:defRPr>
    </a:lvl4pPr>
    <a:lvl5pPr indent="914400" defTabSz="538371" latinLnBrk="0">
      <a:defRPr sz="600">
        <a:latin typeface="+mn-lt"/>
        <a:ea typeface="+mn-ea"/>
        <a:cs typeface="+mn-cs"/>
        <a:sym typeface="Calibri"/>
      </a:defRPr>
    </a:lvl5pPr>
    <a:lvl6pPr indent="1143000" defTabSz="538371" latinLnBrk="0">
      <a:defRPr sz="600">
        <a:latin typeface="+mn-lt"/>
        <a:ea typeface="+mn-ea"/>
        <a:cs typeface="+mn-cs"/>
        <a:sym typeface="Calibri"/>
      </a:defRPr>
    </a:lvl6pPr>
    <a:lvl7pPr indent="1371600" defTabSz="538371" latinLnBrk="0">
      <a:defRPr sz="600">
        <a:latin typeface="+mn-lt"/>
        <a:ea typeface="+mn-ea"/>
        <a:cs typeface="+mn-cs"/>
        <a:sym typeface="Calibri"/>
      </a:defRPr>
    </a:lvl7pPr>
    <a:lvl8pPr indent="1600200" defTabSz="538371" latinLnBrk="0">
      <a:defRPr sz="600">
        <a:latin typeface="+mn-lt"/>
        <a:ea typeface="+mn-ea"/>
        <a:cs typeface="+mn-cs"/>
        <a:sym typeface="Calibri"/>
      </a:defRPr>
    </a:lvl8pPr>
    <a:lvl9pPr indent="1828800" defTabSz="538371" latinLnBrk="0">
      <a:defRPr sz="6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OSMI Poster Multi-Column Orange &amp;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0" y="17087850"/>
            <a:ext cx="23774400" cy="742950"/>
          </a:xfrm>
          <a:prstGeom prst="rect">
            <a:avLst/>
          </a:prstGeom>
          <a:solidFill>
            <a:srgbClr val="EB632D"/>
          </a:solidFill>
          <a:ln w="25400">
            <a:solidFill>
              <a:srgbClr val="909EAF"/>
            </a:solidFill>
          </a:ln>
          <a:effectLst>
            <a:outerShdw sx="100000" sy="100000" kx="0" ky="0" algn="b" rotWithShape="0" blurRad="50800" dist="76200" dir="16200000">
              <a:srgbClr val="FFFFFF"/>
            </a:outerShdw>
          </a:effectLst>
        </p:spPr>
        <p:txBody>
          <a:bodyPr lIns="45719" rIns="45719" anchor="ctr"/>
          <a:lstStyle/>
          <a:p>
            <a:pPr algn="ctr">
              <a:defRPr sz="4100">
                <a:solidFill>
                  <a:srgbClr val="FFFFFF"/>
                </a:solidFill>
              </a:defRPr>
            </a:pPr>
          </a:p>
        </p:txBody>
      </p:sp>
      <p:sp>
        <p:nvSpPr>
          <p:cNvPr id="12" name="Rectangle 5"/>
          <p:cNvSpPr/>
          <p:nvPr/>
        </p:nvSpPr>
        <p:spPr>
          <a:xfrm>
            <a:off x="0" y="0"/>
            <a:ext cx="23774400" cy="2971800"/>
          </a:xfrm>
          <a:prstGeom prst="rect">
            <a:avLst/>
          </a:prstGeom>
          <a:solidFill>
            <a:srgbClr val="EB632D"/>
          </a:solidFill>
          <a:ln w="25400">
            <a:solidFill>
              <a:srgbClr val="909EAF"/>
            </a:solidFill>
          </a:ln>
          <a:effectLst>
            <a:outerShdw sx="100000" sy="100000" kx="0" ky="0" algn="b" rotWithShape="0" blurRad="50800" dist="76200" dir="5400000">
              <a:srgbClr val="FFFFFF"/>
            </a:outerShdw>
          </a:effectLst>
        </p:spPr>
        <p:txBody>
          <a:bodyPr lIns="45719" rIns="45719" anchor="ctr"/>
          <a:lstStyle/>
          <a:p>
            <a:pPr algn="ctr">
              <a:defRPr sz="4100">
                <a:solidFill>
                  <a:srgbClr val="FFFFFF"/>
                </a:solidFill>
              </a:defRPr>
            </a:pP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3396343" y="0"/>
            <a:ext cx="16981715" cy="20802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 hasCustomPrompt="1"/>
          </p:nvPr>
        </p:nvSpPr>
        <p:spPr>
          <a:xfrm>
            <a:off x="509450" y="3549650"/>
            <a:ext cx="6391510" cy="742950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  <a:lvl2pPr marL="0" indent="1061211" algn="ctr">
              <a:spcBef>
                <a:spcPts val="600"/>
              </a:spcBef>
              <a:buSzTx/>
              <a:buFontTx/>
              <a:buNone/>
              <a:defRPr sz="2800"/>
            </a:lvl2pPr>
            <a:lvl3pPr marL="0" indent="2122420" algn="ctr">
              <a:spcBef>
                <a:spcPts val="600"/>
              </a:spcBef>
              <a:buSzTx/>
              <a:buFontTx/>
              <a:buNone/>
              <a:defRPr sz="2800"/>
            </a:lvl3pPr>
            <a:lvl4pPr marL="0" indent="3183631" algn="ctr">
              <a:spcBef>
                <a:spcPts val="600"/>
              </a:spcBef>
              <a:buSzTx/>
              <a:buFontTx/>
              <a:buNone/>
              <a:defRPr sz="2800"/>
            </a:lvl4pPr>
            <a:lvl5pPr marL="0" indent="4244842" algn="ctr">
              <a:spcBef>
                <a:spcPts val="600"/>
              </a:spcBef>
              <a:buSzTx/>
              <a:buFontTx/>
              <a:buNone/>
              <a:defRPr sz="2800"/>
            </a:lvl5pPr>
          </a:lstStyle>
          <a:p>
            <a:pPr/>
            <a:r>
              <a:t>Introduction (Suggested Title)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Text Placeholder 48"/>
          <p:cNvSpPr/>
          <p:nvPr>
            <p:ph type="body" sz="quarter" idx="21" hasCustomPrompt="1"/>
          </p:nvPr>
        </p:nvSpPr>
        <p:spPr>
          <a:xfrm>
            <a:off x="509449" y="4292600"/>
            <a:ext cx="6391512" cy="4953000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sp>
        <p:nvSpPr>
          <p:cNvPr id="16" name="Text Placeholder 53"/>
          <p:cNvSpPr/>
          <p:nvPr>
            <p:ph type="body" sz="quarter" idx="22" hasCustomPrompt="1"/>
          </p:nvPr>
        </p:nvSpPr>
        <p:spPr>
          <a:xfrm>
            <a:off x="16874655" y="3549650"/>
            <a:ext cx="6391511" cy="742950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</a:lstStyle>
          <a:p>
            <a:pPr/>
            <a:r>
              <a:t>Discussion (Suggested Title)</a:t>
            </a:r>
          </a:p>
        </p:txBody>
      </p:sp>
      <p:sp>
        <p:nvSpPr>
          <p:cNvPr id="17" name="Text Placeholder 48"/>
          <p:cNvSpPr/>
          <p:nvPr>
            <p:ph type="body" sz="quarter" idx="23" hasCustomPrompt="1"/>
          </p:nvPr>
        </p:nvSpPr>
        <p:spPr>
          <a:xfrm>
            <a:off x="16874655" y="4292600"/>
            <a:ext cx="6391511" cy="4721860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sp>
        <p:nvSpPr>
          <p:cNvPr id="18" name="Text Placeholder 53"/>
          <p:cNvSpPr/>
          <p:nvPr>
            <p:ph type="body" sz="quarter" idx="24" hasCustomPrompt="1"/>
          </p:nvPr>
        </p:nvSpPr>
        <p:spPr>
          <a:xfrm>
            <a:off x="509449" y="10483850"/>
            <a:ext cx="6391512" cy="742950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</a:lstStyle>
          <a:p>
            <a:pPr/>
            <a:r>
              <a:t>Methods (Suggested Title)</a:t>
            </a:r>
          </a:p>
        </p:txBody>
      </p:sp>
      <p:sp>
        <p:nvSpPr>
          <p:cNvPr id="19" name="Text Placeholder 48"/>
          <p:cNvSpPr/>
          <p:nvPr>
            <p:ph type="body" sz="quarter" idx="25" hasCustomPrompt="1"/>
          </p:nvPr>
        </p:nvSpPr>
        <p:spPr>
          <a:xfrm>
            <a:off x="509449" y="11226800"/>
            <a:ext cx="6391512" cy="4953000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sp>
        <p:nvSpPr>
          <p:cNvPr id="20" name="Text Placeholder 53"/>
          <p:cNvSpPr/>
          <p:nvPr>
            <p:ph type="body" sz="quarter" idx="26" hasCustomPrompt="1"/>
          </p:nvPr>
        </p:nvSpPr>
        <p:spPr>
          <a:xfrm>
            <a:off x="16874655" y="13373100"/>
            <a:ext cx="6391511" cy="742950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</a:lstStyle>
          <a:p>
            <a:pPr/>
            <a:r>
              <a:t>References (Suggested Title)</a:t>
            </a:r>
          </a:p>
        </p:txBody>
      </p:sp>
      <p:sp>
        <p:nvSpPr>
          <p:cNvPr id="21" name="Text Placeholder 48"/>
          <p:cNvSpPr/>
          <p:nvPr>
            <p:ph type="body" sz="quarter" idx="27" hasCustomPrompt="1"/>
          </p:nvPr>
        </p:nvSpPr>
        <p:spPr>
          <a:xfrm>
            <a:off x="16874655" y="14116050"/>
            <a:ext cx="6391511" cy="2129790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pic>
        <p:nvPicPr>
          <p:cNvPr id="22" name="Picture 63" descr="Picture 6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52137" y="17153230"/>
            <a:ext cx="6054954" cy="59436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Placeholder 53"/>
          <p:cNvSpPr/>
          <p:nvPr>
            <p:ph type="body" sz="quarter" idx="28" hasCustomPrompt="1"/>
          </p:nvPr>
        </p:nvSpPr>
        <p:spPr>
          <a:xfrm>
            <a:off x="16874655" y="9707880"/>
            <a:ext cx="6391511" cy="742951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</a:lstStyle>
          <a:p>
            <a:pPr/>
            <a:r>
              <a:t>Conclusions (Suggested Title)</a:t>
            </a:r>
          </a:p>
        </p:txBody>
      </p:sp>
      <p:sp>
        <p:nvSpPr>
          <p:cNvPr id="24" name="Text Placeholder 48"/>
          <p:cNvSpPr/>
          <p:nvPr>
            <p:ph type="body" sz="quarter" idx="29" hasCustomPrompt="1"/>
          </p:nvPr>
        </p:nvSpPr>
        <p:spPr>
          <a:xfrm>
            <a:off x="16874655" y="10450830"/>
            <a:ext cx="6391511" cy="1931671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sp>
        <p:nvSpPr>
          <p:cNvPr id="25" name="Text Placeholder 7"/>
          <p:cNvSpPr/>
          <p:nvPr>
            <p:ph type="body" sz="quarter" idx="30" hasCustomPrompt="1"/>
          </p:nvPr>
        </p:nvSpPr>
        <p:spPr>
          <a:xfrm>
            <a:off x="3418673" y="2159507"/>
            <a:ext cx="16981626" cy="71323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400"/>
              </a:spcBef>
              <a:buSzTx/>
              <a:buFontTx/>
              <a:buNone/>
              <a:defRPr sz="1900"/>
            </a:lvl1pPr>
          </a:lstStyle>
          <a:p>
            <a:pPr/>
            <a:r>
              <a:t>Authors Here</a:t>
            </a:r>
          </a:p>
        </p:txBody>
      </p:sp>
      <p:sp>
        <p:nvSpPr>
          <p:cNvPr id="26" name="Text Placeholder 53"/>
          <p:cNvSpPr/>
          <p:nvPr>
            <p:ph type="body" sz="quarter" idx="31" hasCustomPrompt="1"/>
          </p:nvPr>
        </p:nvSpPr>
        <p:spPr>
          <a:xfrm>
            <a:off x="8691444" y="3566159"/>
            <a:ext cx="6391511" cy="742951"/>
          </a:xfrm>
          <a:prstGeom prst="rect">
            <a:avLst/>
          </a:prstGeom>
          <a:solidFill>
            <a:srgbClr val="EB632D"/>
          </a:solidFill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/>
            </a:lvl1pPr>
          </a:lstStyle>
          <a:p>
            <a:pPr/>
            <a:r>
              <a:t>Results (Suggested Title)</a:t>
            </a:r>
          </a:p>
        </p:txBody>
      </p:sp>
      <p:sp>
        <p:nvSpPr>
          <p:cNvPr id="27" name="Text Placeholder 48"/>
          <p:cNvSpPr/>
          <p:nvPr>
            <p:ph type="body" sz="quarter" idx="32" hasCustomPrompt="1"/>
          </p:nvPr>
        </p:nvSpPr>
        <p:spPr>
          <a:xfrm>
            <a:off x="8691444" y="4309109"/>
            <a:ext cx="6391511" cy="1931671"/>
          </a:xfrm>
          <a:prstGeom prst="rect">
            <a:avLst/>
          </a:prstGeom>
          <a:ln w="25400">
            <a:solidFill>
              <a:srgbClr val="EB632D"/>
            </a:solidFill>
            <a:round/>
          </a:ln>
        </p:spPr>
        <p:txBody>
          <a:bodyPr lIns="103532" tIns="103532" rIns="103532" bIns="103532"/>
          <a:lstStyle>
            <a:lvl1pPr marL="0" indent="0">
              <a:spcBef>
                <a:spcPts val="400"/>
              </a:spcBef>
              <a:buSzTx/>
              <a:buFontTx/>
              <a:buNone/>
              <a:defRPr sz="1800"/>
            </a:lvl1pPr>
          </a:lstStyle>
          <a:p>
            <a:pPr/>
            <a:r>
              <a:t>Body Here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xfrm>
            <a:off x="11490960" y="16050259"/>
            <a:ext cx="5547361" cy="952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/>
          <p:nvPr>
            <p:ph type="title"/>
          </p:nvPr>
        </p:nvSpPr>
        <p:spPr>
          <a:xfrm>
            <a:off x="1783079" y="5539106"/>
            <a:ext cx="20208241" cy="382206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3566159" y="10104119"/>
            <a:ext cx="16642082" cy="455676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</a:lvl1pPr>
            <a:lvl2pPr marL="0" indent="1061211" algn="ctr">
              <a:buSzTx/>
              <a:buFontTx/>
              <a:buNone/>
            </a:lvl2pPr>
            <a:lvl3pPr marL="0" indent="2122420" algn="ctr">
              <a:buSzTx/>
              <a:buFontTx/>
              <a:buNone/>
            </a:lvl3pPr>
            <a:lvl4pPr marL="0" indent="3183631" algn="ctr">
              <a:buSzTx/>
              <a:buFontTx/>
              <a:buNone/>
            </a:lvl4pPr>
            <a:lvl5pPr marL="0" indent="4244842" algn="ctr">
              <a:buSzTx/>
              <a:buFont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/>
          <p:nvPr>
            <p:ph type="title"/>
          </p:nvPr>
        </p:nvSpPr>
        <p:spPr>
          <a:xfrm>
            <a:off x="1878015" y="11457940"/>
            <a:ext cx="20208240" cy="3541397"/>
          </a:xfrm>
          <a:prstGeom prst="rect">
            <a:avLst/>
          </a:prstGeom>
        </p:spPr>
        <p:txBody>
          <a:bodyPr anchor="t"/>
          <a:lstStyle>
            <a:lvl1pPr algn="l">
              <a:defRPr b="1" cap="all" sz="92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1878015" y="7557454"/>
            <a:ext cx="20208240" cy="390048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1100"/>
              </a:spcBef>
              <a:buSzTx/>
              <a:buFontTx/>
              <a:buNone/>
              <a:defRPr sz="4600"/>
            </a:lvl1pPr>
            <a:lvl2pPr marL="0" indent="1061211">
              <a:spcBef>
                <a:spcPts val="1100"/>
              </a:spcBef>
              <a:buSzTx/>
              <a:buFontTx/>
              <a:buNone/>
              <a:defRPr sz="4600"/>
            </a:lvl2pPr>
            <a:lvl3pPr marL="0" indent="2122420">
              <a:spcBef>
                <a:spcPts val="1100"/>
              </a:spcBef>
              <a:buSzTx/>
              <a:buFontTx/>
              <a:buNone/>
              <a:defRPr sz="4600"/>
            </a:lvl3pPr>
            <a:lvl4pPr marL="0" indent="3183631">
              <a:spcBef>
                <a:spcPts val="1100"/>
              </a:spcBef>
              <a:buSzTx/>
              <a:buFontTx/>
              <a:buNone/>
              <a:defRPr sz="4600"/>
            </a:lvl4pPr>
            <a:lvl5pPr marL="0" indent="4244842">
              <a:spcBef>
                <a:spcPts val="1100"/>
              </a:spcBef>
              <a:buSzTx/>
              <a:buFontTx/>
              <a:buNone/>
              <a:defRPr sz="4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Body Level One…"/>
          <p:cNvSpPr txBox="1"/>
          <p:nvPr>
            <p:ph type="body" sz="half" idx="1"/>
          </p:nvPr>
        </p:nvSpPr>
        <p:spPr>
          <a:xfrm>
            <a:off x="1188719" y="4160520"/>
            <a:ext cx="10500361" cy="11767506"/>
          </a:xfrm>
          <a:prstGeom prst="rect">
            <a:avLst/>
          </a:prstGeom>
        </p:spPr>
        <p:txBody>
          <a:bodyPr/>
          <a:lstStyle>
            <a:lvl1pPr marL="795908" indent="-795908">
              <a:spcBef>
                <a:spcPts val="1500"/>
              </a:spcBef>
              <a:defRPr sz="6500"/>
            </a:lvl1pPr>
            <a:lvl2pPr marL="1845059" indent="-783848">
              <a:spcBef>
                <a:spcPts val="1500"/>
              </a:spcBef>
              <a:defRPr sz="6500"/>
            </a:lvl2pPr>
            <a:lvl3pPr marL="2872189" indent="-749767">
              <a:spcBef>
                <a:spcPts val="1500"/>
              </a:spcBef>
              <a:defRPr sz="6500"/>
            </a:lvl3pPr>
            <a:lvl4pPr marL="4024834" indent="-841203">
              <a:spcBef>
                <a:spcPts val="1500"/>
              </a:spcBef>
              <a:defRPr sz="6500"/>
            </a:lvl4pPr>
            <a:lvl5pPr marL="5086044" indent="-841203">
              <a:spcBef>
                <a:spcPts val="1500"/>
              </a:spcBef>
              <a:defRPr sz="6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quarter" idx="1"/>
          </p:nvPr>
        </p:nvSpPr>
        <p:spPr>
          <a:xfrm>
            <a:off x="1188719" y="3991293"/>
            <a:ext cx="10504491" cy="16633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1300"/>
              </a:spcBef>
              <a:buSzTx/>
              <a:buFontTx/>
              <a:buNone/>
              <a:defRPr b="1" sz="5500"/>
            </a:lvl1pPr>
            <a:lvl2pPr marL="0" indent="1061211">
              <a:spcBef>
                <a:spcPts val="1300"/>
              </a:spcBef>
              <a:buSzTx/>
              <a:buFontTx/>
              <a:buNone/>
              <a:defRPr b="1" sz="5500"/>
            </a:lvl2pPr>
            <a:lvl3pPr marL="0" indent="2122420">
              <a:spcBef>
                <a:spcPts val="1300"/>
              </a:spcBef>
              <a:buSzTx/>
              <a:buFontTx/>
              <a:buNone/>
              <a:defRPr b="1" sz="5500"/>
            </a:lvl3pPr>
            <a:lvl4pPr marL="0" indent="3183631">
              <a:spcBef>
                <a:spcPts val="1300"/>
              </a:spcBef>
              <a:buSzTx/>
              <a:buFontTx/>
              <a:buNone/>
              <a:defRPr b="1" sz="5500"/>
            </a:lvl4pPr>
            <a:lvl5pPr marL="0" indent="4244842">
              <a:spcBef>
                <a:spcPts val="1300"/>
              </a:spcBef>
              <a:buSzTx/>
              <a:buFont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Text Placeholder 4"/>
          <p:cNvSpPr/>
          <p:nvPr>
            <p:ph type="body" sz="quarter" idx="21"/>
          </p:nvPr>
        </p:nvSpPr>
        <p:spPr>
          <a:xfrm>
            <a:off x="12077065" y="3991293"/>
            <a:ext cx="10508617" cy="1663382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1300"/>
              </a:spcBef>
              <a:buSzTx/>
              <a:buFontTx/>
              <a:buNone/>
              <a:defRPr b="1" sz="5500"/>
            </a:pP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xfrm>
            <a:off x="1188721" y="709930"/>
            <a:ext cx="7821615" cy="3021330"/>
          </a:xfrm>
          <a:prstGeom prst="rect">
            <a:avLst/>
          </a:prstGeom>
        </p:spPr>
        <p:txBody>
          <a:bodyPr anchor="b"/>
          <a:lstStyle>
            <a:lvl1pPr algn="l">
              <a:defRPr b="1" sz="4600"/>
            </a:lvl1pPr>
          </a:lstStyle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idx="1"/>
          </p:nvPr>
        </p:nvSpPr>
        <p:spPr>
          <a:xfrm>
            <a:off x="9295130" y="709930"/>
            <a:ext cx="13290551" cy="1521809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Text Placeholder 3"/>
          <p:cNvSpPr/>
          <p:nvPr>
            <p:ph type="body" sz="half" idx="21"/>
          </p:nvPr>
        </p:nvSpPr>
        <p:spPr>
          <a:xfrm>
            <a:off x="1188721" y="3731260"/>
            <a:ext cx="7821615" cy="1219676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700"/>
              </a:spcBef>
              <a:buSzTx/>
              <a:buFontTx/>
              <a:buNone/>
              <a:defRPr sz="3300"/>
            </a:pP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/>
          <p:nvPr>
            <p:ph type="title"/>
          </p:nvPr>
        </p:nvSpPr>
        <p:spPr>
          <a:xfrm>
            <a:off x="4659948" y="12481559"/>
            <a:ext cx="14264641" cy="1473520"/>
          </a:xfrm>
          <a:prstGeom prst="rect">
            <a:avLst/>
          </a:prstGeom>
        </p:spPr>
        <p:txBody>
          <a:bodyPr anchor="b"/>
          <a:lstStyle>
            <a:lvl1pPr algn="l">
              <a:defRPr b="1" sz="4600"/>
            </a:lvl1pPr>
          </a:lstStyle>
          <a:p>
            <a:pPr/>
            <a:r>
              <a:t>Title Text</a:t>
            </a:r>
          </a:p>
        </p:txBody>
      </p:sp>
      <p:sp>
        <p:nvSpPr>
          <p:cNvPr id="107" name="Picture Placeholder 2"/>
          <p:cNvSpPr/>
          <p:nvPr>
            <p:ph type="pic" sz="half" idx="21"/>
          </p:nvPr>
        </p:nvSpPr>
        <p:spPr>
          <a:xfrm>
            <a:off x="4659948" y="1593214"/>
            <a:ext cx="14264641" cy="1069848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8" name="Body Level One…"/>
          <p:cNvSpPr txBox="1"/>
          <p:nvPr>
            <p:ph type="body" sz="quarter" idx="1"/>
          </p:nvPr>
        </p:nvSpPr>
        <p:spPr>
          <a:xfrm>
            <a:off x="4659948" y="13955078"/>
            <a:ext cx="14264641" cy="20926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00"/>
              </a:spcBef>
              <a:buSzTx/>
              <a:buFontTx/>
              <a:buNone/>
              <a:defRPr sz="3300"/>
            </a:lvl1pPr>
            <a:lvl2pPr marL="0" indent="1061211">
              <a:spcBef>
                <a:spcPts val="700"/>
              </a:spcBef>
              <a:buSzTx/>
              <a:buFontTx/>
              <a:buNone/>
              <a:defRPr sz="3300"/>
            </a:lvl2pPr>
            <a:lvl3pPr marL="0" indent="2122420">
              <a:spcBef>
                <a:spcPts val="700"/>
              </a:spcBef>
              <a:buSzTx/>
              <a:buFontTx/>
              <a:buNone/>
              <a:defRPr sz="3300"/>
            </a:lvl3pPr>
            <a:lvl4pPr marL="0" indent="3183631">
              <a:spcBef>
                <a:spcPts val="700"/>
              </a:spcBef>
              <a:buSzTx/>
              <a:buFontTx/>
              <a:buNone/>
              <a:defRPr sz="3300"/>
            </a:lvl4pPr>
            <a:lvl5pPr marL="0" indent="4244842">
              <a:spcBef>
                <a:spcPts val="700"/>
              </a:spcBef>
              <a:buSzTx/>
              <a:buFontTx/>
              <a:buNone/>
              <a:defRPr sz="3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88719" y="714058"/>
            <a:ext cx="21396962" cy="297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8856" tIns="108856" rIns="108856" bIns="108856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188719" y="4160520"/>
            <a:ext cx="21396962" cy="11767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8856" tIns="108856" rIns="108856" bIns="10885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1994803" y="16715657"/>
            <a:ext cx="590877" cy="571033"/>
          </a:xfrm>
          <a:prstGeom prst="rect">
            <a:avLst/>
          </a:prstGeom>
          <a:ln w="12700">
            <a:miter lim="400000"/>
          </a:ln>
        </p:spPr>
        <p:txBody>
          <a:bodyPr wrap="none" lIns="108856" tIns="108856" rIns="108856" bIns="108856" anchor="ctr">
            <a:spAutoFit/>
          </a:bodyPr>
          <a:lstStyle>
            <a:lvl1pPr algn="r">
              <a:defRPr sz="2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212242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200" u="none">
          <a:solidFill>
            <a:schemeClr val="accent4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795907" marR="0" indent="-795907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1816302" marR="0" indent="-755091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2836326" marR="0" indent="-713905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4037214" marR="0" indent="-853582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5098423" marR="0" indent="-853582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6159633" marR="0" indent="-853581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7220845" marR="0" indent="-853582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8282054" marR="0" indent="-853582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9343265" marR="0" indent="-853582" algn="l" defTabSz="2122420" rtl="0" latinLnBrk="0">
        <a:lnSpc>
          <a:spcPct val="100000"/>
        </a:lnSpc>
        <a:spcBef>
          <a:spcPts val="1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7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1415136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2830272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4245407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5660542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7075678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8490815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9905951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1321085" algn="r" defTabSz="283027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4"/>
          <p:cNvSpPr/>
          <p:nvPr/>
        </p:nvSpPr>
        <p:spPr>
          <a:xfrm>
            <a:off x="0" y="0"/>
            <a:ext cx="23774400" cy="2971800"/>
          </a:xfrm>
          <a:prstGeom prst="rect">
            <a:avLst/>
          </a:prstGeom>
          <a:solidFill>
            <a:srgbClr val="EB632D"/>
          </a:solidFill>
          <a:ln w="25400">
            <a:solidFill>
              <a:srgbClr val="909EAF"/>
            </a:solidFill>
          </a:ln>
        </p:spPr>
        <p:txBody>
          <a:bodyPr lIns="45719" rIns="45719" anchor="ctr"/>
          <a:lstStyle/>
          <a:p>
            <a:pPr algn="ctr">
              <a:defRPr sz="7200">
                <a:solidFill>
                  <a:srgbClr val="FFFFFF"/>
                </a:solidFill>
              </a:defRPr>
            </a:pPr>
          </a:p>
        </p:txBody>
      </p:sp>
      <p:pic>
        <p:nvPicPr>
          <p:cNvPr id="11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219" y="493671"/>
            <a:ext cx="2032447" cy="201304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Rectangle 6"/>
          <p:cNvSpPr/>
          <p:nvPr/>
        </p:nvSpPr>
        <p:spPr>
          <a:xfrm>
            <a:off x="0" y="16976535"/>
            <a:ext cx="23774400" cy="854265"/>
          </a:xfrm>
          <a:prstGeom prst="rect">
            <a:avLst/>
          </a:prstGeom>
          <a:solidFill>
            <a:srgbClr val="EB632D"/>
          </a:solidFill>
          <a:ln w="25400">
            <a:solidFill>
              <a:srgbClr val="909EAF"/>
            </a:solidFill>
          </a:ln>
        </p:spPr>
        <p:txBody>
          <a:bodyPr lIns="45719" rIns="45719" anchor="ctr"/>
          <a:lstStyle/>
          <a:p>
            <a:pPr algn="ctr">
              <a:defRPr sz="7200">
                <a:solidFill>
                  <a:srgbClr val="FFFFFF"/>
                </a:solidFill>
              </a:defRPr>
            </a:pPr>
          </a:p>
        </p:txBody>
      </p:sp>
      <p:sp>
        <p:nvSpPr>
          <p:cNvPr id="121" name="TextBox 8"/>
          <p:cNvSpPr txBox="1"/>
          <p:nvPr/>
        </p:nvSpPr>
        <p:spPr>
          <a:xfrm>
            <a:off x="3008375" y="467735"/>
            <a:ext cx="1773936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/>
            <a:r>
              <a:t>Faithfulness-Based Evaluation for Detecting Hallucinations in Text-to-Image Generation</a:t>
            </a:r>
          </a:p>
        </p:txBody>
      </p:sp>
      <p:sp>
        <p:nvSpPr>
          <p:cNvPr id="122" name="TextBox 10"/>
          <p:cNvSpPr txBox="1"/>
          <p:nvPr/>
        </p:nvSpPr>
        <p:spPr>
          <a:xfrm>
            <a:off x="10260984" y="1939058"/>
            <a:ext cx="3252432" cy="43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Praneeth Vempati</a:t>
            </a:r>
          </a:p>
        </p:txBody>
      </p:sp>
      <p:grpSp>
        <p:nvGrpSpPr>
          <p:cNvPr id="125" name="TextBox 11"/>
          <p:cNvGrpSpPr/>
          <p:nvPr/>
        </p:nvGrpSpPr>
        <p:grpSpPr>
          <a:xfrm>
            <a:off x="586387" y="3194982"/>
            <a:ext cx="7315201" cy="736215"/>
            <a:chOff x="0" y="0"/>
            <a:chExt cx="7315200" cy="736214"/>
          </a:xfrm>
        </p:grpSpPr>
        <p:sp>
          <p:nvSpPr>
            <p:cNvPr id="123" name="Rectangle"/>
            <p:cNvSpPr/>
            <p:nvPr/>
          </p:nvSpPr>
          <p:spPr>
            <a:xfrm>
              <a:off x="0" y="-1"/>
              <a:ext cx="7315200" cy="736216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4" name="Introduction"/>
            <p:cNvSpPr txBox="1"/>
            <p:nvPr/>
          </p:nvSpPr>
          <p:spPr>
            <a:xfrm>
              <a:off x="50482" y="145728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Introduction</a:t>
              </a:r>
            </a:p>
          </p:txBody>
        </p:sp>
      </p:grpSp>
      <p:grpSp>
        <p:nvGrpSpPr>
          <p:cNvPr id="128" name="TextBox 17"/>
          <p:cNvGrpSpPr/>
          <p:nvPr/>
        </p:nvGrpSpPr>
        <p:grpSpPr>
          <a:xfrm>
            <a:off x="609399" y="11445719"/>
            <a:ext cx="7315201" cy="736215"/>
            <a:chOff x="0" y="0"/>
            <a:chExt cx="7315200" cy="736214"/>
          </a:xfrm>
        </p:grpSpPr>
        <p:sp>
          <p:nvSpPr>
            <p:cNvPr id="126" name="Rectangle"/>
            <p:cNvSpPr/>
            <p:nvPr/>
          </p:nvSpPr>
          <p:spPr>
            <a:xfrm>
              <a:off x="0" y="-1"/>
              <a:ext cx="7315200" cy="736216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7" name="Results"/>
            <p:cNvSpPr txBox="1"/>
            <p:nvPr/>
          </p:nvSpPr>
          <p:spPr>
            <a:xfrm>
              <a:off x="50482" y="145728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Results</a:t>
              </a:r>
            </a:p>
          </p:txBody>
        </p:sp>
      </p:grpSp>
      <p:grpSp>
        <p:nvGrpSpPr>
          <p:cNvPr id="131" name="TextBox 18"/>
          <p:cNvGrpSpPr/>
          <p:nvPr/>
        </p:nvGrpSpPr>
        <p:grpSpPr>
          <a:xfrm>
            <a:off x="16016417" y="3182282"/>
            <a:ext cx="7315201" cy="736215"/>
            <a:chOff x="0" y="0"/>
            <a:chExt cx="7315200" cy="736214"/>
          </a:xfrm>
        </p:grpSpPr>
        <p:sp>
          <p:nvSpPr>
            <p:cNvPr id="129" name="Rectangle"/>
            <p:cNvSpPr/>
            <p:nvPr/>
          </p:nvSpPr>
          <p:spPr>
            <a:xfrm>
              <a:off x="0" y="-1"/>
              <a:ext cx="7315200" cy="736216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Discussion"/>
            <p:cNvSpPr txBox="1"/>
            <p:nvPr/>
          </p:nvSpPr>
          <p:spPr>
            <a:xfrm>
              <a:off x="50482" y="145728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Discussion</a:t>
              </a:r>
            </a:p>
          </p:txBody>
        </p:sp>
      </p:grpSp>
      <p:sp>
        <p:nvSpPr>
          <p:cNvPr id="132" name="TextBox 19"/>
          <p:cNvSpPr/>
          <p:nvPr/>
        </p:nvSpPr>
        <p:spPr>
          <a:xfrm>
            <a:off x="609399" y="12142186"/>
            <a:ext cx="7315201" cy="4563748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0"/>
          <p:cNvSpPr/>
          <p:nvPr/>
        </p:nvSpPr>
        <p:spPr>
          <a:xfrm>
            <a:off x="589305" y="3891449"/>
            <a:ext cx="7315201" cy="4562912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sp>
        <p:nvSpPr>
          <p:cNvPr id="134" name="TextBox 21"/>
          <p:cNvSpPr/>
          <p:nvPr/>
        </p:nvSpPr>
        <p:spPr>
          <a:xfrm>
            <a:off x="16018364" y="3878749"/>
            <a:ext cx="7315201" cy="4562912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grpSp>
        <p:nvGrpSpPr>
          <p:cNvPr id="137" name="TextBox 22"/>
          <p:cNvGrpSpPr/>
          <p:nvPr/>
        </p:nvGrpSpPr>
        <p:grpSpPr>
          <a:xfrm>
            <a:off x="8316929" y="3196699"/>
            <a:ext cx="7315201" cy="693421"/>
            <a:chOff x="0" y="0"/>
            <a:chExt cx="7315200" cy="693420"/>
          </a:xfrm>
        </p:grpSpPr>
        <p:sp>
          <p:nvSpPr>
            <p:cNvPr id="135" name="Rectangle"/>
            <p:cNvSpPr/>
            <p:nvPr/>
          </p:nvSpPr>
          <p:spPr>
            <a:xfrm>
              <a:off x="0" y="-1"/>
              <a:ext cx="7315200" cy="693422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6" name="Methods"/>
            <p:cNvSpPr txBox="1"/>
            <p:nvPr/>
          </p:nvSpPr>
          <p:spPr>
            <a:xfrm>
              <a:off x="50482" y="124331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Methods</a:t>
              </a:r>
            </a:p>
          </p:txBody>
        </p:sp>
      </p:grpSp>
      <p:sp>
        <p:nvSpPr>
          <p:cNvPr id="138" name="TextBox 23"/>
          <p:cNvSpPr/>
          <p:nvPr/>
        </p:nvSpPr>
        <p:spPr>
          <a:xfrm>
            <a:off x="8316931" y="3874879"/>
            <a:ext cx="7315201" cy="4563748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grpSp>
        <p:nvGrpSpPr>
          <p:cNvPr id="141" name="TextBox 24"/>
          <p:cNvGrpSpPr/>
          <p:nvPr/>
        </p:nvGrpSpPr>
        <p:grpSpPr>
          <a:xfrm>
            <a:off x="16030548" y="8754181"/>
            <a:ext cx="7315201" cy="693421"/>
            <a:chOff x="0" y="0"/>
            <a:chExt cx="7315200" cy="693420"/>
          </a:xfrm>
        </p:grpSpPr>
        <p:sp>
          <p:nvSpPr>
            <p:cNvPr id="139" name="Rectangle"/>
            <p:cNvSpPr/>
            <p:nvPr/>
          </p:nvSpPr>
          <p:spPr>
            <a:xfrm>
              <a:off x="0" y="-1"/>
              <a:ext cx="7315200" cy="693422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0" name="References"/>
            <p:cNvSpPr txBox="1"/>
            <p:nvPr/>
          </p:nvSpPr>
          <p:spPr>
            <a:xfrm>
              <a:off x="50482" y="124331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References</a:t>
              </a:r>
            </a:p>
          </p:txBody>
        </p:sp>
      </p:grpSp>
      <p:sp>
        <p:nvSpPr>
          <p:cNvPr id="142" name="TextBox 25"/>
          <p:cNvSpPr/>
          <p:nvPr/>
        </p:nvSpPr>
        <p:spPr>
          <a:xfrm>
            <a:off x="16039073" y="9448390"/>
            <a:ext cx="7315201" cy="1837210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grpSp>
        <p:nvGrpSpPr>
          <p:cNvPr id="145" name="TextBox 26"/>
          <p:cNvGrpSpPr/>
          <p:nvPr/>
        </p:nvGrpSpPr>
        <p:grpSpPr>
          <a:xfrm>
            <a:off x="8285128" y="9528120"/>
            <a:ext cx="7315201" cy="693421"/>
            <a:chOff x="0" y="0"/>
            <a:chExt cx="7315200" cy="693420"/>
          </a:xfrm>
        </p:grpSpPr>
        <p:sp>
          <p:nvSpPr>
            <p:cNvPr id="143" name="Rectangle"/>
            <p:cNvSpPr/>
            <p:nvPr/>
          </p:nvSpPr>
          <p:spPr>
            <a:xfrm>
              <a:off x="0" y="-1"/>
              <a:ext cx="7315200" cy="693422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Results"/>
            <p:cNvSpPr txBox="1"/>
            <p:nvPr/>
          </p:nvSpPr>
          <p:spPr>
            <a:xfrm>
              <a:off x="50482" y="124331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Results</a:t>
              </a:r>
            </a:p>
          </p:txBody>
        </p:sp>
      </p:grpSp>
      <p:sp>
        <p:nvSpPr>
          <p:cNvPr id="146" name="TextBox 27"/>
          <p:cNvSpPr/>
          <p:nvPr/>
        </p:nvSpPr>
        <p:spPr>
          <a:xfrm>
            <a:off x="8285874" y="10221540"/>
            <a:ext cx="7315201" cy="6481968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grpSp>
        <p:nvGrpSpPr>
          <p:cNvPr id="149" name="TextBox 28"/>
          <p:cNvGrpSpPr/>
          <p:nvPr/>
        </p:nvGrpSpPr>
        <p:grpSpPr>
          <a:xfrm>
            <a:off x="581625" y="8755756"/>
            <a:ext cx="7315201" cy="693421"/>
            <a:chOff x="0" y="0"/>
            <a:chExt cx="7315200" cy="693420"/>
          </a:xfrm>
        </p:grpSpPr>
        <p:sp>
          <p:nvSpPr>
            <p:cNvPr id="147" name="Rectangle"/>
            <p:cNvSpPr/>
            <p:nvPr/>
          </p:nvSpPr>
          <p:spPr>
            <a:xfrm>
              <a:off x="0" y="-1"/>
              <a:ext cx="7315200" cy="693422"/>
            </a:xfrm>
            <a:prstGeom prst="rect">
              <a:avLst/>
            </a:prstGeom>
            <a:solidFill>
              <a:srgbClr val="EB632D"/>
            </a:solidFill>
            <a:ln w="9525" cap="flat">
              <a:solidFill>
                <a:srgbClr val="EB632D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8" name="Data"/>
            <p:cNvSpPr txBox="1"/>
            <p:nvPr/>
          </p:nvSpPr>
          <p:spPr>
            <a:xfrm>
              <a:off x="50482" y="124331"/>
              <a:ext cx="7214236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Data</a:t>
              </a:r>
            </a:p>
          </p:txBody>
        </p:sp>
      </p:grpSp>
      <p:sp>
        <p:nvSpPr>
          <p:cNvPr id="150" name="TextBox 29"/>
          <p:cNvSpPr/>
          <p:nvPr/>
        </p:nvSpPr>
        <p:spPr>
          <a:xfrm>
            <a:off x="581625" y="9441555"/>
            <a:ext cx="7315201" cy="1664840"/>
          </a:xfrm>
          <a:prstGeom prst="rect">
            <a:avLst/>
          </a:prstGeom>
          <a:ln>
            <a:solidFill>
              <a:srgbClr val="EB632D"/>
            </a:solidFill>
          </a:ln>
        </p:spPr>
        <p:txBody>
          <a:bodyPr lIns="45719" rIns="45719"/>
          <a:lstStyle/>
          <a:p>
            <a:pPr>
              <a:defRPr sz="7200">
                <a:solidFill>
                  <a:srgbClr val="FFFFFF"/>
                </a:solidFill>
              </a:defRPr>
            </a:pPr>
          </a:p>
        </p:txBody>
      </p:sp>
      <p:sp>
        <p:nvSpPr>
          <p:cNvPr id="151" name="Text-to-image models generate photo-realistic images but frequently violate prompt semantics — producing wrong colors, missing objects, or broken spatial relations. These semantic failures are called visual hallucinations. Human evaluation does not scale"/>
          <p:cNvSpPr txBox="1"/>
          <p:nvPr/>
        </p:nvSpPr>
        <p:spPr>
          <a:xfrm>
            <a:off x="938461" y="4326831"/>
            <a:ext cx="6657078" cy="3692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Text-to-image models generate photo-realistic images but frequently violate prompt semantics — producing wrong colors, missing objects, or broken spatial relations. These semantic failures are called </a:t>
            </a:r>
            <a:r>
              <a:rPr b="1"/>
              <a:t>visual hallucinations</a:t>
            </a:r>
            <a:r>
              <a:t>. Human evaluation does not scale, and no standardized automated solution exists.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This work builds a </a:t>
            </a:r>
            <a:r>
              <a:rPr b="1"/>
              <a:t>training-free, model-agnostic faithfulness evaluation pipeline</a:t>
            </a:r>
            <a:r>
              <a:t> that automatically detects hallucinations by decomposing prompts into verifiable visual claims and checking them against the generated image using VQA.</a:t>
            </a:r>
          </a:p>
        </p:txBody>
      </p:sp>
      <p:sp>
        <p:nvSpPr>
          <p:cNvPr id="152" name="The faithfulness metric captures a non-trivial signal — GT images score higher than generated images on average, confirming the metric is non-random…"/>
          <p:cNvSpPr txBox="1"/>
          <p:nvPr/>
        </p:nvSpPr>
        <p:spPr>
          <a:xfrm>
            <a:off x="16353523" y="4187131"/>
            <a:ext cx="6657078" cy="3997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The faithfulness metric captures a </a:t>
            </a:r>
            <a:r>
              <a:rPr b="1"/>
              <a:t>non-trivial signal</a:t>
            </a:r>
            <a:r>
              <a:t> — GT images score higher than generated images on average, confirming the metric is non-random</a:t>
            </a:r>
          </a:p>
          <a:p>
            <a:pPr marL="228600" indent="-2286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rPr b="1"/>
              <a:t>ROC-AUC</a:t>
            </a:r>
            <a:r>
              <a:t> on POPE benchmark confirms the score has discriminative power for hallucination detection</a:t>
            </a:r>
          </a:p>
          <a:p>
            <a:pPr marL="228600" indent="-2286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The modest gap (~0.063) on Flickr30k indicates the metric is </a:t>
            </a:r>
            <a:r>
              <a:rPr b="1"/>
              <a:t>functional but not yet decisive</a:t>
            </a:r>
            <a:r>
              <a:t> — prompt parsing and VQA reliability remain the primary bottlenecks</a:t>
            </a:r>
          </a:p>
          <a:p>
            <a:pPr marL="228600" indent="-2286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Self-consistency variance across N generations provides a </a:t>
            </a:r>
            <a:r>
              <a:rPr b="1"/>
              <a:t>complementary uncertainty signal</a:t>
            </a:r>
            <a:r>
              <a:t> beyond single-image scoring</a:t>
            </a:r>
          </a:p>
          <a:p>
            <a:pPr marL="228600" indent="-2286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Future work: LLM-based question generation (TIFA-style), stronger VQA model (BLIP-2), failure case taxonomy</a:t>
            </a:r>
          </a:p>
        </p:txBody>
      </p:sp>
      <p:sp>
        <p:nvSpPr>
          <p:cNvPr id="153" name="Generated images using Stable Diffusion v1.5 / SDXL-Turbo…"/>
          <p:cNvSpPr txBox="1"/>
          <p:nvPr/>
        </p:nvSpPr>
        <p:spPr>
          <a:xfrm>
            <a:off x="8622978" y="4351217"/>
            <a:ext cx="6657078" cy="3510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Generated images using Stable Diffusion v1.5 / SDXL-Turbo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Parsed prompts into atomic checks — objects, colors, counts, spatial relations, actions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Verified each check using </a:t>
            </a:r>
            <a:r>
              <a:rPr b="1"/>
              <a:t>BLIP-VQA</a:t>
            </a:r>
            <a:r>
              <a:t> → computed faithfulness score (0–1)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Computed CLIP prompt–image semantic similarity as a secondary signal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Validated metric on </a:t>
            </a:r>
            <a:r>
              <a:rPr b="1"/>
              <a:t>Flickr30k</a:t>
            </a:r>
            <a:r>
              <a:t> ground-truth pairs (GT vs Generated)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Evaluated against </a:t>
            </a:r>
            <a:r>
              <a:rPr b="1"/>
              <a:t>POPE</a:t>
            </a:r>
            <a:r>
              <a:t> binary hallucination labels and </a:t>
            </a:r>
            <a:r>
              <a:rPr b="1"/>
              <a:t>OK-VQA</a:t>
            </a:r>
            <a:r>
              <a:t> answer agreement</a:t>
            </a:r>
          </a:p>
          <a:p>
            <a:pPr marL="880533" indent="-740833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</a:defRPr>
            </a:pPr>
            <a:r>
              <a:t>Measured </a:t>
            </a:r>
            <a:r>
              <a:rPr b="1"/>
              <a:t>self-consistency</a:t>
            </a:r>
            <a:r>
              <a:t> by generating N images per prompt and computing score variance</a:t>
            </a:r>
          </a:p>
        </p:txBody>
      </p:sp>
      <p:sp>
        <p:nvSpPr>
          <p:cNvPr id="154" name="Flickr30k — 1,500+ real caption–image pairs used for paired GT vs Generated benchmark validation…"/>
          <p:cNvSpPr txBox="1"/>
          <p:nvPr/>
        </p:nvSpPr>
        <p:spPr>
          <a:xfrm>
            <a:off x="909433" y="9542982"/>
            <a:ext cx="6349521" cy="1420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Char char="•"/>
              <a:defRPr sz="1500">
                <a:solidFill>
                  <a:srgbClr val="FFFFFF"/>
                </a:solidFill>
              </a:defRPr>
            </a:pPr>
            <a:r>
              <a:rPr b="1"/>
              <a:t>Flickr30k</a:t>
            </a:r>
            <a:r>
              <a:t> — 1,500+ real caption–image pairs used for paired GT vs Generated benchmark validation</a:t>
            </a:r>
          </a:p>
          <a:p>
            <a:pPr marL="228600" indent="-228600">
              <a:buSzPct val="100000"/>
              <a:buChar char="•"/>
              <a:defRPr sz="1500">
                <a:solidFill>
                  <a:srgbClr val="FFFFFF"/>
                </a:solidFill>
              </a:defRPr>
            </a:pPr>
            <a:r>
              <a:rPr b="1"/>
              <a:t>POPE</a:t>
            </a:r>
            <a:r>
              <a:t> — 9,000 binary hallucination labels (yes/no object presence) for predictive validity testing</a:t>
            </a:r>
          </a:p>
          <a:p>
            <a:pPr marL="228600" indent="-228600">
              <a:buSzPct val="100000"/>
              <a:buChar char="•"/>
              <a:defRPr sz="1500">
                <a:solidFill>
                  <a:srgbClr val="FFFFFF"/>
                </a:solidFill>
              </a:defRPr>
            </a:pPr>
            <a:r>
              <a:rPr b="1"/>
              <a:t>OK-VQA</a:t>
            </a:r>
            <a:r>
              <a:t> — 9,009 real images with human-annotated answers for VQA agreement validation</a:t>
            </a:r>
          </a:p>
        </p:txBody>
      </p:sp>
      <p:pic>
        <p:nvPicPr>
          <p:cNvPr id="155" name="Flowchart.png" descr="Flowchar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284641" y="8678264"/>
            <a:ext cx="7379776" cy="6149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ope_benchmark_20260407_041324.png" descr="pope_benchmark_20260407_04132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677426" y="10447515"/>
            <a:ext cx="2619002" cy="2013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Screenshot 2026-04-06 at 23.21.20.png" descr="Screenshot 2026-04-06 at 23.21.20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46241" y="10629237"/>
            <a:ext cx="3909232" cy="1649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okvqa_benchmark_20260407_041923.png" descr="okvqa_benchmark_20260407_041923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687377" y="14481130"/>
            <a:ext cx="4510704" cy="19847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Screenshot 2026-04-07 at 00.22.13.png" descr="Screenshot 2026-04-07 at 00.22.13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06880" y="12612266"/>
            <a:ext cx="5135298" cy="1717154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Hu et al., TIFA: Text-to-Image Faithfulness Evaluation with QA. ICCV 2023.…"/>
          <p:cNvSpPr txBox="1"/>
          <p:nvPr/>
        </p:nvSpPr>
        <p:spPr>
          <a:xfrm>
            <a:off x="16159680" y="9744305"/>
            <a:ext cx="7095416" cy="1209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28600" indent="-228600">
              <a:buSzPct val="100000"/>
              <a:buAutoNum type="arabicPeriod" startAt="1"/>
              <a:defRPr sz="1800">
                <a:solidFill>
                  <a:srgbClr val="FFFFFF"/>
                </a:solidFill>
              </a:defRPr>
            </a:pPr>
            <a:r>
              <a:t>Hu et al., TIFA: Text-to-Image Faithfulness Evaluation with QA. ICCV 2023.</a:t>
            </a:r>
          </a:p>
          <a:p>
            <a:pPr marL="228600" indent="-228600">
              <a:buSzPct val="100000"/>
              <a:buAutoNum type="arabicPeriod" startAt="1"/>
              <a:defRPr sz="1800">
                <a:solidFill>
                  <a:srgbClr val="FFFFFF"/>
                </a:solidFill>
              </a:defRPr>
            </a:pPr>
            <a:r>
              <a:t>Ghosh et al., GenEval: Object-Focused T2I Alignment. NeurIPS 2023.</a:t>
            </a:r>
          </a:p>
          <a:p>
            <a:pPr marL="228600" indent="-228600">
              <a:buSzPct val="100000"/>
              <a:buAutoNum type="arabicPeriod" startAt="1"/>
              <a:defRPr sz="1800">
                <a:solidFill>
                  <a:srgbClr val="FFFFFF"/>
                </a:solidFill>
              </a:defRPr>
            </a:pPr>
            <a:r>
              <a:t>Radford et al., CLIP: Learning Transferable Visual Models. ICML 2021.</a:t>
            </a:r>
          </a:p>
          <a:p>
            <a:pPr marL="228600" indent="-228600">
              <a:buSzPct val="100000"/>
              <a:buAutoNum type="arabicPeriod" startAt="1"/>
              <a:defRPr sz="1800">
                <a:solidFill>
                  <a:srgbClr val="FFFFFF"/>
                </a:solidFill>
              </a:defRPr>
            </a:pPr>
            <a:r>
              <a:t>Liu et al., Survey on Hallucination in Vision-Language Models. arXiv 2024.</a:t>
            </a:r>
          </a:p>
        </p:txBody>
      </p:sp>
      <p:pic>
        <p:nvPicPr>
          <p:cNvPr id="161" name="Screenshot 2026-04-07 at 00.32.41.png" descr="Screenshot 2026-04-07 at 00.32.41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13583" y="12652924"/>
            <a:ext cx="3518328" cy="1619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Screenshot 2026-04-07 at 00.33.09.png" descr="Screenshot 2026-04-07 at 00.33.09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332946" y="12435073"/>
            <a:ext cx="3518329" cy="20715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Screenshot 2026-04-07 at 00.36.41.png" descr="Screenshot 2026-04-07 at 00.36.41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78497" y="14885053"/>
            <a:ext cx="3588500" cy="17123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self_consistency_20260407_043609.png" descr="self_consistency_20260407_043609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443675" y="14853833"/>
            <a:ext cx="3407600" cy="17364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Hal-Detect.png" descr="Hal-Detect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7863963" y="11450172"/>
            <a:ext cx="3686850" cy="53538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4.png" descr="image4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20862521" y="133048"/>
            <a:ext cx="2712825" cy="2705704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pvempati@ufl.edu"/>
          <p:cNvSpPr txBox="1"/>
          <p:nvPr/>
        </p:nvSpPr>
        <p:spPr>
          <a:xfrm>
            <a:off x="10584787" y="2486606"/>
            <a:ext cx="2604826" cy="437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600">
                <a:solidFill>
                  <a:srgbClr val="FFFFFF"/>
                </a:solidFill>
              </a:defRPr>
            </a:lvl1pPr>
          </a:lstStyle>
          <a:p>
            <a:pPr/>
            <a:r>
              <a:t>pvempati@ufl.edu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SMI-Poster">
  <a:themeElements>
    <a:clrScheme name="OSMI-Po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6D9F0"/>
      </a:accent1>
      <a:accent2>
        <a:srgbClr val="C3D69B"/>
      </a:accent2>
      <a:accent3>
        <a:srgbClr val="BFBFBF"/>
      </a:accent3>
      <a:accent4>
        <a:srgbClr val="FFFF00"/>
      </a:accent4>
      <a:accent5>
        <a:srgbClr val="548DD4"/>
      </a:accent5>
      <a:accent6>
        <a:srgbClr val="76923C"/>
      </a:accent6>
      <a:hlink>
        <a:srgbClr val="0000FF"/>
      </a:hlink>
      <a:folHlink>
        <a:srgbClr val="FF00FF"/>
      </a:folHlink>
    </a:clrScheme>
    <a:fontScheme name="OSMI-Poste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SMI-Po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283027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283027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SMI-Poster">
  <a:themeElements>
    <a:clrScheme name="OSMI-Po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6D9F0"/>
      </a:accent1>
      <a:accent2>
        <a:srgbClr val="C3D69B"/>
      </a:accent2>
      <a:accent3>
        <a:srgbClr val="BFBFBF"/>
      </a:accent3>
      <a:accent4>
        <a:srgbClr val="FFFF00"/>
      </a:accent4>
      <a:accent5>
        <a:srgbClr val="548DD4"/>
      </a:accent5>
      <a:accent6>
        <a:srgbClr val="76923C"/>
      </a:accent6>
      <a:hlink>
        <a:srgbClr val="0000FF"/>
      </a:hlink>
      <a:folHlink>
        <a:srgbClr val="FF00FF"/>
      </a:folHlink>
    </a:clrScheme>
    <a:fontScheme name="OSMI-Poste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SMI-Po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283027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283027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